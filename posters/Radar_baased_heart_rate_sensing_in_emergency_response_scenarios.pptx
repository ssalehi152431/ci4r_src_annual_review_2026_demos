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sldIdLst>
    <p:sldId id="270" r:id="rId5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g6yv7bwh78j93yKiSv2HwKYA2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29" d="100"/>
          <a:sy n="29" d="100"/>
        </p:scale>
        <p:origin x="1243" y="14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customschemas.google.com/relationships/presentationmetadata" Target="metadata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42072239-6293-6BBC-9F14-B53027B2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dadf8ee0f_3_198:notes">
            <a:extLst>
              <a:ext uri="{FF2B5EF4-FFF2-40B4-BE49-F238E27FC236}">
                <a16:creationId xmlns:a16="http://schemas.microsoft.com/office/drawing/2014/main" id="{CAD03C35-6C72-95E3-DC65-607B5D858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73" y="4343382"/>
            <a:ext cx="5486400" cy="4114800"/>
          </a:xfrm>
          <a:prstGeom prst="rect">
            <a:avLst/>
          </a:prstGeom>
        </p:spPr>
        <p:txBody>
          <a:bodyPr spcFirstLastPara="1" wrap="square" lIns="102700" tIns="102700" rIns="102700" bIns="102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2edadf8ee0f_3_198:notes">
            <a:extLst>
              <a:ext uri="{FF2B5EF4-FFF2-40B4-BE49-F238E27FC236}">
                <a16:creationId xmlns:a16="http://schemas.microsoft.com/office/drawing/2014/main" id="{5FC37A54-7E4B-B762-AE18-916DD79204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78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21157C04-B515-C35A-E08B-703D02E17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dadf8ee0f_3_198">
            <a:extLst>
              <a:ext uri="{FF2B5EF4-FFF2-40B4-BE49-F238E27FC236}">
                <a16:creationId xmlns:a16="http://schemas.microsoft.com/office/drawing/2014/main" id="{AC0EEDB7-117B-FC1F-FD8F-9E7774DF7F44}"/>
              </a:ext>
            </a:extLst>
          </p:cNvPr>
          <p:cNvSpPr/>
          <p:nvPr/>
        </p:nvSpPr>
        <p:spPr>
          <a:xfrm>
            <a:off x="-48500" y="0"/>
            <a:ext cx="43940000" cy="6527800"/>
          </a:xfrm>
          <a:prstGeom prst="rect">
            <a:avLst/>
          </a:prstGeom>
          <a:gradFill>
            <a:gsLst>
              <a:gs pos="0">
                <a:srgbClr val="235078"/>
              </a:gs>
              <a:gs pos="5000">
                <a:srgbClr val="235078"/>
              </a:gs>
              <a:gs pos="100000">
                <a:srgbClr val="1482A5"/>
              </a:gs>
            </a:gsLst>
            <a:lin ang="0" scaled="0"/>
          </a:gradFill>
          <a:ln>
            <a:noFill/>
          </a:ln>
        </p:spPr>
        <p:txBody>
          <a:bodyPr spcFirstLastPara="1" wrap="square" lIns="77114" tIns="38546" rIns="77114" bIns="38546" anchor="ctr" anchorCtr="0">
            <a:noAutofit/>
          </a:bodyPr>
          <a:lstStyle/>
          <a:p>
            <a:endParaRPr sz="7953">
              <a:solidFill>
                <a:schemeClr val="dk1"/>
              </a:solidFill>
            </a:endParaRPr>
          </a:p>
        </p:txBody>
      </p:sp>
      <p:sp>
        <p:nvSpPr>
          <p:cNvPr id="88" name="Google Shape;88;g2edadf8ee0f_3_198">
            <a:extLst>
              <a:ext uri="{FF2B5EF4-FFF2-40B4-BE49-F238E27FC236}">
                <a16:creationId xmlns:a16="http://schemas.microsoft.com/office/drawing/2014/main" id="{4129B676-55B3-34DF-B548-81983D795CE1}"/>
              </a:ext>
            </a:extLst>
          </p:cNvPr>
          <p:cNvSpPr/>
          <p:nvPr/>
        </p:nvSpPr>
        <p:spPr>
          <a:xfrm>
            <a:off x="-48500" y="31445200"/>
            <a:ext cx="43940000" cy="1473200"/>
          </a:xfrm>
          <a:prstGeom prst="rect">
            <a:avLst/>
          </a:prstGeom>
          <a:gradFill>
            <a:gsLst>
              <a:gs pos="0">
                <a:srgbClr val="235078"/>
              </a:gs>
              <a:gs pos="5000">
                <a:srgbClr val="235078"/>
              </a:gs>
              <a:gs pos="100000">
                <a:srgbClr val="1482A5"/>
              </a:gs>
            </a:gsLst>
            <a:lin ang="0" scaled="0"/>
          </a:gradFill>
          <a:ln>
            <a:noFill/>
          </a:ln>
        </p:spPr>
        <p:txBody>
          <a:bodyPr spcFirstLastPara="1" wrap="square" lIns="186300" tIns="93167" rIns="186300" bIns="93167" anchor="ctr" anchorCtr="0">
            <a:noAutofit/>
          </a:bodyPr>
          <a:lstStyle/>
          <a:p>
            <a:endParaRPr sz="12800">
              <a:solidFill>
                <a:schemeClr val="lt1"/>
              </a:solidFill>
            </a:endParaRPr>
          </a:p>
        </p:txBody>
      </p:sp>
      <p:pic>
        <p:nvPicPr>
          <p:cNvPr id="101" name="Google Shape;101;g2edadf8ee0f_3_198">
            <a:extLst>
              <a:ext uri="{FF2B5EF4-FFF2-40B4-BE49-F238E27FC236}">
                <a16:creationId xmlns:a16="http://schemas.microsoft.com/office/drawing/2014/main" id="{E663D08C-AF9C-2D55-38A8-8639AA4B01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" y="31449568"/>
            <a:ext cx="9144005" cy="146446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2edadf8ee0f_3_198">
            <a:extLst>
              <a:ext uri="{FF2B5EF4-FFF2-40B4-BE49-F238E27FC236}">
                <a16:creationId xmlns:a16="http://schemas.microsoft.com/office/drawing/2014/main" id="{ECB0B543-ECD3-F9FD-9EFE-3F6AE9519A98}"/>
              </a:ext>
            </a:extLst>
          </p:cNvPr>
          <p:cNvSpPr/>
          <p:nvPr/>
        </p:nvSpPr>
        <p:spPr>
          <a:xfrm>
            <a:off x="672214" y="882063"/>
            <a:ext cx="3331102" cy="3795547"/>
          </a:xfrm>
          <a:prstGeom prst="rect">
            <a:avLst/>
          </a:prstGeom>
          <a:solidFill>
            <a:schemeClr val="lt2"/>
          </a:solidFill>
          <a:ln w="5919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46" tIns="75746" rIns="75746" bIns="75746" anchor="ctr" anchorCtr="0">
            <a:noAutofit/>
          </a:bodyPr>
          <a:lstStyle/>
          <a:p>
            <a:endParaRPr sz="430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42CD3-2BA8-7A90-9D2E-57FCDC9EB20B}"/>
              </a:ext>
            </a:extLst>
          </p:cNvPr>
          <p:cNvSpPr txBox="1"/>
          <p:nvPr/>
        </p:nvSpPr>
        <p:spPr>
          <a:xfrm>
            <a:off x="4106130" y="2353919"/>
            <a:ext cx="2896337" cy="869291"/>
          </a:xfrm>
          <a:prstGeom prst="rect">
            <a:avLst/>
          </a:prstGeom>
          <a:noFill/>
        </p:spPr>
        <p:txBody>
          <a:bodyPr wrap="square" lIns="0" tIns="15152" rIns="0" bIns="15152" anchor="ctr">
            <a:spAutoFit/>
          </a:bodyPr>
          <a:lstStyle/>
          <a:p>
            <a:pPr algn="ctr">
              <a:spcAft>
                <a:spcPts val="331"/>
              </a:spcAft>
            </a:pPr>
            <a:r>
              <a:rPr sz="2000" dirty="0">
                <a:solidFill>
                  <a:schemeClr val="bg1"/>
                </a:solidFill>
              </a:rPr>
              <a:t>POSTER </a:t>
            </a:r>
            <a:r>
              <a:rPr lang="en-US" sz="2000" dirty="0">
                <a:solidFill>
                  <a:schemeClr val="bg1"/>
                </a:solidFill>
              </a:rPr>
              <a:t>2.1</a:t>
            </a:r>
          </a:p>
          <a:p>
            <a:pPr algn="ctr"/>
            <a:r>
              <a:rPr sz="3200" dirty="0">
                <a:solidFill>
                  <a:srgbClr val="FFFFFF"/>
                </a:solidFill>
                <a:latin typeface="Georgia" panose="02040502050405020303" pitchFamily="18" charset="0"/>
                <a:ea typeface="Calibri" panose="020F0502020204030204" pitchFamily="34" charset="0"/>
                <a:cs typeface="Gautami" panose="020B0502040204020203" pitchFamily="34" charset="0"/>
              </a:rPr>
              <a:t>THEME 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656F475-9D5F-7A60-A92A-4837E85774B2}"/>
              </a:ext>
            </a:extLst>
          </p:cNvPr>
          <p:cNvSpPr txBox="1"/>
          <p:nvPr/>
        </p:nvSpPr>
        <p:spPr>
          <a:xfrm>
            <a:off x="14373245" y="1146266"/>
            <a:ext cx="16363911" cy="2101482"/>
          </a:xfrm>
          <a:prstGeom prst="rect">
            <a:avLst/>
          </a:prstGeom>
          <a:noFill/>
        </p:spPr>
        <p:txBody>
          <a:bodyPr wrap="square" lIns="0" tIns="15152" rIns="0" bIns="1515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6628" dirty="0">
                <a:solidFill>
                  <a:srgbClr val="FFFFFF"/>
                </a:solidFill>
                <a:latin typeface="Georgia" panose="02040502050405020303" pitchFamily="18" charset="0"/>
              </a:rPr>
              <a:t>Radar-based</a:t>
            </a:r>
            <a:r>
              <a:rPr sz="6628" dirty="0">
                <a:solidFill>
                  <a:srgbClr val="FFFFFF"/>
                </a:solidFill>
                <a:latin typeface="Georgia" panose="02040502050405020303" pitchFamily="18" charset="0"/>
              </a:rPr>
              <a:t> Heart-Rate Sensing
in Emergency Response Scenarios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B0B768B-BE10-567A-D3F1-ADBA32A2E666}"/>
              </a:ext>
            </a:extLst>
          </p:cNvPr>
          <p:cNvSpPr txBox="1"/>
          <p:nvPr/>
        </p:nvSpPr>
        <p:spPr>
          <a:xfrm>
            <a:off x="9387091" y="4113616"/>
            <a:ext cx="25129209" cy="2303248"/>
          </a:xfrm>
          <a:prstGeom prst="rect">
            <a:avLst/>
          </a:prstGeom>
          <a:noFill/>
        </p:spPr>
        <p:txBody>
          <a:bodyPr wrap="square" lIns="0" tIns="15152" rIns="0" bIns="15152" anchor="ctr">
            <a:spAutoFit/>
          </a:bodyPr>
          <a:lstStyle/>
          <a:p>
            <a:pPr algn="ctr">
              <a:spcAft>
                <a:spcPts val="828"/>
              </a:spcAft>
            </a:pPr>
            <a:r>
              <a:rPr sz="4474" b="1">
                <a:solidFill>
                  <a:srgbClr val="FFFFFF"/>
                </a:solidFill>
                <a:latin typeface="Georgia" panose="02040502050405020303" pitchFamily="18" charset="0"/>
              </a:rPr>
              <a:t>Muhammad Moiz, </a:t>
            </a:r>
            <a:r>
              <a:rPr sz="4474" b="1" err="1">
                <a:solidFill>
                  <a:srgbClr val="FFFFFF"/>
                </a:solidFill>
                <a:latin typeface="Georgia" panose="02040502050405020303" pitchFamily="18" charset="0"/>
              </a:rPr>
              <a:t>Sultanus</a:t>
            </a:r>
            <a:r>
              <a:rPr sz="4474" b="1">
                <a:solidFill>
                  <a:srgbClr val="FFFFFF"/>
                </a:solidFill>
                <a:latin typeface="Georgia" panose="02040502050405020303" pitchFamily="18" charset="0"/>
              </a:rPr>
              <a:t> </a:t>
            </a:r>
            <a:r>
              <a:rPr sz="4474" b="1" err="1">
                <a:solidFill>
                  <a:srgbClr val="FFFFFF"/>
                </a:solidFill>
                <a:latin typeface="Georgia" panose="02040502050405020303" pitchFamily="18" charset="0"/>
              </a:rPr>
              <a:t>Salehin</a:t>
            </a:r>
            <a:endParaRPr lang="en-US" sz="4474" b="1">
              <a:solidFill>
                <a:srgbClr val="FFFFFF"/>
              </a:solidFill>
              <a:latin typeface="Georgia" panose="02040502050405020303" pitchFamily="18" charset="0"/>
            </a:endParaRPr>
          </a:p>
          <a:p>
            <a:pPr algn="ctr">
              <a:spcAft>
                <a:spcPts val="828"/>
              </a:spcAft>
            </a:pPr>
            <a:r>
              <a:rPr sz="4474" b="1">
                <a:solidFill>
                  <a:srgbClr val="FFFFFF"/>
                </a:solidFill>
                <a:latin typeface="Georgia" panose="02040502050405020303" pitchFamily="18" charset="0"/>
              </a:rPr>
              <a:t>PI: Dr. Sevgi Z. </a:t>
            </a:r>
            <a:r>
              <a:rPr sz="4474" b="1" err="1">
                <a:solidFill>
                  <a:srgbClr val="FFFFFF"/>
                </a:solidFill>
                <a:latin typeface="Georgia" panose="02040502050405020303" pitchFamily="18" charset="0"/>
              </a:rPr>
              <a:t>Gurbuz</a:t>
            </a:r>
            <a:endParaRPr sz="4474" b="1">
              <a:solidFill>
                <a:srgbClr val="FFFFFF"/>
              </a:solidFill>
              <a:latin typeface="Georgia" panose="02040502050405020303" pitchFamily="18" charset="0"/>
            </a:endParaRPr>
          </a:p>
          <a:p>
            <a:pPr algn="ctr"/>
            <a:r>
              <a:rPr sz="4474">
                <a:solidFill>
                  <a:srgbClr val="FFFFFF"/>
                </a:solidFill>
                <a:latin typeface="Georgia" panose="02040502050405020303" pitchFamily="18" charset="0"/>
              </a:rPr>
              <a:t>Department of Electrical &amp; Computer Engineering, North Carolina State University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9E364A8-D034-3E57-F182-E473FDD568F5}"/>
              </a:ext>
            </a:extLst>
          </p:cNvPr>
          <p:cNvSpPr/>
          <p:nvPr/>
        </p:nvSpPr>
        <p:spPr>
          <a:xfrm>
            <a:off x="569824" y="6907124"/>
            <a:ext cx="14041526" cy="80467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1402" tIns="16093" rIns="160934" bIns="16093" rtlCol="0" anchor="ctr"/>
          <a:lstStyle/>
          <a:p>
            <a:r>
              <a:rPr lang="en-US" sz="3256">
                <a:solidFill>
                  <a:srgbClr val="FFFFFF"/>
                </a:solidFill>
                <a:latin typeface="Amaranth"/>
              </a:rPr>
              <a:t>Graphical Abstract</a:t>
            </a:r>
            <a:endParaRPr sz="3256">
              <a:solidFill>
                <a:srgbClr val="FFFFFF"/>
              </a:solidFill>
              <a:latin typeface="Amaranth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35E261C-B0AF-D188-1620-4CD7112F06F2}"/>
              </a:ext>
            </a:extLst>
          </p:cNvPr>
          <p:cNvSpPr/>
          <p:nvPr/>
        </p:nvSpPr>
        <p:spPr>
          <a:xfrm>
            <a:off x="14915247" y="6907124"/>
            <a:ext cx="13737630" cy="80467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1402" tIns="16093" rIns="160934" bIns="16093" rtlCol="0" anchor="ctr"/>
          <a:lstStyle/>
          <a:p>
            <a:r>
              <a:rPr sz="3256">
                <a:solidFill>
                  <a:srgbClr val="FFFFFF"/>
                </a:solidFill>
                <a:latin typeface="Amaranth"/>
              </a:rPr>
              <a:t>Introduction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6515898-0A8F-2CA6-B9C5-237464CE9159}"/>
              </a:ext>
            </a:extLst>
          </p:cNvPr>
          <p:cNvSpPr txBox="1"/>
          <p:nvPr/>
        </p:nvSpPr>
        <p:spPr>
          <a:xfrm>
            <a:off x="14915247" y="7953197"/>
            <a:ext cx="13697396" cy="4797144"/>
          </a:xfrm>
          <a:prstGeom prst="rect">
            <a:avLst/>
          </a:prstGeom>
          <a:noFill/>
        </p:spPr>
        <p:txBody>
          <a:bodyPr wrap="square" lIns="0" tIns="16093" rIns="0" bIns="16093" anchor="t">
            <a:spAutoFit/>
          </a:bodyPr>
          <a:lstStyle/>
          <a:p>
            <a:pPr algn="just">
              <a:spcAft>
                <a:spcPts val="968"/>
              </a:spcAft>
            </a:pPr>
            <a:r>
              <a:rPr lang="en-US" sz="2200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Once a survivor has been located inside a collapsed building, the next question is whether they are still alive. Radar can answer it without entering, without light, and without putting a sensor on the body.</a:t>
            </a:r>
          </a:p>
          <a:p>
            <a:pPr algn="just">
              <a:spcAft>
                <a:spcPts val="968"/>
              </a:spcAft>
            </a:pPr>
            <a:r>
              <a:rPr lang="en-US" sz="2200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Breathing and heartbeat move the chest wall by millimeters, and that displacement modulates the phase of the radar return. Reading it is straightforward while the subject holds still.</a:t>
            </a:r>
          </a:p>
          <a:p>
            <a:pPr algn="just">
              <a:spcAft>
                <a:spcPts val="1144"/>
              </a:spcAft>
            </a:pPr>
            <a:r>
              <a:rPr lang="en-US" sz="2200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A trapped survivor does not hold still. Random body movements, posture shifts, limb motion, are orders of magnitude stronger than cardiac micro-motion, non-stationary, and broad enough to overlap the cardiac band. </a:t>
            </a:r>
          </a:p>
          <a:p>
            <a:pPr marL="301745" indent="-301745" algn="just">
              <a:spcAft>
                <a:spcPts val="792"/>
              </a:spcAft>
              <a:buFont typeface="Wingdings" panose="05000000000000000000" pitchFamily="2" charset="2"/>
              <a:buChar char="Ø"/>
            </a:pPr>
            <a:r>
              <a:rPr sz="2200" b="1">
                <a:solidFill>
                  <a:srgbClr val="1482A5"/>
                </a:solidFill>
                <a:latin typeface="+mn-lt"/>
                <a:cs typeface="Times New Roman" panose="02020603050405020304" pitchFamily="18" charset="0"/>
              </a:rPr>
              <a:t>An RF skeleton estimator</a:t>
            </a:r>
            <a:r>
              <a:rPr sz="2200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 (</a:t>
            </a:r>
            <a:r>
              <a:rPr sz="2200" err="1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CAE+Bi-LSTM</a:t>
            </a:r>
            <a:r>
              <a:rPr sz="2200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) tracks 14 body keypoints from range–azimuth, range–elevation and range–Doppler maps.</a:t>
            </a:r>
          </a:p>
          <a:p>
            <a:pPr marL="301745" indent="-301745" algn="just">
              <a:spcAft>
                <a:spcPts val="792"/>
              </a:spcAft>
              <a:buFont typeface="Wingdings" panose="05000000000000000000" pitchFamily="2" charset="2"/>
              <a:buChar char="Ø"/>
            </a:pPr>
            <a:r>
              <a:rPr sz="2200" b="1">
                <a:solidFill>
                  <a:srgbClr val="1482A5"/>
                </a:solidFill>
                <a:latin typeface="+mn-lt"/>
                <a:cs typeface="Times New Roman" panose="02020603050405020304" pitchFamily="18" charset="0"/>
              </a:rPr>
              <a:t>Kinematic cycle-consistency</a:t>
            </a:r>
            <a:r>
              <a:rPr sz="2200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 keeps the estimate biomechanically plausible, supervised by the radar’s own micro-Doppler envelopes rather than optical ground truth.</a:t>
            </a:r>
          </a:p>
          <a:p>
            <a:pPr marL="301745" indent="-301745" algn="just">
              <a:spcAft>
                <a:spcPts val="792"/>
              </a:spcAft>
              <a:buFont typeface="Wingdings" panose="05000000000000000000" pitchFamily="2" charset="2"/>
              <a:buChar char="Ø"/>
            </a:pPr>
            <a:r>
              <a:rPr sz="2200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Subtracting the </a:t>
            </a:r>
            <a:r>
              <a:rPr sz="2200" b="1">
                <a:solidFill>
                  <a:srgbClr val="1482A5"/>
                </a:solidFill>
                <a:latin typeface="+mn-lt"/>
                <a:cs typeface="Times New Roman" panose="02020603050405020304" pitchFamily="18" charset="0"/>
              </a:rPr>
              <a:t>estimated skeleton</a:t>
            </a:r>
            <a:r>
              <a:rPr sz="2200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 motion phase leaves only respiration and heartbeat.</a:t>
            </a:r>
          </a:p>
          <a:p>
            <a:pPr marL="301745" indent="-301745" algn="just">
              <a:buFont typeface="Wingdings" panose="05000000000000000000" pitchFamily="2" charset="2"/>
              <a:buChar char="Ø"/>
            </a:pPr>
            <a:r>
              <a:rPr sz="2200" b="1">
                <a:solidFill>
                  <a:srgbClr val="1482A5"/>
                </a:solidFill>
                <a:latin typeface="+mn-lt"/>
                <a:cs typeface="Times New Roman" panose="02020603050405020304" pitchFamily="18" charset="0"/>
              </a:rPr>
              <a:t>Benchmarked</a:t>
            </a:r>
            <a:r>
              <a:rPr lang="en-US" sz="2200" b="1">
                <a:solidFill>
                  <a:srgbClr val="1482A5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baselines and proposed algorithm</a:t>
            </a:r>
            <a:r>
              <a:rPr sz="2200">
                <a:solidFill>
                  <a:srgbClr val="1A2733"/>
                </a:solidFill>
                <a:latin typeface="+mn-lt"/>
                <a:cs typeface="Times New Roman" panose="02020603050405020304" pitchFamily="18" charset="0"/>
              </a:rPr>
              <a:t> on Intel Core Ultra 7 laptop silicon.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ED36723C-8E7B-3778-889B-61054EE0C577}"/>
              </a:ext>
            </a:extLst>
          </p:cNvPr>
          <p:cNvSpPr/>
          <p:nvPr/>
        </p:nvSpPr>
        <p:spPr>
          <a:xfrm>
            <a:off x="18169788" y="13149218"/>
            <a:ext cx="8261299" cy="1231148"/>
          </a:xfrm>
          <a:prstGeom prst="roundRect">
            <a:avLst>
              <a:gd name="adj" fmla="val 3000"/>
            </a:avLst>
          </a:prstGeom>
          <a:solidFill>
            <a:srgbClr val="B4D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endParaRPr sz="1232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C1B310B-7689-371B-22DE-56637C1EDF58}"/>
              </a:ext>
            </a:extLst>
          </p:cNvPr>
          <p:cNvSpPr txBox="1"/>
          <p:nvPr/>
        </p:nvSpPr>
        <p:spPr>
          <a:xfrm>
            <a:off x="18330723" y="13197498"/>
            <a:ext cx="4050182" cy="574146"/>
          </a:xfrm>
          <a:prstGeom prst="rect">
            <a:avLst/>
          </a:prstGeom>
          <a:noFill/>
        </p:spPr>
        <p:txBody>
          <a:bodyPr wrap="square" lIns="0" tIns="16093" rIns="0" bIns="16093" anchor="t">
            <a:spAutoFit/>
          </a:bodyPr>
          <a:lstStyle/>
          <a:p>
            <a:pPr algn="ctr"/>
            <a:r>
              <a:rPr sz="3520" b="1">
                <a:solidFill>
                  <a:srgbClr val="235078"/>
                </a:solidFill>
                <a:latin typeface="+mn-lt"/>
              </a:rPr>
              <a:t>0.88 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388E9B4-A187-FA0E-C606-BDAA5E8F0AC1}"/>
              </a:ext>
            </a:extLst>
          </p:cNvPr>
          <p:cNvSpPr txBox="1"/>
          <p:nvPr/>
        </p:nvSpPr>
        <p:spPr>
          <a:xfrm>
            <a:off x="18330723" y="13905610"/>
            <a:ext cx="4050182" cy="344014"/>
          </a:xfrm>
          <a:prstGeom prst="rect">
            <a:avLst/>
          </a:prstGeom>
          <a:noFill/>
        </p:spPr>
        <p:txBody>
          <a:bodyPr wrap="square" lIns="0" tIns="16093" rIns="0" bIns="16093" anchor="t">
            <a:spAutoFit/>
          </a:bodyPr>
          <a:lstStyle/>
          <a:p>
            <a:pPr algn="ctr"/>
            <a:r>
              <a:rPr sz="2024">
                <a:solidFill>
                  <a:srgbClr val="5A6874"/>
                </a:solidFill>
                <a:latin typeface="+mn-lt"/>
              </a:rPr>
              <a:t>Processing latency per inference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2490490-0B9D-DDCB-2199-0C3FDD6BF944}"/>
              </a:ext>
            </a:extLst>
          </p:cNvPr>
          <p:cNvSpPr txBox="1"/>
          <p:nvPr/>
        </p:nvSpPr>
        <p:spPr>
          <a:xfrm>
            <a:off x="22380905" y="13197498"/>
            <a:ext cx="4050182" cy="574146"/>
          </a:xfrm>
          <a:prstGeom prst="rect">
            <a:avLst/>
          </a:prstGeom>
          <a:noFill/>
        </p:spPr>
        <p:txBody>
          <a:bodyPr wrap="square" lIns="0" tIns="16093" rIns="0" bIns="16093" anchor="t">
            <a:spAutoFit/>
          </a:bodyPr>
          <a:lstStyle/>
          <a:p>
            <a:pPr algn="ctr"/>
            <a:r>
              <a:rPr sz="3520" b="1">
                <a:solidFill>
                  <a:srgbClr val="235078"/>
                </a:solidFill>
                <a:latin typeface="+mn-lt"/>
              </a:rPr>
              <a:t>35.69 J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4C0D1A4-8787-0FC8-6F96-67F35B8261CB}"/>
              </a:ext>
            </a:extLst>
          </p:cNvPr>
          <p:cNvSpPr txBox="1"/>
          <p:nvPr/>
        </p:nvSpPr>
        <p:spPr>
          <a:xfrm>
            <a:off x="22380905" y="13905610"/>
            <a:ext cx="4050182" cy="344014"/>
          </a:xfrm>
          <a:prstGeom prst="rect">
            <a:avLst/>
          </a:prstGeom>
          <a:noFill/>
        </p:spPr>
        <p:txBody>
          <a:bodyPr wrap="square" lIns="0" tIns="16093" rIns="0" bIns="16093" anchor="t">
            <a:spAutoFit/>
          </a:bodyPr>
          <a:lstStyle/>
          <a:p>
            <a:pPr algn="ctr"/>
            <a:r>
              <a:rPr sz="2024">
                <a:solidFill>
                  <a:srgbClr val="5A6874"/>
                </a:solidFill>
                <a:latin typeface="+mn-lt"/>
              </a:rPr>
              <a:t>CPU energy per inference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D53C6B1-2213-2112-7802-CD7793B3E597}"/>
              </a:ext>
            </a:extLst>
          </p:cNvPr>
          <p:cNvSpPr/>
          <p:nvPr/>
        </p:nvSpPr>
        <p:spPr>
          <a:xfrm>
            <a:off x="29221024" y="6912153"/>
            <a:ext cx="14039850" cy="80467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1402" tIns="16093" rIns="160934" bIns="16093" rtlCol="0" anchor="ctr"/>
          <a:lstStyle/>
          <a:p>
            <a:r>
              <a:rPr lang="en-US" sz="3256" dirty="0">
                <a:solidFill>
                  <a:srgbClr val="FFFFFF"/>
                </a:solidFill>
                <a:latin typeface="Amaranth"/>
              </a:rPr>
              <a:t>Physics-Guided Skeleton Estimation for Motion Compensation</a:t>
            </a:r>
            <a:endParaRPr sz="3256" dirty="0">
              <a:solidFill>
                <a:srgbClr val="FFFFFF"/>
              </a:solidFill>
              <a:latin typeface="Amaranth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C96FC65-5565-9F49-8EFC-28809C6BDB85}"/>
              </a:ext>
            </a:extLst>
          </p:cNvPr>
          <p:cNvSpPr txBox="1"/>
          <p:nvPr/>
        </p:nvSpPr>
        <p:spPr>
          <a:xfrm>
            <a:off x="29891743" y="15398836"/>
            <a:ext cx="13313795" cy="655526"/>
          </a:xfrm>
          <a:prstGeom prst="rect">
            <a:avLst/>
          </a:prstGeom>
          <a:noFill/>
        </p:spPr>
        <p:txBody>
          <a:bodyPr wrap="square" lIns="0" tIns="16093" rIns="0" bIns="16093" anchor="t">
            <a:spAutoFit/>
          </a:bodyPr>
          <a:lstStyle/>
          <a:p>
            <a:r>
              <a:rPr sz="2024" i="1">
                <a:solidFill>
                  <a:srgbClr val="5A6874"/>
                </a:solidFill>
                <a:latin typeface="+mn-lt"/>
              </a:rPr>
              <a:t>Range FFT and static-interference suppression, phase extraction at the maximum-energy point, skeleton-guided compensation, then spectral analysis in the cardiac band.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B8CA756-00C5-7DEA-1E94-25E5EF922A87}"/>
              </a:ext>
            </a:extLst>
          </p:cNvPr>
          <p:cNvSpPr txBox="1"/>
          <p:nvPr/>
        </p:nvSpPr>
        <p:spPr>
          <a:xfrm>
            <a:off x="29663030" y="18526411"/>
            <a:ext cx="8823452" cy="371014"/>
          </a:xfrm>
          <a:prstGeom prst="rect">
            <a:avLst/>
          </a:prstGeom>
          <a:noFill/>
        </p:spPr>
        <p:txBody>
          <a:bodyPr wrap="square" lIns="0" tIns="16093" rIns="0" bIns="16093" anchor="t">
            <a:spAutoFit/>
          </a:bodyPr>
          <a:lstStyle/>
          <a:p>
            <a:r>
              <a:rPr sz="2200" b="1" dirty="0">
                <a:solidFill>
                  <a:srgbClr val="235078"/>
                </a:solidFill>
                <a:latin typeface="+mj-lt"/>
              </a:rPr>
              <a:t>Pre-training</a:t>
            </a:r>
            <a:r>
              <a:rPr lang="en-US" sz="2200" b="1" dirty="0">
                <a:solidFill>
                  <a:srgbClr val="235078"/>
                </a:solidFill>
                <a:latin typeface="+mj-lt"/>
              </a:rPr>
              <a:t> on Simulated radar data</a:t>
            </a:r>
            <a:endParaRPr sz="2200" b="1" dirty="0">
              <a:solidFill>
                <a:srgbClr val="235078"/>
              </a:solidFill>
              <a:latin typeface="+mj-lt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CEAF3C7-C4D9-8120-4952-B0A9B8B164F9}"/>
              </a:ext>
            </a:extLst>
          </p:cNvPr>
          <p:cNvSpPr txBox="1"/>
          <p:nvPr/>
        </p:nvSpPr>
        <p:spPr>
          <a:xfrm>
            <a:off x="29775912" y="24216935"/>
            <a:ext cx="8823452" cy="371014"/>
          </a:xfrm>
          <a:prstGeom prst="rect">
            <a:avLst/>
          </a:prstGeom>
          <a:noFill/>
        </p:spPr>
        <p:txBody>
          <a:bodyPr wrap="square" lIns="0" tIns="16093" rIns="0" bIns="16093" anchor="t">
            <a:spAutoFit/>
          </a:bodyPr>
          <a:lstStyle/>
          <a:p>
            <a:r>
              <a:rPr sz="2200" b="1">
                <a:solidFill>
                  <a:srgbClr val="235078"/>
                </a:solidFill>
                <a:latin typeface="+mj-lt"/>
              </a:rPr>
              <a:t>Fine-tuning </a:t>
            </a:r>
            <a:r>
              <a:rPr lang="en-US" sz="2200" b="1">
                <a:solidFill>
                  <a:srgbClr val="235078"/>
                </a:solidFill>
                <a:latin typeface="+mj-lt"/>
              </a:rPr>
              <a:t>-</a:t>
            </a:r>
            <a:r>
              <a:rPr sz="2200" b="1">
                <a:solidFill>
                  <a:srgbClr val="235078"/>
                </a:solidFill>
                <a:latin typeface="+mj-lt"/>
              </a:rPr>
              <a:t> no positional ground truth</a:t>
            </a:r>
          </a:p>
        </p:txBody>
      </p:sp>
      <p:pic>
        <p:nvPicPr>
          <p:cNvPr id="134" name="Picture 133" descr="hr_finetune.png">
            <a:extLst>
              <a:ext uri="{FF2B5EF4-FFF2-40B4-BE49-F238E27FC236}">
                <a16:creationId xmlns:a16="http://schemas.microsoft.com/office/drawing/2014/main" id="{575F4441-3F10-EA24-13E3-879B5885F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3030" y="24693529"/>
            <a:ext cx="13408406" cy="5873224"/>
          </a:xfrm>
          <a:prstGeom prst="rect">
            <a:avLst/>
          </a:prstGeom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3D57EC33-48DA-7360-FB2C-61E48C2595D7}"/>
              </a:ext>
            </a:extLst>
          </p:cNvPr>
          <p:cNvSpPr/>
          <p:nvPr/>
        </p:nvSpPr>
        <p:spPr>
          <a:xfrm>
            <a:off x="569824" y="14761366"/>
            <a:ext cx="28083053" cy="80467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1402" tIns="16093" rIns="160934" bIns="16093" rtlCol="0" anchor="ctr"/>
          <a:lstStyle/>
          <a:p>
            <a:r>
              <a:rPr lang="en-US" sz="3256">
                <a:solidFill>
                  <a:srgbClr val="FFFFFF"/>
                </a:solidFill>
                <a:latin typeface="Amaranth"/>
              </a:rPr>
              <a:t>Dataset &amp; Results</a:t>
            </a:r>
            <a:endParaRPr sz="3256">
              <a:solidFill>
                <a:srgbClr val="FFFFFF"/>
              </a:solidFill>
              <a:latin typeface="Amaranth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C755E3C-FE7A-797E-6EB2-FEE738B9ED2D}"/>
              </a:ext>
            </a:extLst>
          </p:cNvPr>
          <p:cNvSpPr txBox="1"/>
          <p:nvPr/>
        </p:nvSpPr>
        <p:spPr>
          <a:xfrm>
            <a:off x="14545374" y="15743705"/>
            <a:ext cx="13483085" cy="526840"/>
          </a:xfrm>
          <a:prstGeom prst="rect">
            <a:avLst/>
          </a:prstGeom>
          <a:noFill/>
        </p:spPr>
        <p:txBody>
          <a:bodyPr wrap="square" lIns="0" tIns="22852" rIns="0" bIns="22852" anchor="t">
            <a:spAutoFit/>
          </a:bodyPr>
          <a:lstStyle/>
          <a:p>
            <a:r>
              <a:rPr sz="3124" b="1">
                <a:solidFill>
                  <a:srgbClr val="235078"/>
                </a:solidFill>
                <a:latin typeface="+mj-lt"/>
              </a:rPr>
              <a:t>Figures of merit and overall score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767F135-EE54-5B10-7B7B-888EDCFD9581}"/>
              </a:ext>
            </a:extLst>
          </p:cNvPr>
          <p:cNvSpPr/>
          <p:nvPr/>
        </p:nvSpPr>
        <p:spPr>
          <a:xfrm>
            <a:off x="569254" y="25201880"/>
            <a:ext cx="12723474" cy="107826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1402" tIns="16093" rIns="160934" bIns="16093" rtlCol="0" anchor="ctr"/>
          <a:lstStyle/>
          <a:p>
            <a:r>
              <a:rPr sz="3256">
                <a:solidFill>
                  <a:srgbClr val="FFFFFF"/>
                </a:solidFill>
                <a:latin typeface="Amaranth"/>
              </a:rPr>
              <a:t>Efficiency </a:t>
            </a:r>
            <a:r>
              <a:rPr lang="en-US" sz="3256">
                <a:solidFill>
                  <a:srgbClr val="FFFFFF"/>
                </a:solidFill>
                <a:latin typeface="Amaranth"/>
              </a:rPr>
              <a:t>Analysis</a:t>
            </a:r>
            <a:endParaRPr sz="3256">
              <a:solidFill>
                <a:srgbClr val="FFFFFF"/>
              </a:solidFill>
              <a:latin typeface="Amaranth"/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51E4BF2D-E84C-7A83-E92D-5B46CAA801FC}"/>
              </a:ext>
            </a:extLst>
          </p:cNvPr>
          <p:cNvSpPr/>
          <p:nvPr/>
        </p:nvSpPr>
        <p:spPr>
          <a:xfrm>
            <a:off x="13802376" y="25201880"/>
            <a:ext cx="14848226" cy="107826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1402" tIns="16093" rIns="160934" bIns="16093" rtlCol="0" anchor="ctr"/>
          <a:lstStyle/>
          <a:p>
            <a:r>
              <a:rPr sz="3256">
                <a:solidFill>
                  <a:srgbClr val="FFFFFF"/>
                </a:solidFill>
                <a:latin typeface="Amaranth"/>
              </a:rPr>
              <a:t>Conclusion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AC4729FD-B0B2-109D-D080-3A667B40D633}"/>
              </a:ext>
            </a:extLst>
          </p:cNvPr>
          <p:cNvSpPr txBox="1"/>
          <p:nvPr/>
        </p:nvSpPr>
        <p:spPr>
          <a:xfrm>
            <a:off x="646635" y="30184590"/>
            <a:ext cx="12723474" cy="878405"/>
          </a:xfrm>
          <a:prstGeom prst="rect">
            <a:avLst/>
          </a:prstGeom>
          <a:noFill/>
        </p:spPr>
        <p:txBody>
          <a:bodyPr wrap="square" lIns="0" tIns="21565" rIns="0" bIns="21565" anchor="t">
            <a:spAutoFit/>
          </a:bodyPr>
          <a:lstStyle/>
          <a:p>
            <a:r>
              <a:rPr sz="2712" i="1" dirty="0">
                <a:solidFill>
                  <a:srgbClr val="5A6874"/>
                </a:solidFill>
                <a:latin typeface="+mn-lt"/>
              </a:rPr>
              <a:t>Intel Core Ultra 7 268V. </a:t>
            </a:r>
            <a:r>
              <a:rPr sz="2712" i="1" dirty="0" err="1">
                <a:solidFill>
                  <a:srgbClr val="5A6874"/>
                </a:solidFill>
                <a:latin typeface="+mn-lt"/>
              </a:rPr>
              <a:t>Sk</a:t>
            </a:r>
            <a:r>
              <a:rPr sz="2712" i="1" dirty="0">
                <a:solidFill>
                  <a:srgbClr val="5A6874"/>
                </a:solidFill>
                <a:latin typeface="+mn-lt"/>
              </a:rPr>
              <a:t>-RBM is the only motion-aware method that also cuts peak memory, and runs about 20× cheaper than A-VMD.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027986CA-FD7C-7AB9-0477-D28FBAC2D575}"/>
              </a:ext>
            </a:extLst>
          </p:cNvPr>
          <p:cNvSpPr txBox="1"/>
          <p:nvPr/>
        </p:nvSpPr>
        <p:spPr>
          <a:xfrm>
            <a:off x="13864987" y="26595842"/>
            <a:ext cx="14735413" cy="3092463"/>
          </a:xfrm>
          <a:prstGeom prst="rect">
            <a:avLst/>
          </a:prstGeom>
          <a:noFill/>
        </p:spPr>
        <p:txBody>
          <a:bodyPr wrap="square" lIns="0" tIns="21565" rIns="0" bIns="21565" anchor="t">
            <a:spAutoFit/>
          </a:bodyPr>
          <a:lstStyle/>
          <a:p>
            <a:pPr marL="404338" indent="-404338" algn="just">
              <a:buFont typeface="Wingdings" panose="05000000000000000000" pitchFamily="2" charset="2"/>
              <a:buChar char="Ø"/>
            </a:pPr>
            <a:r>
              <a:rPr lang="en-US" sz="3302" dirty="0">
                <a:latin typeface="+mn-lt"/>
                <a:ea typeface="Calibri" pitchFamily="34" charset="-122"/>
                <a:cs typeface="Arial" panose="020B0604020202020204" pitchFamily="34" charset="0"/>
              </a:rPr>
              <a:t>Skeleton-guided RBM compensation effectively </a:t>
            </a:r>
            <a:r>
              <a:rPr lang="en-US" sz="3302" dirty="0">
                <a:solidFill>
                  <a:srgbClr val="225F98"/>
                </a:solidFill>
                <a:latin typeface="+mn-lt"/>
                <a:ea typeface="Calibri" pitchFamily="34" charset="-122"/>
                <a:cs typeface="Arial" panose="020B0604020202020204" pitchFamily="34" charset="0"/>
              </a:rPr>
              <a:t>separates gross body motion</a:t>
            </a:r>
            <a:r>
              <a:rPr lang="en-US" sz="3302" dirty="0">
                <a:solidFill>
                  <a:srgbClr val="FF0000"/>
                </a:solidFill>
                <a:latin typeface="+mn-lt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302" dirty="0">
                <a:latin typeface="+mn-lt"/>
                <a:ea typeface="Calibri" pitchFamily="34" charset="-122"/>
                <a:cs typeface="Arial" panose="020B0604020202020204" pitchFamily="34" charset="0"/>
              </a:rPr>
              <a:t>from cardiac micro-motion</a:t>
            </a:r>
          </a:p>
          <a:p>
            <a:pPr marL="404338" indent="-404338" algn="just">
              <a:buFont typeface="Wingdings" panose="05000000000000000000" pitchFamily="2" charset="2"/>
              <a:buChar char="Ø"/>
            </a:pPr>
            <a:r>
              <a:rPr lang="en-US" sz="3302" dirty="0">
                <a:solidFill>
                  <a:srgbClr val="225F98"/>
                </a:solidFill>
                <a:latin typeface="+mn-lt"/>
                <a:ea typeface="Calibri" pitchFamily="34" charset="-122"/>
                <a:cs typeface="Arial" panose="020B0604020202020204" pitchFamily="34" charset="0"/>
              </a:rPr>
              <a:t>Low latency </a:t>
            </a:r>
            <a:r>
              <a:rPr lang="en-US" sz="3302" dirty="0">
                <a:latin typeface="+mn-lt"/>
                <a:ea typeface="Calibri" pitchFamily="34" charset="-122"/>
                <a:cs typeface="Arial" panose="020B0604020202020204" pitchFamily="34" charset="0"/>
              </a:rPr>
              <a:t>(0.88s), and </a:t>
            </a:r>
            <a:r>
              <a:rPr lang="en-US" sz="3302" dirty="0">
                <a:solidFill>
                  <a:srgbClr val="225F98"/>
                </a:solidFill>
                <a:latin typeface="+mn-lt"/>
                <a:ea typeface="Calibri" pitchFamily="34" charset="-122"/>
                <a:cs typeface="Arial" panose="020B0604020202020204" pitchFamily="34" charset="0"/>
              </a:rPr>
              <a:t>reduced energy consumption </a:t>
            </a:r>
            <a:r>
              <a:rPr lang="en-US" sz="3302" dirty="0">
                <a:latin typeface="+mn-lt"/>
                <a:ea typeface="Calibri" pitchFamily="34" charset="-122"/>
                <a:cs typeface="Arial" panose="020B0604020202020204" pitchFamily="34" charset="0"/>
              </a:rPr>
              <a:t>(35.69J)</a:t>
            </a:r>
          </a:p>
          <a:p>
            <a:pPr marL="404338" indent="-404338" algn="just">
              <a:buFont typeface="Wingdings" panose="05000000000000000000" pitchFamily="2" charset="2"/>
              <a:buChar char="Ø"/>
            </a:pPr>
            <a:r>
              <a:rPr lang="en-US" sz="3302" dirty="0">
                <a:solidFill>
                  <a:srgbClr val="225F98"/>
                </a:solidFill>
                <a:latin typeface="+mn-lt"/>
                <a:ea typeface="Calibri" pitchFamily="34" charset="-122"/>
                <a:cs typeface="Arial" panose="020B0604020202020204" pitchFamily="34" charset="0"/>
              </a:rPr>
              <a:t>Lowest peak memory usage </a:t>
            </a:r>
            <a:r>
              <a:rPr lang="en-US" sz="3302" dirty="0">
                <a:latin typeface="+mn-lt"/>
                <a:ea typeface="Calibri" pitchFamily="34" charset="-122"/>
                <a:cs typeface="Arial" panose="020B0604020202020204" pitchFamily="34" charset="0"/>
              </a:rPr>
              <a:t>(175MB) among all evaluated methods</a:t>
            </a:r>
            <a:endParaRPr lang="en-US" sz="3302" dirty="0">
              <a:latin typeface="+mn-lt"/>
              <a:cs typeface="Arial" panose="020B0604020202020204" pitchFamily="34" charset="0"/>
            </a:endParaRPr>
          </a:p>
          <a:p>
            <a:pPr marL="404338" indent="-404338" algn="just">
              <a:buFont typeface="Wingdings" panose="05000000000000000000" pitchFamily="2" charset="2"/>
              <a:buChar char="Ø"/>
            </a:pPr>
            <a:r>
              <a:rPr lang="en-US" sz="3302" dirty="0">
                <a:latin typeface="+mn-lt"/>
                <a:ea typeface="Calibri" pitchFamily="34" charset="-122"/>
                <a:cs typeface="Arial" panose="020B0604020202020204" pitchFamily="34" charset="0"/>
              </a:rPr>
              <a:t>Explore </a:t>
            </a:r>
            <a:r>
              <a:rPr lang="en-US" sz="3302" dirty="0">
                <a:solidFill>
                  <a:srgbClr val="225F98"/>
                </a:solidFill>
                <a:latin typeface="+mn-lt"/>
                <a:ea typeface="Calibri" pitchFamily="34" charset="-122"/>
                <a:cs typeface="Arial" panose="020B0604020202020204" pitchFamily="34" charset="0"/>
              </a:rPr>
              <a:t>multi-person and through-wall </a:t>
            </a:r>
            <a:r>
              <a:rPr lang="en-US" sz="3302" dirty="0">
                <a:latin typeface="+mn-lt"/>
                <a:ea typeface="Calibri" pitchFamily="34" charset="-122"/>
                <a:cs typeface="Arial" panose="020B0604020202020204" pitchFamily="34" charset="0"/>
              </a:rPr>
              <a:t>scenarios using UWB radars</a:t>
            </a:r>
          </a:p>
          <a:p>
            <a:pPr marL="404338" indent="-404338" algn="just">
              <a:buFont typeface="Wingdings" panose="05000000000000000000" pitchFamily="2" charset="2"/>
              <a:buChar char="Ø"/>
            </a:pPr>
            <a:r>
              <a:rPr lang="en-US" sz="3302" dirty="0">
                <a:latin typeface="+mn-lt"/>
                <a:ea typeface="Calibri" pitchFamily="34" charset="-122"/>
                <a:cs typeface="Arial" panose="020B0604020202020204" pitchFamily="34" charset="0"/>
              </a:rPr>
              <a:t>Integrating this approach with a </a:t>
            </a:r>
            <a:r>
              <a:rPr lang="en-US" sz="3302" dirty="0">
                <a:solidFill>
                  <a:srgbClr val="225F98"/>
                </a:solidFill>
                <a:latin typeface="+mn-lt"/>
                <a:ea typeface="Calibri" pitchFamily="34" charset="-122"/>
                <a:cs typeface="Arial" panose="020B0604020202020204" pitchFamily="34" charset="0"/>
              </a:rPr>
              <a:t>mobile robot</a:t>
            </a:r>
          </a:p>
        </p:txBody>
      </p:sp>
      <p:sp>
        <p:nvSpPr>
          <p:cNvPr id="2" name="scene_card">
            <a:extLst>
              <a:ext uri="{FF2B5EF4-FFF2-40B4-BE49-F238E27FC236}">
                <a16:creationId xmlns:a16="http://schemas.microsoft.com/office/drawing/2014/main" id="{2C2CE73C-F0AB-0519-C00F-61931CC2EADA}"/>
              </a:ext>
            </a:extLst>
          </p:cNvPr>
          <p:cNvSpPr/>
          <p:nvPr/>
        </p:nvSpPr>
        <p:spPr>
          <a:xfrm>
            <a:off x="610058" y="8246058"/>
            <a:ext cx="7881052" cy="5831978"/>
          </a:xfrm>
          <a:prstGeom prst="roundRect">
            <a:avLst>
              <a:gd name="adj" fmla="val 2400"/>
            </a:avLst>
          </a:prstGeom>
          <a:gradFill rotWithShape="1">
            <a:gsLst>
              <a:gs pos="0">
                <a:srgbClr val="FFFFFF"/>
              </a:gs>
              <a:gs pos="100000">
                <a:srgbClr val="DCE7EE"/>
              </a:gs>
            </a:gsLst>
            <a:lin ang="16200000" scaled="0"/>
          </a:gradFill>
          <a:ln w="12573">
            <a:solidFill>
              <a:srgbClr val="A6B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3" name="skyline">
            <a:extLst>
              <a:ext uri="{FF2B5EF4-FFF2-40B4-BE49-F238E27FC236}">
                <a16:creationId xmlns:a16="http://schemas.microsoft.com/office/drawing/2014/main" id="{CFF76739-4793-D4EF-340D-1D3CCB5F0C7B}"/>
              </a:ext>
            </a:extLst>
          </p:cNvPr>
          <p:cNvSpPr/>
          <p:nvPr/>
        </p:nvSpPr>
        <p:spPr>
          <a:xfrm>
            <a:off x="802707" y="11941396"/>
            <a:ext cx="437836" cy="1313509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F8711D-128A-2D0B-36E1-231AD19756C6}"/>
              </a:ext>
            </a:extLst>
          </p:cNvPr>
          <p:cNvSpPr/>
          <p:nvPr/>
        </p:nvSpPr>
        <p:spPr>
          <a:xfrm>
            <a:off x="890273" y="12099017"/>
            <a:ext cx="87567" cy="131351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872709-2CAA-C464-9EB4-6DB49B7CBD17}"/>
              </a:ext>
            </a:extLst>
          </p:cNvPr>
          <p:cNvSpPr/>
          <p:nvPr/>
        </p:nvSpPr>
        <p:spPr>
          <a:xfrm>
            <a:off x="890273" y="12396746"/>
            <a:ext cx="87567" cy="131351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4D5D3-1C4C-CA16-8E6E-C204B1C4837A}"/>
              </a:ext>
            </a:extLst>
          </p:cNvPr>
          <p:cNvSpPr/>
          <p:nvPr/>
        </p:nvSpPr>
        <p:spPr>
          <a:xfrm>
            <a:off x="890273" y="12694474"/>
            <a:ext cx="87567" cy="131351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" name="skyline">
            <a:extLst>
              <a:ext uri="{FF2B5EF4-FFF2-40B4-BE49-F238E27FC236}">
                <a16:creationId xmlns:a16="http://schemas.microsoft.com/office/drawing/2014/main" id="{90A97F25-D257-D4B0-C3DA-80F6C6C20367}"/>
              </a:ext>
            </a:extLst>
          </p:cNvPr>
          <p:cNvSpPr/>
          <p:nvPr/>
        </p:nvSpPr>
        <p:spPr>
          <a:xfrm>
            <a:off x="1328109" y="12204098"/>
            <a:ext cx="350269" cy="1050807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1593B6-672C-572D-20D9-506C3D7AA506}"/>
              </a:ext>
            </a:extLst>
          </p:cNvPr>
          <p:cNvSpPr/>
          <p:nvPr/>
        </p:nvSpPr>
        <p:spPr>
          <a:xfrm>
            <a:off x="1415676" y="12361719"/>
            <a:ext cx="87567" cy="131351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E3654-23CE-6927-236E-87F1C25BC346}"/>
              </a:ext>
            </a:extLst>
          </p:cNvPr>
          <p:cNvSpPr/>
          <p:nvPr/>
        </p:nvSpPr>
        <p:spPr>
          <a:xfrm>
            <a:off x="1415676" y="12659448"/>
            <a:ext cx="87567" cy="131351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10" name="skyline">
            <a:extLst>
              <a:ext uri="{FF2B5EF4-FFF2-40B4-BE49-F238E27FC236}">
                <a16:creationId xmlns:a16="http://schemas.microsoft.com/office/drawing/2014/main" id="{B6F7EE48-D1C1-2803-E309-F19942B0403F}"/>
              </a:ext>
            </a:extLst>
          </p:cNvPr>
          <p:cNvSpPr/>
          <p:nvPr/>
        </p:nvSpPr>
        <p:spPr>
          <a:xfrm>
            <a:off x="1765946" y="11818803"/>
            <a:ext cx="385295" cy="1436103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C1BD87-868F-91CE-06C9-C3AC9ADB6211}"/>
              </a:ext>
            </a:extLst>
          </p:cNvPr>
          <p:cNvSpPr/>
          <p:nvPr/>
        </p:nvSpPr>
        <p:spPr>
          <a:xfrm>
            <a:off x="1853512" y="11976423"/>
            <a:ext cx="87567" cy="131351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1E5DC3-E794-3E4B-814D-E4083EBA55EF}"/>
              </a:ext>
            </a:extLst>
          </p:cNvPr>
          <p:cNvSpPr/>
          <p:nvPr/>
        </p:nvSpPr>
        <p:spPr>
          <a:xfrm>
            <a:off x="1853512" y="12274152"/>
            <a:ext cx="87567" cy="131351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8FFD5C-6AE5-3DEB-B621-C27E500FACE7}"/>
              </a:ext>
            </a:extLst>
          </p:cNvPr>
          <p:cNvSpPr/>
          <p:nvPr/>
        </p:nvSpPr>
        <p:spPr>
          <a:xfrm>
            <a:off x="1853512" y="12571881"/>
            <a:ext cx="87567" cy="131351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3D2FF2-39E5-F91B-B436-9E1353AB37B5}"/>
              </a:ext>
            </a:extLst>
          </p:cNvPr>
          <p:cNvSpPr/>
          <p:nvPr/>
        </p:nvSpPr>
        <p:spPr>
          <a:xfrm>
            <a:off x="1853512" y="12869609"/>
            <a:ext cx="87567" cy="131351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15" name="street">
            <a:extLst>
              <a:ext uri="{FF2B5EF4-FFF2-40B4-BE49-F238E27FC236}">
                <a16:creationId xmlns:a16="http://schemas.microsoft.com/office/drawing/2014/main" id="{9CA6856E-2C80-A46B-3BB0-8D5C9815532C}"/>
              </a:ext>
            </a:extLst>
          </p:cNvPr>
          <p:cNvSpPr/>
          <p:nvPr/>
        </p:nvSpPr>
        <p:spPr>
          <a:xfrm>
            <a:off x="627571" y="13254905"/>
            <a:ext cx="7846025" cy="805619"/>
          </a:xfrm>
          <a:prstGeom prst="rect">
            <a:avLst/>
          </a:prstGeom>
          <a:solidFill>
            <a:srgbClr val="C6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75024D67-A650-B7D1-0E95-07353AE68780}"/>
              </a:ext>
            </a:extLst>
          </p:cNvPr>
          <p:cNvCxnSpPr/>
          <p:nvPr/>
        </p:nvCxnSpPr>
        <p:spPr>
          <a:xfrm>
            <a:off x="627571" y="13254905"/>
            <a:ext cx="7846025" cy="0"/>
          </a:xfrm>
          <a:prstGeom prst="line">
            <a:avLst/>
          </a:prstGeom>
          <a:ln w="19702">
            <a:solidFill>
              <a:srgbClr val="5F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eam_wedge">
            <a:extLst>
              <a:ext uri="{FF2B5EF4-FFF2-40B4-BE49-F238E27FC236}">
                <a16:creationId xmlns:a16="http://schemas.microsoft.com/office/drawing/2014/main" id="{9573FF22-5522-1EF2-728C-4069182CC136}"/>
              </a:ext>
            </a:extLst>
          </p:cNvPr>
          <p:cNvSpPr/>
          <p:nvPr/>
        </p:nvSpPr>
        <p:spPr>
          <a:xfrm>
            <a:off x="2781726" y="9769729"/>
            <a:ext cx="1979020" cy="3415122"/>
          </a:xfrm>
          <a:custGeom>
            <a:avLst/>
            <a:gdLst/>
            <a:ahLst/>
            <a:cxnLst/>
            <a:rect l="l" t="t" r="r" b="b"/>
            <a:pathLst>
              <a:path w="2248886" h="3880821">
                <a:moveTo>
                  <a:pt x="0" y="2049870"/>
                </a:moveTo>
                <a:lnTo>
                  <a:pt x="2248886" y="0"/>
                </a:lnTo>
                <a:lnTo>
                  <a:pt x="2248886" y="3880821"/>
                </a:lnTo>
                <a:close/>
              </a:path>
            </a:pathLst>
          </a:custGeom>
          <a:solidFill>
            <a:srgbClr val="C7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18" name="building_shell">
            <a:extLst>
              <a:ext uri="{FF2B5EF4-FFF2-40B4-BE49-F238E27FC236}">
                <a16:creationId xmlns:a16="http://schemas.microsoft.com/office/drawing/2014/main" id="{41E2FADB-4160-E6DC-714F-C02DFE447D10}"/>
              </a:ext>
            </a:extLst>
          </p:cNvPr>
          <p:cNvSpPr/>
          <p:nvPr/>
        </p:nvSpPr>
        <p:spPr>
          <a:xfrm>
            <a:off x="4760746" y="9349407"/>
            <a:ext cx="3677824" cy="3905499"/>
          </a:xfrm>
          <a:custGeom>
            <a:avLst/>
            <a:gdLst/>
            <a:ahLst/>
            <a:cxnLst/>
            <a:rect l="l" t="t" r="r" b="b"/>
            <a:pathLst>
              <a:path w="4179346" h="4438067">
                <a:moveTo>
                  <a:pt x="0" y="4438067"/>
                </a:moveTo>
                <a:lnTo>
                  <a:pt x="0" y="258721"/>
                </a:lnTo>
                <a:lnTo>
                  <a:pt x="636852" y="79606"/>
                </a:lnTo>
                <a:lnTo>
                  <a:pt x="1174197" y="358229"/>
                </a:lnTo>
                <a:lnTo>
                  <a:pt x="1950361" y="0"/>
                </a:lnTo>
                <a:lnTo>
                  <a:pt x="2547411" y="517443"/>
                </a:lnTo>
                <a:lnTo>
                  <a:pt x="4179346" y="278623"/>
                </a:lnTo>
                <a:lnTo>
                  <a:pt x="4179346" y="4438067"/>
                </a:lnTo>
                <a:close/>
              </a:path>
            </a:pathLst>
          </a:custGeom>
          <a:solidFill>
            <a:srgbClr val="F0F4F7"/>
          </a:solidFill>
          <a:ln w="20955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19" name="wall_front_cut">
            <a:extLst>
              <a:ext uri="{FF2B5EF4-FFF2-40B4-BE49-F238E27FC236}">
                <a16:creationId xmlns:a16="http://schemas.microsoft.com/office/drawing/2014/main" id="{A1B79598-E6C3-255B-8B15-B83569BE7D8C}"/>
              </a:ext>
            </a:extLst>
          </p:cNvPr>
          <p:cNvSpPr/>
          <p:nvPr/>
        </p:nvSpPr>
        <p:spPr>
          <a:xfrm>
            <a:off x="4760745" y="9577081"/>
            <a:ext cx="280215" cy="3677824"/>
          </a:xfrm>
          <a:prstGeom prst="rect">
            <a:avLst/>
          </a:prstGeom>
          <a:solidFill>
            <a:srgbClr val="B07A56"/>
          </a:solidFill>
          <a:ln w="16764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3B81C46-B0DA-7423-4D59-ACAFCA74CED5}"/>
              </a:ext>
            </a:extLst>
          </p:cNvPr>
          <p:cNvCxnSpPr/>
          <p:nvPr/>
        </p:nvCxnSpPr>
        <p:spPr>
          <a:xfrm>
            <a:off x="4760745" y="9717188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182C8332-35F1-8EC5-A996-0A85E72F2A4B}"/>
              </a:ext>
            </a:extLst>
          </p:cNvPr>
          <p:cNvCxnSpPr/>
          <p:nvPr/>
        </p:nvCxnSpPr>
        <p:spPr>
          <a:xfrm>
            <a:off x="4760745" y="9979890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F179954A-1438-EEF2-8283-DAD9EF3522FE}"/>
              </a:ext>
            </a:extLst>
          </p:cNvPr>
          <p:cNvCxnSpPr/>
          <p:nvPr/>
        </p:nvCxnSpPr>
        <p:spPr>
          <a:xfrm>
            <a:off x="4760745" y="10242592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14D1BED0-1ABA-DA76-DBDF-9B12443FB5DF}"/>
              </a:ext>
            </a:extLst>
          </p:cNvPr>
          <p:cNvCxnSpPr/>
          <p:nvPr/>
        </p:nvCxnSpPr>
        <p:spPr>
          <a:xfrm>
            <a:off x="4760745" y="10505293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143B91DD-DCC3-C9D2-D7E9-33B922394DFC}"/>
              </a:ext>
            </a:extLst>
          </p:cNvPr>
          <p:cNvCxnSpPr/>
          <p:nvPr/>
        </p:nvCxnSpPr>
        <p:spPr>
          <a:xfrm>
            <a:off x="4760745" y="10767995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0C12C366-9FE7-E792-6EBB-84B93D2D9635}"/>
              </a:ext>
            </a:extLst>
          </p:cNvPr>
          <p:cNvCxnSpPr/>
          <p:nvPr/>
        </p:nvCxnSpPr>
        <p:spPr>
          <a:xfrm>
            <a:off x="4760745" y="11030697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01CD766F-941F-0D47-C868-F93CF6BC85BB}"/>
              </a:ext>
            </a:extLst>
          </p:cNvPr>
          <p:cNvCxnSpPr/>
          <p:nvPr/>
        </p:nvCxnSpPr>
        <p:spPr>
          <a:xfrm>
            <a:off x="4760745" y="11293399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E784B3D5-3D00-1AB3-BEB0-D9D016574047}"/>
              </a:ext>
            </a:extLst>
          </p:cNvPr>
          <p:cNvCxnSpPr/>
          <p:nvPr/>
        </p:nvCxnSpPr>
        <p:spPr>
          <a:xfrm>
            <a:off x="4760745" y="11556100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0E3FA70B-3643-D60D-5AD1-D20D39F5A5A4}"/>
              </a:ext>
            </a:extLst>
          </p:cNvPr>
          <p:cNvCxnSpPr/>
          <p:nvPr/>
        </p:nvCxnSpPr>
        <p:spPr>
          <a:xfrm>
            <a:off x="4760745" y="11818802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A7155E4B-3E7F-A5CB-3BE9-6D4299789728}"/>
              </a:ext>
            </a:extLst>
          </p:cNvPr>
          <p:cNvCxnSpPr/>
          <p:nvPr/>
        </p:nvCxnSpPr>
        <p:spPr>
          <a:xfrm>
            <a:off x="4760745" y="12081504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3C06A642-D8E7-F0FE-78EB-29BE65795CC8}"/>
              </a:ext>
            </a:extLst>
          </p:cNvPr>
          <p:cNvCxnSpPr/>
          <p:nvPr/>
        </p:nvCxnSpPr>
        <p:spPr>
          <a:xfrm>
            <a:off x="4760745" y="12344206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BCBE863F-8033-2CDA-4983-5B1C2B957CFC}"/>
              </a:ext>
            </a:extLst>
          </p:cNvPr>
          <p:cNvCxnSpPr/>
          <p:nvPr/>
        </p:nvCxnSpPr>
        <p:spPr>
          <a:xfrm>
            <a:off x="4760745" y="12606907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53D687AE-3ED4-499D-99C6-5823CC47896B}"/>
              </a:ext>
            </a:extLst>
          </p:cNvPr>
          <p:cNvCxnSpPr/>
          <p:nvPr/>
        </p:nvCxnSpPr>
        <p:spPr>
          <a:xfrm>
            <a:off x="4760745" y="12869609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C5BE7DE1-5290-46F7-D37D-54B6F101D199}"/>
              </a:ext>
            </a:extLst>
          </p:cNvPr>
          <p:cNvCxnSpPr/>
          <p:nvPr/>
        </p:nvCxnSpPr>
        <p:spPr>
          <a:xfrm>
            <a:off x="4760745" y="13132310"/>
            <a:ext cx="280215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wall_rear_cut">
            <a:extLst>
              <a:ext uri="{FF2B5EF4-FFF2-40B4-BE49-F238E27FC236}">
                <a16:creationId xmlns:a16="http://schemas.microsoft.com/office/drawing/2014/main" id="{B1AC6E1B-1468-899D-7196-CA4F410043DC}"/>
              </a:ext>
            </a:extLst>
          </p:cNvPr>
          <p:cNvSpPr/>
          <p:nvPr/>
        </p:nvSpPr>
        <p:spPr>
          <a:xfrm>
            <a:off x="8158354" y="9594595"/>
            <a:ext cx="280215" cy="3660311"/>
          </a:xfrm>
          <a:prstGeom prst="rect">
            <a:avLst/>
          </a:prstGeom>
          <a:solidFill>
            <a:srgbClr val="B07A56"/>
          </a:solidFill>
          <a:ln w="16764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B913AED9-0D3B-E593-98C4-00C66EB70876}"/>
              </a:ext>
            </a:extLst>
          </p:cNvPr>
          <p:cNvCxnSpPr/>
          <p:nvPr/>
        </p:nvCxnSpPr>
        <p:spPr>
          <a:xfrm>
            <a:off x="8158354" y="9734702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>
            <a:extLst>
              <a:ext uri="{FF2B5EF4-FFF2-40B4-BE49-F238E27FC236}">
                <a16:creationId xmlns:a16="http://schemas.microsoft.com/office/drawing/2014/main" id="{E51DE63F-F8A4-8A24-48AA-CC9E2C1F08F2}"/>
              </a:ext>
            </a:extLst>
          </p:cNvPr>
          <p:cNvCxnSpPr/>
          <p:nvPr/>
        </p:nvCxnSpPr>
        <p:spPr>
          <a:xfrm>
            <a:off x="8158354" y="9997404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>
            <a:extLst>
              <a:ext uri="{FF2B5EF4-FFF2-40B4-BE49-F238E27FC236}">
                <a16:creationId xmlns:a16="http://schemas.microsoft.com/office/drawing/2014/main" id="{B3B3555C-9CF5-2E67-4A20-E8D68231AC71}"/>
              </a:ext>
            </a:extLst>
          </p:cNvPr>
          <p:cNvCxnSpPr/>
          <p:nvPr/>
        </p:nvCxnSpPr>
        <p:spPr>
          <a:xfrm>
            <a:off x="8158354" y="10260105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A5C22E41-BFE2-0A21-2A84-B3AB4AC21B31}"/>
              </a:ext>
            </a:extLst>
          </p:cNvPr>
          <p:cNvCxnSpPr/>
          <p:nvPr/>
        </p:nvCxnSpPr>
        <p:spPr>
          <a:xfrm>
            <a:off x="8158354" y="10522807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DBB73239-662D-4886-62F1-2218C3DE2C7E}"/>
              </a:ext>
            </a:extLst>
          </p:cNvPr>
          <p:cNvCxnSpPr/>
          <p:nvPr/>
        </p:nvCxnSpPr>
        <p:spPr>
          <a:xfrm>
            <a:off x="8158354" y="10785509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9C6317E1-A5E2-C66E-70E4-063ADCF31C54}"/>
              </a:ext>
            </a:extLst>
          </p:cNvPr>
          <p:cNvCxnSpPr/>
          <p:nvPr/>
        </p:nvCxnSpPr>
        <p:spPr>
          <a:xfrm>
            <a:off x="8158354" y="11048210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D1ADC6D9-32AD-84B9-1A96-E2BEB836C4DC}"/>
              </a:ext>
            </a:extLst>
          </p:cNvPr>
          <p:cNvCxnSpPr/>
          <p:nvPr/>
        </p:nvCxnSpPr>
        <p:spPr>
          <a:xfrm>
            <a:off x="8158354" y="11310912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621A5369-EAD8-AD1D-E1CB-BB33882204BF}"/>
              </a:ext>
            </a:extLst>
          </p:cNvPr>
          <p:cNvCxnSpPr/>
          <p:nvPr/>
        </p:nvCxnSpPr>
        <p:spPr>
          <a:xfrm>
            <a:off x="8158354" y="11573614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1D875A03-EC12-0FAC-C0E0-C7831E2A5FC2}"/>
              </a:ext>
            </a:extLst>
          </p:cNvPr>
          <p:cNvCxnSpPr/>
          <p:nvPr/>
        </p:nvCxnSpPr>
        <p:spPr>
          <a:xfrm>
            <a:off x="8158354" y="11836316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4854E9FC-EF03-09C1-3566-92FB6CCB4BF4}"/>
              </a:ext>
            </a:extLst>
          </p:cNvPr>
          <p:cNvCxnSpPr/>
          <p:nvPr/>
        </p:nvCxnSpPr>
        <p:spPr>
          <a:xfrm>
            <a:off x="8158354" y="12099017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3F555210-1B9B-4096-B4F0-259DAE6B11E7}"/>
              </a:ext>
            </a:extLst>
          </p:cNvPr>
          <p:cNvCxnSpPr/>
          <p:nvPr/>
        </p:nvCxnSpPr>
        <p:spPr>
          <a:xfrm>
            <a:off x="8158354" y="12361719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F4909133-C3E1-7C36-F78D-580DC9925B6E}"/>
              </a:ext>
            </a:extLst>
          </p:cNvPr>
          <p:cNvCxnSpPr/>
          <p:nvPr/>
        </p:nvCxnSpPr>
        <p:spPr>
          <a:xfrm>
            <a:off x="8158354" y="12624421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EB9F4327-87C3-98B6-BA62-FA26FBE83522}"/>
              </a:ext>
            </a:extLst>
          </p:cNvPr>
          <p:cNvCxnSpPr/>
          <p:nvPr/>
        </p:nvCxnSpPr>
        <p:spPr>
          <a:xfrm>
            <a:off x="8158354" y="12887122"/>
            <a:ext cx="280216" cy="0"/>
          </a:xfrm>
          <a:prstGeom prst="line">
            <a:avLst/>
          </a:prstGeom>
          <a:ln w="13135">
            <a:solidFill>
              <a:srgbClr val="8E5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lab_first_floor">
            <a:extLst>
              <a:ext uri="{FF2B5EF4-FFF2-40B4-BE49-F238E27FC236}">
                <a16:creationId xmlns:a16="http://schemas.microsoft.com/office/drawing/2014/main" id="{401A89E7-C57C-6D7F-16E0-ABB804AF374B}"/>
              </a:ext>
            </a:extLst>
          </p:cNvPr>
          <p:cNvSpPr/>
          <p:nvPr/>
        </p:nvSpPr>
        <p:spPr>
          <a:xfrm>
            <a:off x="4760745" y="11415993"/>
            <a:ext cx="2679558" cy="140107"/>
          </a:xfrm>
          <a:prstGeom prst="rect">
            <a:avLst/>
          </a:prstGeom>
          <a:solidFill>
            <a:srgbClr val="C4CFD7"/>
          </a:solidFill>
          <a:ln w="16764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49" name="slab_collapsed">
            <a:extLst>
              <a:ext uri="{FF2B5EF4-FFF2-40B4-BE49-F238E27FC236}">
                <a16:creationId xmlns:a16="http://schemas.microsoft.com/office/drawing/2014/main" id="{7B09BBED-139F-4D41-8751-A571C6FFBB5B}"/>
              </a:ext>
            </a:extLst>
          </p:cNvPr>
          <p:cNvSpPr/>
          <p:nvPr/>
        </p:nvSpPr>
        <p:spPr>
          <a:xfrm>
            <a:off x="7440303" y="11415993"/>
            <a:ext cx="823132" cy="700538"/>
          </a:xfrm>
          <a:custGeom>
            <a:avLst/>
            <a:gdLst/>
            <a:ahLst/>
            <a:cxnLst/>
            <a:rect l="l" t="t" r="r" b="b"/>
            <a:pathLst>
              <a:path w="935377" h="796066">
                <a:moveTo>
                  <a:pt x="0" y="0"/>
                </a:moveTo>
                <a:lnTo>
                  <a:pt x="935377" y="616951"/>
                </a:lnTo>
                <a:lnTo>
                  <a:pt x="935377" y="796066"/>
                </a:lnTo>
                <a:lnTo>
                  <a:pt x="0" y="159213"/>
                </a:lnTo>
                <a:close/>
              </a:path>
            </a:pathLst>
          </a:custGeom>
          <a:solidFill>
            <a:srgbClr val="A9B6C0"/>
          </a:solidFill>
          <a:ln w="16764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50" name="rubble_upper">
            <a:extLst>
              <a:ext uri="{FF2B5EF4-FFF2-40B4-BE49-F238E27FC236}">
                <a16:creationId xmlns:a16="http://schemas.microsoft.com/office/drawing/2014/main" id="{33FC23C0-4A00-B810-138A-938B9D2ADB50}"/>
              </a:ext>
            </a:extLst>
          </p:cNvPr>
          <p:cNvSpPr/>
          <p:nvPr/>
        </p:nvSpPr>
        <p:spPr>
          <a:xfrm>
            <a:off x="5111015" y="10943130"/>
            <a:ext cx="1523670" cy="472863"/>
          </a:xfrm>
          <a:custGeom>
            <a:avLst/>
            <a:gdLst/>
            <a:ahLst/>
            <a:cxnLst/>
            <a:rect l="l" t="t" r="r" b="b"/>
            <a:pathLst>
              <a:path w="1731443" h="537344">
                <a:moveTo>
                  <a:pt x="0" y="537344"/>
                </a:moveTo>
                <a:lnTo>
                  <a:pt x="557246" y="0"/>
                </a:lnTo>
                <a:lnTo>
                  <a:pt x="1273705" y="199016"/>
                </a:lnTo>
                <a:lnTo>
                  <a:pt x="1731443" y="537344"/>
                </a:lnTo>
                <a:close/>
              </a:path>
            </a:pathLst>
          </a:custGeom>
          <a:solidFill>
            <a:srgbClr val="B9C3CB"/>
          </a:solidFill>
          <a:ln w="16764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51" name="rubble_ground">
            <a:extLst>
              <a:ext uri="{FF2B5EF4-FFF2-40B4-BE49-F238E27FC236}">
                <a16:creationId xmlns:a16="http://schemas.microsoft.com/office/drawing/2014/main" id="{D1384091-11D5-CC33-730C-991AFF5EC401}"/>
              </a:ext>
            </a:extLst>
          </p:cNvPr>
          <p:cNvSpPr/>
          <p:nvPr/>
        </p:nvSpPr>
        <p:spPr>
          <a:xfrm>
            <a:off x="7002467" y="12379233"/>
            <a:ext cx="1155887" cy="875672"/>
          </a:xfrm>
          <a:custGeom>
            <a:avLst/>
            <a:gdLst/>
            <a:ahLst/>
            <a:cxnLst/>
            <a:rect l="l" t="t" r="r" b="b"/>
            <a:pathLst>
              <a:path w="1313508" h="995082">
                <a:moveTo>
                  <a:pt x="0" y="995082"/>
                </a:moveTo>
                <a:lnTo>
                  <a:pt x="417934" y="99508"/>
                </a:lnTo>
                <a:lnTo>
                  <a:pt x="895574" y="358229"/>
                </a:lnTo>
                <a:lnTo>
                  <a:pt x="1313508" y="0"/>
                </a:lnTo>
                <a:lnTo>
                  <a:pt x="1313508" y="995082"/>
                </a:lnTo>
                <a:close/>
              </a:path>
            </a:pathLst>
          </a:custGeom>
          <a:solidFill>
            <a:srgbClr val="B9C3CB"/>
          </a:solidFill>
          <a:ln w="16764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52" name="rubble_chunk">
            <a:extLst>
              <a:ext uri="{FF2B5EF4-FFF2-40B4-BE49-F238E27FC236}">
                <a16:creationId xmlns:a16="http://schemas.microsoft.com/office/drawing/2014/main" id="{102CA284-8F24-280F-2CFC-D62911E10AF9}"/>
              </a:ext>
            </a:extLst>
          </p:cNvPr>
          <p:cNvSpPr/>
          <p:nvPr/>
        </p:nvSpPr>
        <p:spPr>
          <a:xfrm rot="20760000">
            <a:off x="7142575" y="12887122"/>
            <a:ext cx="262702" cy="166378"/>
          </a:xfrm>
          <a:prstGeom prst="rect">
            <a:avLst/>
          </a:prstGeom>
          <a:solidFill>
            <a:srgbClr val="A9B6C0"/>
          </a:solidFill>
          <a:ln w="12573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53" name="rubble_chunk">
            <a:extLst>
              <a:ext uri="{FF2B5EF4-FFF2-40B4-BE49-F238E27FC236}">
                <a16:creationId xmlns:a16="http://schemas.microsoft.com/office/drawing/2014/main" id="{D9A69716-8EC0-509B-B82E-428C4A2C3916}"/>
              </a:ext>
            </a:extLst>
          </p:cNvPr>
          <p:cNvSpPr/>
          <p:nvPr/>
        </p:nvSpPr>
        <p:spPr>
          <a:xfrm rot="720000">
            <a:off x="7492843" y="13009717"/>
            <a:ext cx="210162" cy="131351"/>
          </a:xfrm>
          <a:prstGeom prst="rect">
            <a:avLst/>
          </a:prstGeom>
          <a:solidFill>
            <a:srgbClr val="A9B6C0"/>
          </a:solidFill>
          <a:ln w="12573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54" name="rubble_chunk">
            <a:extLst>
              <a:ext uri="{FF2B5EF4-FFF2-40B4-BE49-F238E27FC236}">
                <a16:creationId xmlns:a16="http://schemas.microsoft.com/office/drawing/2014/main" id="{E53BFEDC-6507-FF1D-BAC6-C1B308E24660}"/>
              </a:ext>
            </a:extLst>
          </p:cNvPr>
          <p:cNvSpPr/>
          <p:nvPr/>
        </p:nvSpPr>
        <p:spPr>
          <a:xfrm rot="1320000">
            <a:off x="7825600" y="12852095"/>
            <a:ext cx="262702" cy="166378"/>
          </a:xfrm>
          <a:prstGeom prst="rect">
            <a:avLst/>
          </a:prstGeom>
          <a:solidFill>
            <a:srgbClr val="A9B6C0"/>
          </a:solidFill>
          <a:ln w="12573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55" name="leaning_slab">
            <a:extLst>
              <a:ext uri="{FF2B5EF4-FFF2-40B4-BE49-F238E27FC236}">
                <a16:creationId xmlns:a16="http://schemas.microsoft.com/office/drawing/2014/main" id="{C11FC2A4-DAEF-18F0-B792-0B8F1D84C681}"/>
              </a:ext>
            </a:extLst>
          </p:cNvPr>
          <p:cNvSpPr/>
          <p:nvPr/>
        </p:nvSpPr>
        <p:spPr>
          <a:xfrm>
            <a:off x="6512090" y="12011451"/>
            <a:ext cx="770592" cy="1243455"/>
          </a:xfrm>
          <a:custGeom>
            <a:avLst/>
            <a:gdLst/>
            <a:ahLst/>
            <a:cxnLst/>
            <a:rect l="l" t="t" r="r" b="b"/>
            <a:pathLst>
              <a:path w="875673" h="1413017">
                <a:moveTo>
                  <a:pt x="0" y="1413017"/>
                </a:moveTo>
                <a:lnTo>
                  <a:pt x="517443" y="0"/>
                </a:lnTo>
                <a:lnTo>
                  <a:pt x="875673" y="159213"/>
                </a:lnTo>
                <a:lnTo>
                  <a:pt x="358230" y="1413017"/>
                </a:lnTo>
                <a:close/>
              </a:path>
            </a:pathLst>
          </a:custGeom>
          <a:solidFill>
            <a:srgbClr val="D3DBE1"/>
          </a:solidFill>
          <a:ln w="16764">
            <a:solidFill>
              <a:srgbClr val="2E3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cxnSp>
        <p:nvCxnSpPr>
          <p:cNvPr id="56" name="through_wall_ray">
            <a:extLst>
              <a:ext uri="{FF2B5EF4-FFF2-40B4-BE49-F238E27FC236}">
                <a16:creationId xmlns:a16="http://schemas.microsoft.com/office/drawing/2014/main" id="{3686BF84-2281-8380-15B7-4EBD167DC6C0}"/>
              </a:ext>
            </a:extLst>
          </p:cNvPr>
          <p:cNvCxnSpPr/>
          <p:nvPr/>
        </p:nvCxnSpPr>
        <p:spPr>
          <a:xfrm>
            <a:off x="5040960" y="11997883"/>
            <a:ext cx="1471129" cy="276269"/>
          </a:xfrm>
          <a:prstGeom prst="line">
            <a:avLst/>
          </a:prstGeom>
          <a:ln w="22986">
            <a:solidFill>
              <a:srgbClr val="7FB6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through_wall_ray">
            <a:extLst>
              <a:ext uri="{FF2B5EF4-FFF2-40B4-BE49-F238E27FC236}">
                <a16:creationId xmlns:a16="http://schemas.microsoft.com/office/drawing/2014/main" id="{D1354B33-9612-3088-ECE1-58FB7E2B42A2}"/>
              </a:ext>
            </a:extLst>
          </p:cNvPr>
          <p:cNvCxnSpPr/>
          <p:nvPr/>
        </p:nvCxnSpPr>
        <p:spPr>
          <a:xfrm>
            <a:off x="5040960" y="12241839"/>
            <a:ext cx="1471129" cy="435123"/>
          </a:xfrm>
          <a:prstGeom prst="line">
            <a:avLst/>
          </a:prstGeom>
          <a:ln w="22986">
            <a:solidFill>
              <a:srgbClr val="7FB6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through_wall_ray">
            <a:extLst>
              <a:ext uri="{FF2B5EF4-FFF2-40B4-BE49-F238E27FC236}">
                <a16:creationId xmlns:a16="http://schemas.microsoft.com/office/drawing/2014/main" id="{0A6B3C35-088F-8E29-C518-42528264F011}"/>
              </a:ext>
            </a:extLst>
          </p:cNvPr>
          <p:cNvCxnSpPr/>
          <p:nvPr/>
        </p:nvCxnSpPr>
        <p:spPr>
          <a:xfrm>
            <a:off x="5040960" y="12485793"/>
            <a:ext cx="1471129" cy="593978"/>
          </a:xfrm>
          <a:prstGeom prst="line">
            <a:avLst/>
          </a:prstGeom>
          <a:ln w="22986">
            <a:solidFill>
              <a:srgbClr val="7FB6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rvivor_body">
            <a:extLst>
              <a:ext uri="{FF2B5EF4-FFF2-40B4-BE49-F238E27FC236}">
                <a16:creationId xmlns:a16="http://schemas.microsoft.com/office/drawing/2014/main" id="{9E1840DE-3E23-EED0-8010-C6D9F4966303}"/>
              </a:ext>
            </a:extLst>
          </p:cNvPr>
          <p:cNvSpPr/>
          <p:nvPr/>
        </p:nvSpPr>
        <p:spPr>
          <a:xfrm>
            <a:off x="5706472" y="12309179"/>
            <a:ext cx="1155887" cy="945727"/>
          </a:xfrm>
          <a:custGeom>
            <a:avLst/>
            <a:gdLst/>
            <a:ahLst/>
            <a:cxnLst/>
            <a:rect l="l" t="t" r="r" b="b"/>
            <a:pathLst>
              <a:path w="1313508" h="1074689">
                <a:moveTo>
                  <a:pt x="99508" y="39803"/>
                </a:moveTo>
                <a:lnTo>
                  <a:pt x="338328" y="0"/>
                </a:lnTo>
                <a:lnTo>
                  <a:pt x="437836" y="298525"/>
                </a:lnTo>
                <a:lnTo>
                  <a:pt x="457738" y="537345"/>
                </a:lnTo>
                <a:lnTo>
                  <a:pt x="1034885" y="517443"/>
                </a:lnTo>
                <a:lnTo>
                  <a:pt x="1174197" y="636853"/>
                </a:lnTo>
                <a:lnTo>
                  <a:pt x="1174197" y="975181"/>
                </a:lnTo>
                <a:lnTo>
                  <a:pt x="1313508" y="975181"/>
                </a:lnTo>
                <a:lnTo>
                  <a:pt x="1313508" y="1074689"/>
                </a:lnTo>
                <a:lnTo>
                  <a:pt x="895574" y="1074689"/>
                </a:lnTo>
                <a:lnTo>
                  <a:pt x="935377" y="656754"/>
                </a:lnTo>
                <a:lnTo>
                  <a:pt x="398033" y="815968"/>
                </a:lnTo>
                <a:lnTo>
                  <a:pt x="99508" y="835869"/>
                </a:lnTo>
                <a:lnTo>
                  <a:pt x="0" y="358230"/>
                </a:lnTo>
                <a:lnTo>
                  <a:pt x="19901" y="119410"/>
                </a:lnTo>
                <a:close/>
              </a:path>
            </a:pathLst>
          </a:cu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0" name="survivor_head">
            <a:extLst>
              <a:ext uri="{FF2B5EF4-FFF2-40B4-BE49-F238E27FC236}">
                <a16:creationId xmlns:a16="http://schemas.microsoft.com/office/drawing/2014/main" id="{0D2D86E2-CF29-6A80-3B30-0DD39F1E8E23}"/>
              </a:ext>
            </a:extLst>
          </p:cNvPr>
          <p:cNvSpPr/>
          <p:nvPr/>
        </p:nvSpPr>
        <p:spPr>
          <a:xfrm>
            <a:off x="5618904" y="11941396"/>
            <a:ext cx="385295" cy="385295"/>
          </a:xfrm>
          <a:prstGeom prst="ellipse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1" name="survivor_arm">
            <a:extLst>
              <a:ext uri="{FF2B5EF4-FFF2-40B4-BE49-F238E27FC236}">
                <a16:creationId xmlns:a16="http://schemas.microsoft.com/office/drawing/2014/main" id="{1A30D886-7A25-74B5-9B5E-78EA58E5A795}"/>
              </a:ext>
            </a:extLst>
          </p:cNvPr>
          <p:cNvSpPr/>
          <p:nvPr/>
        </p:nvSpPr>
        <p:spPr>
          <a:xfrm rot="19560000">
            <a:off x="6004201" y="12379234"/>
            <a:ext cx="140107" cy="542917"/>
          </a:xfrm>
          <a:prstGeom prst="roundRect">
            <a:avLst>
              <a:gd name="adj" fmla="val 45000"/>
            </a:avLst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2" name="heart">
            <a:extLst>
              <a:ext uri="{FF2B5EF4-FFF2-40B4-BE49-F238E27FC236}">
                <a16:creationId xmlns:a16="http://schemas.microsoft.com/office/drawing/2014/main" id="{7388240E-46E5-EBE7-CAE5-3AED08820BC3}"/>
              </a:ext>
            </a:extLst>
          </p:cNvPr>
          <p:cNvSpPr/>
          <p:nvPr/>
        </p:nvSpPr>
        <p:spPr>
          <a:xfrm>
            <a:off x="5864093" y="12484314"/>
            <a:ext cx="262702" cy="245188"/>
          </a:xfrm>
          <a:prstGeom prst="hear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C4B0E9E0-F773-FF5B-12E6-53659DA29E80}"/>
              </a:ext>
            </a:extLst>
          </p:cNvPr>
          <p:cNvSpPr/>
          <p:nvPr/>
        </p:nvSpPr>
        <p:spPr>
          <a:xfrm>
            <a:off x="5969173" y="11993937"/>
            <a:ext cx="455350" cy="455350"/>
          </a:xfrm>
          <a:prstGeom prst="arc">
            <a:avLst>
              <a:gd name="adj1" fmla="val 18120000"/>
              <a:gd name="adj2" fmla="val 3479999"/>
            </a:avLst>
          </a:prstGeom>
          <a:noFill/>
          <a:ln w="26270">
            <a:solidFill>
              <a:srgbClr val="C8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5870C40B-FD83-A646-8D01-C49B385F8F6A}"/>
              </a:ext>
            </a:extLst>
          </p:cNvPr>
          <p:cNvSpPr/>
          <p:nvPr/>
        </p:nvSpPr>
        <p:spPr>
          <a:xfrm>
            <a:off x="5846579" y="11871343"/>
            <a:ext cx="700538" cy="700538"/>
          </a:xfrm>
          <a:prstGeom prst="arc">
            <a:avLst>
              <a:gd name="adj1" fmla="val 18120000"/>
              <a:gd name="adj2" fmla="val 3479999"/>
            </a:avLst>
          </a:prstGeom>
          <a:noFill/>
          <a:ln w="26270">
            <a:solidFill>
              <a:srgbClr val="C8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14D219D1-102F-21ED-07E2-A8986897D4FB}"/>
              </a:ext>
            </a:extLst>
          </p:cNvPr>
          <p:cNvSpPr/>
          <p:nvPr/>
        </p:nvSpPr>
        <p:spPr>
          <a:xfrm>
            <a:off x="5723985" y="11748748"/>
            <a:ext cx="945727" cy="945727"/>
          </a:xfrm>
          <a:prstGeom prst="arc">
            <a:avLst>
              <a:gd name="adj1" fmla="val 18120000"/>
              <a:gd name="adj2" fmla="val 3479999"/>
            </a:avLst>
          </a:prstGeom>
          <a:noFill/>
          <a:ln w="26270">
            <a:solidFill>
              <a:srgbClr val="C8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6" name="detect_1">
            <a:extLst>
              <a:ext uri="{FF2B5EF4-FFF2-40B4-BE49-F238E27FC236}">
                <a16:creationId xmlns:a16="http://schemas.microsoft.com/office/drawing/2014/main" id="{7DFF6846-21D3-00E6-2CED-A73BD7417E30}"/>
              </a:ext>
            </a:extLst>
          </p:cNvPr>
          <p:cNvSpPr/>
          <p:nvPr/>
        </p:nvSpPr>
        <p:spPr>
          <a:xfrm>
            <a:off x="5513824" y="11836316"/>
            <a:ext cx="210162" cy="437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7" name="detect_2">
            <a:extLst>
              <a:ext uri="{FF2B5EF4-FFF2-40B4-BE49-F238E27FC236}">
                <a16:creationId xmlns:a16="http://schemas.microsoft.com/office/drawing/2014/main" id="{94FA4A82-03D4-3890-315C-BFEA61747488}"/>
              </a:ext>
            </a:extLst>
          </p:cNvPr>
          <p:cNvSpPr/>
          <p:nvPr/>
        </p:nvSpPr>
        <p:spPr>
          <a:xfrm>
            <a:off x="5513824" y="11836316"/>
            <a:ext cx="43784" cy="21016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8" name="detect_3">
            <a:extLst>
              <a:ext uri="{FF2B5EF4-FFF2-40B4-BE49-F238E27FC236}">
                <a16:creationId xmlns:a16="http://schemas.microsoft.com/office/drawing/2014/main" id="{B8910D49-C715-D662-E01F-74942EA3FBA2}"/>
              </a:ext>
            </a:extLst>
          </p:cNvPr>
          <p:cNvSpPr/>
          <p:nvPr/>
        </p:nvSpPr>
        <p:spPr>
          <a:xfrm>
            <a:off x="6809818" y="11836316"/>
            <a:ext cx="210162" cy="437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69" name="detect_4">
            <a:extLst>
              <a:ext uri="{FF2B5EF4-FFF2-40B4-BE49-F238E27FC236}">
                <a16:creationId xmlns:a16="http://schemas.microsoft.com/office/drawing/2014/main" id="{EDF1E16F-32B0-7B1F-2CBB-8CAF53DDEF99}"/>
              </a:ext>
            </a:extLst>
          </p:cNvPr>
          <p:cNvSpPr/>
          <p:nvPr/>
        </p:nvSpPr>
        <p:spPr>
          <a:xfrm>
            <a:off x="6976196" y="11836316"/>
            <a:ext cx="43784" cy="21016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0" name="detect_5">
            <a:extLst>
              <a:ext uri="{FF2B5EF4-FFF2-40B4-BE49-F238E27FC236}">
                <a16:creationId xmlns:a16="http://schemas.microsoft.com/office/drawing/2014/main" id="{0E1981F8-BD37-DC46-5C41-3080CE98D669}"/>
              </a:ext>
            </a:extLst>
          </p:cNvPr>
          <p:cNvSpPr/>
          <p:nvPr/>
        </p:nvSpPr>
        <p:spPr>
          <a:xfrm>
            <a:off x="5513824" y="13176095"/>
            <a:ext cx="210162" cy="437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1" name="detect_6">
            <a:extLst>
              <a:ext uri="{FF2B5EF4-FFF2-40B4-BE49-F238E27FC236}">
                <a16:creationId xmlns:a16="http://schemas.microsoft.com/office/drawing/2014/main" id="{459BEDD4-CC91-06DC-4EC3-1D3EC343209E}"/>
              </a:ext>
            </a:extLst>
          </p:cNvPr>
          <p:cNvSpPr/>
          <p:nvPr/>
        </p:nvSpPr>
        <p:spPr>
          <a:xfrm>
            <a:off x="5513824" y="13009717"/>
            <a:ext cx="43784" cy="21016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2" name="detect_7">
            <a:extLst>
              <a:ext uri="{FF2B5EF4-FFF2-40B4-BE49-F238E27FC236}">
                <a16:creationId xmlns:a16="http://schemas.microsoft.com/office/drawing/2014/main" id="{3DD9B449-DF62-D277-8F23-8FAE2909C6F8}"/>
              </a:ext>
            </a:extLst>
          </p:cNvPr>
          <p:cNvSpPr/>
          <p:nvPr/>
        </p:nvSpPr>
        <p:spPr>
          <a:xfrm>
            <a:off x="6809818" y="13176095"/>
            <a:ext cx="210162" cy="437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3" name="detect_8">
            <a:extLst>
              <a:ext uri="{FF2B5EF4-FFF2-40B4-BE49-F238E27FC236}">
                <a16:creationId xmlns:a16="http://schemas.microsoft.com/office/drawing/2014/main" id="{8528D544-0E61-BC0B-82EB-C78CD5DABB04}"/>
              </a:ext>
            </a:extLst>
          </p:cNvPr>
          <p:cNvSpPr/>
          <p:nvPr/>
        </p:nvSpPr>
        <p:spPr>
          <a:xfrm>
            <a:off x="6976196" y="13009717"/>
            <a:ext cx="43784" cy="21016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4" name="wheel_rear">
            <a:extLst>
              <a:ext uri="{FF2B5EF4-FFF2-40B4-BE49-F238E27FC236}">
                <a16:creationId xmlns:a16="http://schemas.microsoft.com/office/drawing/2014/main" id="{D9327093-3D0A-9802-8522-29929837BD2E}"/>
              </a:ext>
            </a:extLst>
          </p:cNvPr>
          <p:cNvSpPr/>
          <p:nvPr/>
        </p:nvSpPr>
        <p:spPr>
          <a:xfrm>
            <a:off x="1643352" y="12799555"/>
            <a:ext cx="455350" cy="455350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84331F5-B303-553E-CF4E-529DE7A6EE13}"/>
              </a:ext>
            </a:extLst>
          </p:cNvPr>
          <p:cNvSpPr/>
          <p:nvPr/>
        </p:nvSpPr>
        <p:spPr>
          <a:xfrm>
            <a:off x="1783459" y="12939663"/>
            <a:ext cx="175134" cy="175134"/>
          </a:xfrm>
          <a:prstGeom prst="ellipse">
            <a:avLst/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6" name="wheel_front">
            <a:extLst>
              <a:ext uri="{FF2B5EF4-FFF2-40B4-BE49-F238E27FC236}">
                <a16:creationId xmlns:a16="http://schemas.microsoft.com/office/drawing/2014/main" id="{E614D555-2BBE-7D25-16BD-A6148E961A6F}"/>
              </a:ext>
            </a:extLst>
          </p:cNvPr>
          <p:cNvSpPr/>
          <p:nvPr/>
        </p:nvSpPr>
        <p:spPr>
          <a:xfrm>
            <a:off x="2361403" y="12799555"/>
            <a:ext cx="455350" cy="455350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C82ECED-D444-D47A-72D2-5639BFA955FB}"/>
              </a:ext>
            </a:extLst>
          </p:cNvPr>
          <p:cNvSpPr/>
          <p:nvPr/>
        </p:nvSpPr>
        <p:spPr>
          <a:xfrm>
            <a:off x="2501510" y="12939663"/>
            <a:ext cx="175134" cy="175134"/>
          </a:xfrm>
          <a:prstGeom prst="ellipse">
            <a:avLst/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8" name="rover_chassis">
            <a:extLst>
              <a:ext uri="{FF2B5EF4-FFF2-40B4-BE49-F238E27FC236}">
                <a16:creationId xmlns:a16="http://schemas.microsoft.com/office/drawing/2014/main" id="{A18D3A1C-F556-DE89-29AC-3B5BB01A0A2D}"/>
              </a:ext>
            </a:extLst>
          </p:cNvPr>
          <p:cNvSpPr/>
          <p:nvPr/>
        </p:nvSpPr>
        <p:spPr>
          <a:xfrm>
            <a:off x="1555784" y="12484314"/>
            <a:ext cx="1366049" cy="472863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71004E13-C1FB-DA4A-FEAE-3875E10412B2}"/>
              </a:ext>
            </a:extLst>
          </p:cNvPr>
          <p:cNvSpPr/>
          <p:nvPr/>
        </p:nvSpPr>
        <p:spPr>
          <a:xfrm>
            <a:off x="1695892" y="12589394"/>
            <a:ext cx="1085834" cy="105081"/>
          </a:xfrm>
          <a:prstGeom prst="roundRect">
            <a:avLst>
              <a:gd name="adj" fmla="val 50000"/>
            </a:avLst>
          </a:prstGeom>
          <a:solidFill>
            <a:srgbClr val="3E5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80" name="rover_mast">
            <a:extLst>
              <a:ext uri="{FF2B5EF4-FFF2-40B4-BE49-F238E27FC236}">
                <a16:creationId xmlns:a16="http://schemas.microsoft.com/office/drawing/2014/main" id="{CE68C262-E342-B545-A29C-5ED4D7A0B65A}"/>
              </a:ext>
            </a:extLst>
          </p:cNvPr>
          <p:cNvSpPr/>
          <p:nvPr/>
        </p:nvSpPr>
        <p:spPr>
          <a:xfrm>
            <a:off x="2151241" y="11818803"/>
            <a:ext cx="157621" cy="71805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81" name="radar_head">
            <a:extLst>
              <a:ext uri="{FF2B5EF4-FFF2-40B4-BE49-F238E27FC236}">
                <a16:creationId xmlns:a16="http://schemas.microsoft.com/office/drawing/2014/main" id="{B8C47A95-553B-FCB1-1224-DBA66DEFBBB1}"/>
              </a:ext>
            </a:extLst>
          </p:cNvPr>
          <p:cNvSpPr/>
          <p:nvPr/>
        </p:nvSpPr>
        <p:spPr>
          <a:xfrm>
            <a:off x="1713406" y="11275885"/>
            <a:ext cx="1120860" cy="577944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AEABC8D4-7886-A7D3-F03C-75E1939C1041}"/>
              </a:ext>
            </a:extLst>
          </p:cNvPr>
          <p:cNvSpPr/>
          <p:nvPr/>
        </p:nvSpPr>
        <p:spPr>
          <a:xfrm>
            <a:off x="1836000" y="11380967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8249B456-6A04-376C-8546-3C53306836F3}"/>
              </a:ext>
            </a:extLst>
          </p:cNvPr>
          <p:cNvSpPr/>
          <p:nvPr/>
        </p:nvSpPr>
        <p:spPr>
          <a:xfrm>
            <a:off x="2072431" y="11380967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80617F5F-5547-E787-F3F3-54274F83ED38}"/>
              </a:ext>
            </a:extLst>
          </p:cNvPr>
          <p:cNvSpPr/>
          <p:nvPr/>
        </p:nvSpPr>
        <p:spPr>
          <a:xfrm>
            <a:off x="2308862" y="11380967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86" name="Rounded Rectangle 84">
            <a:extLst>
              <a:ext uri="{FF2B5EF4-FFF2-40B4-BE49-F238E27FC236}">
                <a16:creationId xmlns:a16="http://schemas.microsoft.com/office/drawing/2014/main" id="{8D347C41-7B90-099D-DCAD-BABFC4B6652A}"/>
              </a:ext>
            </a:extLst>
          </p:cNvPr>
          <p:cNvSpPr/>
          <p:nvPr/>
        </p:nvSpPr>
        <p:spPr>
          <a:xfrm>
            <a:off x="2545294" y="11380967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87" name="Rounded Rectangle 85">
            <a:extLst>
              <a:ext uri="{FF2B5EF4-FFF2-40B4-BE49-F238E27FC236}">
                <a16:creationId xmlns:a16="http://schemas.microsoft.com/office/drawing/2014/main" id="{08B772C1-D3F8-1E01-0CF9-A5CA63D51CCF}"/>
              </a:ext>
            </a:extLst>
          </p:cNvPr>
          <p:cNvSpPr/>
          <p:nvPr/>
        </p:nvSpPr>
        <p:spPr>
          <a:xfrm>
            <a:off x="1836000" y="11547344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89" name="Rounded Rectangle 86">
            <a:extLst>
              <a:ext uri="{FF2B5EF4-FFF2-40B4-BE49-F238E27FC236}">
                <a16:creationId xmlns:a16="http://schemas.microsoft.com/office/drawing/2014/main" id="{D193A0F6-DF3D-2B99-80F4-B0D06576150A}"/>
              </a:ext>
            </a:extLst>
          </p:cNvPr>
          <p:cNvSpPr/>
          <p:nvPr/>
        </p:nvSpPr>
        <p:spPr>
          <a:xfrm>
            <a:off x="2072431" y="11547344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90" name="Rounded Rectangle 87">
            <a:extLst>
              <a:ext uri="{FF2B5EF4-FFF2-40B4-BE49-F238E27FC236}">
                <a16:creationId xmlns:a16="http://schemas.microsoft.com/office/drawing/2014/main" id="{09012A4F-C5D6-9766-6BBE-E148686E34EB}"/>
              </a:ext>
            </a:extLst>
          </p:cNvPr>
          <p:cNvSpPr/>
          <p:nvPr/>
        </p:nvSpPr>
        <p:spPr>
          <a:xfrm>
            <a:off x="2308862" y="11547344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91" name="Rounded Rectangle 88">
            <a:extLst>
              <a:ext uri="{FF2B5EF4-FFF2-40B4-BE49-F238E27FC236}">
                <a16:creationId xmlns:a16="http://schemas.microsoft.com/office/drawing/2014/main" id="{4A1BCE16-46FB-F0DA-A17B-33CA8C5208F2}"/>
              </a:ext>
            </a:extLst>
          </p:cNvPr>
          <p:cNvSpPr/>
          <p:nvPr/>
        </p:nvSpPr>
        <p:spPr>
          <a:xfrm>
            <a:off x="2545294" y="11547344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92" name="Rounded Rectangle 89">
            <a:extLst>
              <a:ext uri="{FF2B5EF4-FFF2-40B4-BE49-F238E27FC236}">
                <a16:creationId xmlns:a16="http://schemas.microsoft.com/office/drawing/2014/main" id="{ACFE13E0-BCC8-F60F-F596-0D63310B6359}"/>
              </a:ext>
            </a:extLst>
          </p:cNvPr>
          <p:cNvSpPr/>
          <p:nvPr/>
        </p:nvSpPr>
        <p:spPr>
          <a:xfrm>
            <a:off x="1836000" y="11713722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93" name="Rounded Rectangle 90">
            <a:extLst>
              <a:ext uri="{FF2B5EF4-FFF2-40B4-BE49-F238E27FC236}">
                <a16:creationId xmlns:a16="http://schemas.microsoft.com/office/drawing/2014/main" id="{5817AB1B-9DE9-53FF-B961-6AFA2F893833}"/>
              </a:ext>
            </a:extLst>
          </p:cNvPr>
          <p:cNvSpPr/>
          <p:nvPr/>
        </p:nvSpPr>
        <p:spPr>
          <a:xfrm>
            <a:off x="2072431" y="11713722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94" name="Rounded Rectangle 91">
            <a:extLst>
              <a:ext uri="{FF2B5EF4-FFF2-40B4-BE49-F238E27FC236}">
                <a16:creationId xmlns:a16="http://schemas.microsoft.com/office/drawing/2014/main" id="{A77AB4D4-A1D5-3BC6-33CA-21C11495BC97}"/>
              </a:ext>
            </a:extLst>
          </p:cNvPr>
          <p:cNvSpPr/>
          <p:nvPr/>
        </p:nvSpPr>
        <p:spPr>
          <a:xfrm>
            <a:off x="2308862" y="11713722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95" name="Rounded Rectangle 92">
            <a:extLst>
              <a:ext uri="{FF2B5EF4-FFF2-40B4-BE49-F238E27FC236}">
                <a16:creationId xmlns:a16="http://schemas.microsoft.com/office/drawing/2014/main" id="{68185F36-5175-C37C-5EA5-245EF017A345}"/>
              </a:ext>
            </a:extLst>
          </p:cNvPr>
          <p:cNvSpPr/>
          <p:nvPr/>
        </p:nvSpPr>
        <p:spPr>
          <a:xfrm>
            <a:off x="2545294" y="11713722"/>
            <a:ext cx="140107" cy="96324"/>
          </a:xfrm>
          <a:prstGeom prst="roundRect">
            <a:avLst>
              <a:gd name="adj" fmla="val 20000"/>
            </a:avLst>
          </a:prstGeom>
          <a:solidFill>
            <a:srgbClr val="7F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1B5A33A-EC2A-5799-C073-B82476431D69}"/>
              </a:ext>
            </a:extLst>
          </p:cNvPr>
          <p:cNvSpPr txBox="1"/>
          <p:nvPr/>
        </p:nvSpPr>
        <p:spPr>
          <a:xfrm>
            <a:off x="732652" y="13354031"/>
            <a:ext cx="2977286" cy="311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15"/>
              </a:spcAft>
            </a:pPr>
            <a:r>
              <a:rPr sz="2024" b="1">
                <a:solidFill>
                  <a:srgbClr val="16324F"/>
                </a:solidFill>
                <a:latin typeface="+mn-lt"/>
              </a:rPr>
              <a:t>Radar rover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2C98809-C464-0794-4AE0-71516A84FE31}"/>
              </a:ext>
            </a:extLst>
          </p:cNvPr>
          <p:cNvSpPr txBox="1"/>
          <p:nvPr/>
        </p:nvSpPr>
        <p:spPr>
          <a:xfrm>
            <a:off x="890273" y="9648361"/>
            <a:ext cx="2451884" cy="63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2"/>
              </a:spcAft>
            </a:pPr>
            <a:r>
              <a:rPr sz="2024" b="1">
                <a:solidFill>
                  <a:srgbClr val="1482A5"/>
                </a:solidFill>
                <a:latin typeface="+mn-lt"/>
              </a:rPr>
              <a:t>Sensing through</a:t>
            </a:r>
          </a:p>
          <a:p>
            <a:pPr>
              <a:spcAft>
                <a:spcPts val="42"/>
              </a:spcAft>
            </a:pPr>
            <a:r>
              <a:rPr sz="2024" b="1">
                <a:solidFill>
                  <a:srgbClr val="1482A5"/>
                </a:solidFill>
                <a:latin typeface="+mn-lt"/>
              </a:rPr>
              <a:t>the wall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99E7775-2270-256E-76B3-BF29D554863F}"/>
              </a:ext>
            </a:extLst>
          </p:cNvPr>
          <p:cNvSpPr txBox="1"/>
          <p:nvPr/>
        </p:nvSpPr>
        <p:spPr>
          <a:xfrm>
            <a:off x="890273" y="10368690"/>
            <a:ext cx="2627017" cy="943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9"/>
              </a:spcAft>
            </a:pPr>
            <a:r>
              <a:rPr sz="2024">
                <a:solidFill>
                  <a:srgbClr val="235078"/>
                </a:solidFill>
                <a:latin typeface="+mn-lt"/>
              </a:rPr>
              <a:t>No line of sight, no</a:t>
            </a:r>
          </a:p>
          <a:p>
            <a:pPr>
              <a:spcAft>
                <a:spcPts val="69"/>
              </a:spcAft>
            </a:pPr>
            <a:r>
              <a:rPr sz="2024">
                <a:solidFill>
                  <a:srgbClr val="235078"/>
                </a:solidFill>
                <a:latin typeface="+mn-lt"/>
              </a:rPr>
              <a:t>contact sensor on the body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511214C-55F7-204E-8CFA-E36E8EB5B0D4}"/>
              </a:ext>
            </a:extLst>
          </p:cNvPr>
          <p:cNvSpPr txBox="1"/>
          <p:nvPr/>
        </p:nvSpPr>
        <p:spPr>
          <a:xfrm>
            <a:off x="5163555" y="10229457"/>
            <a:ext cx="2977286" cy="338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7"/>
              </a:spcAft>
            </a:pPr>
            <a:r>
              <a:rPr sz="2200" b="1">
                <a:solidFill>
                  <a:srgbClr val="C8102E"/>
                </a:solidFill>
                <a:latin typeface="+mn-lt"/>
              </a:rPr>
              <a:t>Trapped survivor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253ED49-23F5-465E-5AC2-486D92A0BDBC}"/>
              </a:ext>
            </a:extLst>
          </p:cNvPr>
          <p:cNvSpPr txBox="1"/>
          <p:nvPr/>
        </p:nvSpPr>
        <p:spPr>
          <a:xfrm>
            <a:off x="5163555" y="10561337"/>
            <a:ext cx="2977286" cy="311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6"/>
              </a:spcAft>
            </a:pPr>
            <a:r>
              <a:rPr sz="2024" i="1">
                <a:solidFill>
                  <a:srgbClr val="C8760A"/>
                </a:solidFill>
                <a:latin typeface="+mn-lt"/>
              </a:rPr>
              <a:t>never stays still</a:t>
            </a:r>
          </a:p>
        </p:txBody>
      </p:sp>
      <p:cxnSp>
        <p:nvCxnSpPr>
          <p:cNvPr id="103" name="survivor_leader">
            <a:extLst>
              <a:ext uri="{FF2B5EF4-FFF2-40B4-BE49-F238E27FC236}">
                <a16:creationId xmlns:a16="http://schemas.microsoft.com/office/drawing/2014/main" id="{FEBDCC24-9B05-EDE8-BCA0-768DDF44196B}"/>
              </a:ext>
            </a:extLst>
          </p:cNvPr>
          <p:cNvCxnSpPr/>
          <p:nvPr/>
        </p:nvCxnSpPr>
        <p:spPr>
          <a:xfrm>
            <a:off x="6652198" y="10908102"/>
            <a:ext cx="0" cy="910700"/>
          </a:xfrm>
          <a:prstGeom prst="line">
            <a:avLst/>
          </a:prstGeom>
          <a:ln w="16419">
            <a:solidFill>
              <a:srgbClr val="C810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4B679EEC-29E3-AB08-8B56-D8B548D41C1D}"/>
              </a:ext>
            </a:extLst>
          </p:cNvPr>
          <p:cNvSpPr txBox="1"/>
          <p:nvPr/>
        </p:nvSpPr>
        <p:spPr>
          <a:xfrm>
            <a:off x="4723034" y="13328917"/>
            <a:ext cx="3677824" cy="311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15"/>
              </a:spcAft>
            </a:pPr>
            <a:r>
              <a:rPr sz="2024" b="1">
                <a:solidFill>
                  <a:srgbClr val="16324F"/>
                </a:solidFill>
                <a:latin typeface="+mn-lt"/>
              </a:rPr>
              <a:t>Collapsed structure</a:t>
            </a:r>
          </a:p>
        </p:txBody>
      </p:sp>
      <p:sp>
        <p:nvSpPr>
          <p:cNvPr id="252" name="flow_arrow">
            <a:extLst>
              <a:ext uri="{FF2B5EF4-FFF2-40B4-BE49-F238E27FC236}">
                <a16:creationId xmlns:a16="http://schemas.microsoft.com/office/drawing/2014/main" id="{FBB782B4-62A5-A838-CF29-BCF6DFAEA2DC}"/>
              </a:ext>
            </a:extLst>
          </p:cNvPr>
          <p:cNvSpPr/>
          <p:nvPr/>
        </p:nvSpPr>
        <p:spPr>
          <a:xfrm>
            <a:off x="8596190" y="10838050"/>
            <a:ext cx="595457" cy="560430"/>
          </a:xfrm>
          <a:prstGeom prst="rightArrow">
            <a:avLst/>
          </a:prstGeom>
          <a:solidFill>
            <a:srgbClr val="14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53" name="card1">
            <a:extLst>
              <a:ext uri="{FF2B5EF4-FFF2-40B4-BE49-F238E27FC236}">
                <a16:creationId xmlns:a16="http://schemas.microsoft.com/office/drawing/2014/main" id="{B9131B6B-074B-3B72-E193-FEB1DAA07C55}"/>
              </a:ext>
            </a:extLst>
          </p:cNvPr>
          <p:cNvSpPr/>
          <p:nvPr/>
        </p:nvSpPr>
        <p:spPr>
          <a:xfrm>
            <a:off x="9296729" y="8246059"/>
            <a:ext cx="5314622" cy="1628751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573">
            <a:solidFill>
              <a:srgbClr val="A6B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54" name="card1_hdr">
            <a:extLst>
              <a:ext uri="{FF2B5EF4-FFF2-40B4-BE49-F238E27FC236}">
                <a16:creationId xmlns:a16="http://schemas.microsoft.com/office/drawing/2014/main" id="{1362ADF5-0487-B1E1-9E61-EFDDC8488A55}"/>
              </a:ext>
            </a:extLst>
          </p:cNvPr>
          <p:cNvSpPr/>
          <p:nvPr/>
        </p:nvSpPr>
        <p:spPr>
          <a:xfrm>
            <a:off x="9296728" y="8246059"/>
            <a:ext cx="5324529" cy="402809"/>
          </a:xfrm>
          <a:prstGeom prst="roundRect">
            <a:avLst>
              <a:gd name="adj" fmla="val 30434"/>
            </a:avLst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55" name="card1_hdr_base">
            <a:extLst>
              <a:ext uri="{FF2B5EF4-FFF2-40B4-BE49-F238E27FC236}">
                <a16:creationId xmlns:a16="http://schemas.microsoft.com/office/drawing/2014/main" id="{FCAE030F-64F0-2E61-9FE0-40FB8F83BDD8}"/>
              </a:ext>
            </a:extLst>
          </p:cNvPr>
          <p:cNvSpPr/>
          <p:nvPr/>
        </p:nvSpPr>
        <p:spPr>
          <a:xfrm>
            <a:off x="9296729" y="8447464"/>
            <a:ext cx="5314622" cy="191743"/>
          </a:xfrm>
          <a:prstGeom prst="rect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D398391-3013-CE2C-5295-B3CE1B1BF8E4}"/>
              </a:ext>
            </a:extLst>
          </p:cNvPr>
          <p:cNvSpPr txBox="1"/>
          <p:nvPr/>
        </p:nvSpPr>
        <p:spPr>
          <a:xfrm>
            <a:off x="9489376" y="8275131"/>
            <a:ext cx="5394142" cy="311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15"/>
              </a:spcAft>
            </a:pPr>
            <a:r>
              <a:rPr sz="2024" b="1">
                <a:solidFill>
                  <a:srgbClr val="FFFFFF"/>
                </a:solidFill>
              </a:rPr>
              <a:t>1 · The heartbeat is buried</a:t>
            </a:r>
          </a:p>
        </p:txBody>
      </p:sp>
      <p:pic>
        <p:nvPicPr>
          <p:cNvPr id="257" name="rbm_spectrogram" descr="hr_rbm_spec.png">
            <a:extLst>
              <a:ext uri="{FF2B5EF4-FFF2-40B4-BE49-F238E27FC236}">
                <a16:creationId xmlns:a16="http://schemas.microsoft.com/office/drawing/2014/main" id="{17639D41-8B07-7377-6D3A-E7710CE3B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1863" y="8788976"/>
            <a:ext cx="1015780" cy="945727"/>
          </a:xfrm>
          <a:prstGeom prst="rect">
            <a:avLst/>
          </a:prstGeom>
        </p:spPr>
      </p:pic>
      <p:sp>
        <p:nvSpPr>
          <p:cNvPr id="262" name="Down Arrow 111">
            <a:extLst>
              <a:ext uri="{FF2B5EF4-FFF2-40B4-BE49-F238E27FC236}">
                <a16:creationId xmlns:a16="http://schemas.microsoft.com/office/drawing/2014/main" id="{8DFECDA1-73E7-50B3-B8C7-87B4278DF10C}"/>
              </a:ext>
            </a:extLst>
          </p:cNvPr>
          <p:cNvSpPr/>
          <p:nvPr/>
        </p:nvSpPr>
        <p:spPr>
          <a:xfrm>
            <a:off x="11923746" y="9927350"/>
            <a:ext cx="490377" cy="385295"/>
          </a:xfrm>
          <a:prstGeom prst="downArrow">
            <a:avLst/>
          </a:prstGeom>
          <a:solidFill>
            <a:srgbClr val="14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63" name="card2">
            <a:extLst>
              <a:ext uri="{FF2B5EF4-FFF2-40B4-BE49-F238E27FC236}">
                <a16:creationId xmlns:a16="http://schemas.microsoft.com/office/drawing/2014/main" id="{05FCA531-4744-AD29-43C8-FBB9009F6D10}"/>
              </a:ext>
            </a:extLst>
          </p:cNvPr>
          <p:cNvSpPr/>
          <p:nvPr/>
        </p:nvSpPr>
        <p:spPr>
          <a:xfrm>
            <a:off x="9296729" y="10365186"/>
            <a:ext cx="5314622" cy="18914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573">
            <a:solidFill>
              <a:srgbClr val="A6B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64" name="card2_hdr">
            <a:extLst>
              <a:ext uri="{FF2B5EF4-FFF2-40B4-BE49-F238E27FC236}">
                <a16:creationId xmlns:a16="http://schemas.microsoft.com/office/drawing/2014/main" id="{E05D993A-83E5-EBAF-C120-21DFDC7EF242}"/>
              </a:ext>
            </a:extLst>
          </p:cNvPr>
          <p:cNvSpPr/>
          <p:nvPr/>
        </p:nvSpPr>
        <p:spPr>
          <a:xfrm>
            <a:off x="9296729" y="10365186"/>
            <a:ext cx="5314622" cy="402809"/>
          </a:xfrm>
          <a:prstGeom prst="roundRect">
            <a:avLst>
              <a:gd name="adj" fmla="val 30434"/>
            </a:avLst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65" name="card2_hdr_base">
            <a:extLst>
              <a:ext uri="{FF2B5EF4-FFF2-40B4-BE49-F238E27FC236}">
                <a16:creationId xmlns:a16="http://schemas.microsoft.com/office/drawing/2014/main" id="{99B1E6BC-374A-1AC5-82CE-A20A331B10CD}"/>
              </a:ext>
            </a:extLst>
          </p:cNvPr>
          <p:cNvSpPr/>
          <p:nvPr/>
        </p:nvSpPr>
        <p:spPr>
          <a:xfrm>
            <a:off x="9296729" y="10566591"/>
            <a:ext cx="5314622" cy="193179"/>
          </a:xfrm>
          <a:prstGeom prst="rect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8857922-4BA2-80CF-0600-D61CB191AD0F}"/>
              </a:ext>
            </a:extLst>
          </p:cNvPr>
          <p:cNvSpPr txBox="1"/>
          <p:nvPr/>
        </p:nvSpPr>
        <p:spPr>
          <a:xfrm>
            <a:off x="9489377" y="10394258"/>
            <a:ext cx="4990559" cy="311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15"/>
              </a:spcAft>
            </a:pPr>
            <a:r>
              <a:rPr sz="2024" b="1">
                <a:solidFill>
                  <a:srgbClr val="FFFFFF"/>
                </a:solidFill>
              </a:rPr>
              <a:t>2 · The RF skeleton measures it</a:t>
            </a:r>
          </a:p>
        </p:txBody>
      </p:sp>
      <p:pic>
        <p:nvPicPr>
          <p:cNvPr id="267" name="rf_skeleton" descr="hr_skeleton.png">
            <a:extLst>
              <a:ext uri="{FF2B5EF4-FFF2-40B4-BE49-F238E27FC236}">
                <a16:creationId xmlns:a16="http://schemas.microsoft.com/office/drawing/2014/main" id="{51A2A4B7-5821-16C1-18FB-9DDEBD567A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6740" y="11030697"/>
            <a:ext cx="1171109" cy="1085834"/>
          </a:xfrm>
          <a:prstGeom prst="rect">
            <a:avLst/>
          </a:prstGeom>
        </p:spPr>
      </p:pic>
      <p:sp>
        <p:nvSpPr>
          <p:cNvPr id="273" name="Down Arrow 122">
            <a:extLst>
              <a:ext uri="{FF2B5EF4-FFF2-40B4-BE49-F238E27FC236}">
                <a16:creationId xmlns:a16="http://schemas.microsoft.com/office/drawing/2014/main" id="{02FCAC88-8B08-F0CA-BAAD-3AB100E88E41}"/>
              </a:ext>
            </a:extLst>
          </p:cNvPr>
          <p:cNvSpPr/>
          <p:nvPr/>
        </p:nvSpPr>
        <p:spPr>
          <a:xfrm>
            <a:off x="11923746" y="12309179"/>
            <a:ext cx="490377" cy="385295"/>
          </a:xfrm>
          <a:prstGeom prst="downArrow">
            <a:avLst/>
          </a:prstGeom>
          <a:solidFill>
            <a:srgbClr val="148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74" name="card3">
            <a:extLst>
              <a:ext uri="{FF2B5EF4-FFF2-40B4-BE49-F238E27FC236}">
                <a16:creationId xmlns:a16="http://schemas.microsoft.com/office/drawing/2014/main" id="{D7243105-B278-9015-8579-C7FE54E68FAA}"/>
              </a:ext>
            </a:extLst>
          </p:cNvPr>
          <p:cNvSpPr/>
          <p:nvPr/>
        </p:nvSpPr>
        <p:spPr>
          <a:xfrm>
            <a:off x="9296729" y="12659448"/>
            <a:ext cx="5314622" cy="1523670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12573">
            <a:solidFill>
              <a:srgbClr val="A6B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75" name="card3_hdr">
            <a:extLst>
              <a:ext uri="{FF2B5EF4-FFF2-40B4-BE49-F238E27FC236}">
                <a16:creationId xmlns:a16="http://schemas.microsoft.com/office/drawing/2014/main" id="{1BFB4F31-AB3C-EDC3-3C3D-D15C7B072670}"/>
              </a:ext>
            </a:extLst>
          </p:cNvPr>
          <p:cNvSpPr/>
          <p:nvPr/>
        </p:nvSpPr>
        <p:spPr>
          <a:xfrm>
            <a:off x="9296729" y="12659448"/>
            <a:ext cx="5314622" cy="402809"/>
          </a:xfrm>
          <a:prstGeom prst="roundRect">
            <a:avLst>
              <a:gd name="adj" fmla="val 30434"/>
            </a:avLst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76" name="card3_hdr_base">
            <a:extLst>
              <a:ext uri="{FF2B5EF4-FFF2-40B4-BE49-F238E27FC236}">
                <a16:creationId xmlns:a16="http://schemas.microsoft.com/office/drawing/2014/main" id="{01EAE145-6C3D-3033-9BDD-263B2840DE8C}"/>
              </a:ext>
            </a:extLst>
          </p:cNvPr>
          <p:cNvSpPr/>
          <p:nvPr/>
        </p:nvSpPr>
        <p:spPr>
          <a:xfrm>
            <a:off x="9296729" y="12860853"/>
            <a:ext cx="5314622" cy="201405"/>
          </a:xfrm>
          <a:prstGeom prst="rect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5D6F725F-01F6-2F6D-F92F-E7BFE77C19C7}"/>
              </a:ext>
            </a:extLst>
          </p:cNvPr>
          <p:cNvSpPr txBox="1"/>
          <p:nvPr/>
        </p:nvSpPr>
        <p:spPr>
          <a:xfrm>
            <a:off x="9489377" y="12688520"/>
            <a:ext cx="4990559" cy="311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15"/>
              </a:spcAft>
            </a:pPr>
            <a:r>
              <a:rPr sz="2024" b="1">
                <a:solidFill>
                  <a:srgbClr val="FFFFFF"/>
                </a:solidFill>
              </a:rPr>
              <a:t>3 · Remove it, read the heartbeat</a:t>
            </a:r>
          </a:p>
        </p:txBody>
      </p:sp>
      <p:sp>
        <p:nvSpPr>
          <p:cNvPr id="278" name="ecg_panel">
            <a:extLst>
              <a:ext uri="{FF2B5EF4-FFF2-40B4-BE49-F238E27FC236}">
                <a16:creationId xmlns:a16="http://schemas.microsoft.com/office/drawing/2014/main" id="{FFB86730-D19B-6A6F-9FA7-82F761E5CCD4}"/>
              </a:ext>
            </a:extLst>
          </p:cNvPr>
          <p:cNvSpPr/>
          <p:nvPr/>
        </p:nvSpPr>
        <p:spPr>
          <a:xfrm>
            <a:off x="9471863" y="13202365"/>
            <a:ext cx="2297671" cy="823132"/>
          </a:xfrm>
          <a:prstGeom prst="roundRect">
            <a:avLst>
              <a:gd name="adj" fmla="val 6000"/>
            </a:avLst>
          </a:prstGeom>
          <a:solidFill>
            <a:srgbClr val="FB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350" tIns="30175" rIns="60350" bIns="30175" rtlCol="0" anchor="ctr"/>
          <a:lstStyle/>
          <a:p>
            <a:pPr algn="ctr"/>
            <a:endParaRPr sz="1232"/>
          </a:p>
        </p:txBody>
      </p:sp>
      <p:cxnSp>
        <p:nvCxnSpPr>
          <p:cNvPr id="279" name="ecg_1">
            <a:extLst>
              <a:ext uri="{FF2B5EF4-FFF2-40B4-BE49-F238E27FC236}">
                <a16:creationId xmlns:a16="http://schemas.microsoft.com/office/drawing/2014/main" id="{7B8A8506-EB98-2572-A146-47CF1807E676}"/>
              </a:ext>
            </a:extLst>
          </p:cNvPr>
          <p:cNvCxnSpPr>
            <a:cxnSpLocks/>
          </p:cNvCxnSpPr>
          <p:nvPr/>
        </p:nvCxnSpPr>
        <p:spPr>
          <a:xfrm>
            <a:off x="9594457" y="13640201"/>
            <a:ext cx="107224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ecg_2">
            <a:extLst>
              <a:ext uri="{FF2B5EF4-FFF2-40B4-BE49-F238E27FC236}">
                <a16:creationId xmlns:a16="http://schemas.microsoft.com/office/drawing/2014/main" id="{EF73CD0C-F4D8-FBE7-F1DD-A995069362ED}"/>
              </a:ext>
            </a:extLst>
          </p:cNvPr>
          <p:cNvCxnSpPr/>
          <p:nvPr/>
        </p:nvCxnSpPr>
        <p:spPr>
          <a:xfrm flipV="1">
            <a:off x="9717052" y="13587661"/>
            <a:ext cx="52541" cy="5254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ecg_3">
            <a:extLst>
              <a:ext uri="{FF2B5EF4-FFF2-40B4-BE49-F238E27FC236}">
                <a16:creationId xmlns:a16="http://schemas.microsoft.com/office/drawing/2014/main" id="{2545838F-22E4-78C8-84C1-F8F8A6C6BF56}"/>
              </a:ext>
            </a:extLst>
          </p:cNvPr>
          <p:cNvCxnSpPr>
            <a:cxnSpLocks/>
          </p:cNvCxnSpPr>
          <p:nvPr/>
        </p:nvCxnSpPr>
        <p:spPr>
          <a:xfrm>
            <a:off x="9769592" y="13587661"/>
            <a:ext cx="52541" cy="5254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ecg_4">
            <a:extLst>
              <a:ext uri="{FF2B5EF4-FFF2-40B4-BE49-F238E27FC236}">
                <a16:creationId xmlns:a16="http://schemas.microsoft.com/office/drawing/2014/main" id="{52FC351C-F9DA-9FCF-CCED-DB6F4B9A0D7F}"/>
              </a:ext>
            </a:extLst>
          </p:cNvPr>
          <p:cNvCxnSpPr/>
          <p:nvPr/>
        </p:nvCxnSpPr>
        <p:spPr>
          <a:xfrm>
            <a:off x="9822133" y="13640201"/>
            <a:ext cx="87567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ecg_5">
            <a:extLst>
              <a:ext uri="{FF2B5EF4-FFF2-40B4-BE49-F238E27FC236}">
                <a16:creationId xmlns:a16="http://schemas.microsoft.com/office/drawing/2014/main" id="{28D70B35-51F8-9A6F-F486-FD50E9700F7F}"/>
              </a:ext>
            </a:extLst>
          </p:cNvPr>
          <p:cNvCxnSpPr/>
          <p:nvPr/>
        </p:nvCxnSpPr>
        <p:spPr>
          <a:xfrm>
            <a:off x="9909699" y="13640201"/>
            <a:ext cx="35027" cy="7881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ecg_6">
            <a:extLst>
              <a:ext uri="{FF2B5EF4-FFF2-40B4-BE49-F238E27FC236}">
                <a16:creationId xmlns:a16="http://schemas.microsoft.com/office/drawing/2014/main" id="{6C62704C-0432-F5F8-B4FC-ED1D7EE37F4D}"/>
              </a:ext>
            </a:extLst>
          </p:cNvPr>
          <p:cNvCxnSpPr/>
          <p:nvPr/>
        </p:nvCxnSpPr>
        <p:spPr>
          <a:xfrm flipV="1">
            <a:off x="9944726" y="13342472"/>
            <a:ext cx="52541" cy="37654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ecg_7">
            <a:extLst>
              <a:ext uri="{FF2B5EF4-FFF2-40B4-BE49-F238E27FC236}">
                <a16:creationId xmlns:a16="http://schemas.microsoft.com/office/drawing/2014/main" id="{FF0A9A8F-52B7-32DB-ABF3-E7EC5E543F09}"/>
              </a:ext>
            </a:extLst>
          </p:cNvPr>
          <p:cNvCxnSpPr/>
          <p:nvPr/>
        </p:nvCxnSpPr>
        <p:spPr>
          <a:xfrm>
            <a:off x="9997267" y="13342472"/>
            <a:ext cx="52541" cy="420323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ecg_8">
            <a:extLst>
              <a:ext uri="{FF2B5EF4-FFF2-40B4-BE49-F238E27FC236}">
                <a16:creationId xmlns:a16="http://schemas.microsoft.com/office/drawing/2014/main" id="{3E0E6F2A-369E-E109-E6E4-5BD4F536F1AF}"/>
              </a:ext>
            </a:extLst>
          </p:cNvPr>
          <p:cNvCxnSpPr/>
          <p:nvPr/>
        </p:nvCxnSpPr>
        <p:spPr>
          <a:xfrm flipV="1">
            <a:off x="10049807" y="13640201"/>
            <a:ext cx="43784" cy="122594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ecg_9">
            <a:extLst>
              <a:ext uri="{FF2B5EF4-FFF2-40B4-BE49-F238E27FC236}">
                <a16:creationId xmlns:a16="http://schemas.microsoft.com/office/drawing/2014/main" id="{2FCD9D1A-792A-F9D9-19D2-E1B7940ACC65}"/>
              </a:ext>
            </a:extLst>
          </p:cNvPr>
          <p:cNvCxnSpPr/>
          <p:nvPr/>
        </p:nvCxnSpPr>
        <p:spPr>
          <a:xfrm>
            <a:off x="10093591" y="13640201"/>
            <a:ext cx="113837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ecg_10">
            <a:extLst>
              <a:ext uri="{FF2B5EF4-FFF2-40B4-BE49-F238E27FC236}">
                <a16:creationId xmlns:a16="http://schemas.microsoft.com/office/drawing/2014/main" id="{92AC1D62-813C-40C5-013E-77603D95F197}"/>
              </a:ext>
            </a:extLst>
          </p:cNvPr>
          <p:cNvCxnSpPr/>
          <p:nvPr/>
        </p:nvCxnSpPr>
        <p:spPr>
          <a:xfrm flipV="1">
            <a:off x="10207428" y="13535120"/>
            <a:ext cx="70054" cy="10508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ecg_11">
            <a:extLst>
              <a:ext uri="{FF2B5EF4-FFF2-40B4-BE49-F238E27FC236}">
                <a16:creationId xmlns:a16="http://schemas.microsoft.com/office/drawing/2014/main" id="{AA188AC8-CC4B-0369-E8A7-E50F68D1B6A5}"/>
              </a:ext>
            </a:extLst>
          </p:cNvPr>
          <p:cNvCxnSpPr/>
          <p:nvPr/>
        </p:nvCxnSpPr>
        <p:spPr>
          <a:xfrm>
            <a:off x="10277482" y="13535120"/>
            <a:ext cx="87567" cy="10508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ecg_12">
            <a:extLst>
              <a:ext uri="{FF2B5EF4-FFF2-40B4-BE49-F238E27FC236}">
                <a16:creationId xmlns:a16="http://schemas.microsoft.com/office/drawing/2014/main" id="{1B98EEDB-B7BE-7A6F-B95E-84A71FFD6EB5}"/>
              </a:ext>
            </a:extLst>
          </p:cNvPr>
          <p:cNvCxnSpPr/>
          <p:nvPr/>
        </p:nvCxnSpPr>
        <p:spPr>
          <a:xfrm>
            <a:off x="10365049" y="13640201"/>
            <a:ext cx="70053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ecg_13">
            <a:extLst>
              <a:ext uri="{FF2B5EF4-FFF2-40B4-BE49-F238E27FC236}">
                <a16:creationId xmlns:a16="http://schemas.microsoft.com/office/drawing/2014/main" id="{94ABC42C-B83E-A620-0A2D-BEA5A8BBD83D}"/>
              </a:ext>
            </a:extLst>
          </p:cNvPr>
          <p:cNvCxnSpPr/>
          <p:nvPr/>
        </p:nvCxnSpPr>
        <p:spPr>
          <a:xfrm>
            <a:off x="10435102" y="13640201"/>
            <a:ext cx="122594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ecg_14">
            <a:extLst>
              <a:ext uri="{FF2B5EF4-FFF2-40B4-BE49-F238E27FC236}">
                <a16:creationId xmlns:a16="http://schemas.microsoft.com/office/drawing/2014/main" id="{7ADC7301-1512-1E0E-CB1E-B63F6390B75E}"/>
              </a:ext>
            </a:extLst>
          </p:cNvPr>
          <p:cNvCxnSpPr/>
          <p:nvPr/>
        </p:nvCxnSpPr>
        <p:spPr>
          <a:xfrm flipV="1">
            <a:off x="10557697" y="13587661"/>
            <a:ext cx="52541" cy="5254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ecg_15">
            <a:extLst>
              <a:ext uri="{FF2B5EF4-FFF2-40B4-BE49-F238E27FC236}">
                <a16:creationId xmlns:a16="http://schemas.microsoft.com/office/drawing/2014/main" id="{FF3E8B9E-E09D-7E97-36D7-A0D843758199}"/>
              </a:ext>
            </a:extLst>
          </p:cNvPr>
          <p:cNvCxnSpPr/>
          <p:nvPr/>
        </p:nvCxnSpPr>
        <p:spPr>
          <a:xfrm>
            <a:off x="10610238" y="13587661"/>
            <a:ext cx="52541" cy="5254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ecg_16">
            <a:extLst>
              <a:ext uri="{FF2B5EF4-FFF2-40B4-BE49-F238E27FC236}">
                <a16:creationId xmlns:a16="http://schemas.microsoft.com/office/drawing/2014/main" id="{F2A609C0-68AF-C5A0-D26A-57D4B0A2EE4F}"/>
              </a:ext>
            </a:extLst>
          </p:cNvPr>
          <p:cNvCxnSpPr/>
          <p:nvPr/>
        </p:nvCxnSpPr>
        <p:spPr>
          <a:xfrm>
            <a:off x="10662778" y="13640201"/>
            <a:ext cx="87567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ecg_17">
            <a:extLst>
              <a:ext uri="{FF2B5EF4-FFF2-40B4-BE49-F238E27FC236}">
                <a16:creationId xmlns:a16="http://schemas.microsoft.com/office/drawing/2014/main" id="{1110B9B4-CDC0-6F55-15EB-1E55E7A32678}"/>
              </a:ext>
            </a:extLst>
          </p:cNvPr>
          <p:cNvCxnSpPr/>
          <p:nvPr/>
        </p:nvCxnSpPr>
        <p:spPr>
          <a:xfrm>
            <a:off x="10750345" y="13640201"/>
            <a:ext cx="35027" cy="7881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ecg_18">
            <a:extLst>
              <a:ext uri="{FF2B5EF4-FFF2-40B4-BE49-F238E27FC236}">
                <a16:creationId xmlns:a16="http://schemas.microsoft.com/office/drawing/2014/main" id="{59ABCCD1-3ECD-ACD5-5349-4F2F31A52BB5}"/>
              </a:ext>
            </a:extLst>
          </p:cNvPr>
          <p:cNvCxnSpPr/>
          <p:nvPr/>
        </p:nvCxnSpPr>
        <p:spPr>
          <a:xfrm flipV="1">
            <a:off x="10785372" y="13342472"/>
            <a:ext cx="52541" cy="37654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ecg_19">
            <a:extLst>
              <a:ext uri="{FF2B5EF4-FFF2-40B4-BE49-F238E27FC236}">
                <a16:creationId xmlns:a16="http://schemas.microsoft.com/office/drawing/2014/main" id="{F608B1CC-790B-1B6B-FE75-C4E6218BEA52}"/>
              </a:ext>
            </a:extLst>
          </p:cNvPr>
          <p:cNvCxnSpPr/>
          <p:nvPr/>
        </p:nvCxnSpPr>
        <p:spPr>
          <a:xfrm>
            <a:off x="10837912" y="13342472"/>
            <a:ext cx="52541" cy="420323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ecg_20">
            <a:extLst>
              <a:ext uri="{FF2B5EF4-FFF2-40B4-BE49-F238E27FC236}">
                <a16:creationId xmlns:a16="http://schemas.microsoft.com/office/drawing/2014/main" id="{E63EFECD-2EA8-66CF-9D5C-438175A2B679}"/>
              </a:ext>
            </a:extLst>
          </p:cNvPr>
          <p:cNvCxnSpPr/>
          <p:nvPr/>
        </p:nvCxnSpPr>
        <p:spPr>
          <a:xfrm flipV="1">
            <a:off x="10890452" y="13640201"/>
            <a:ext cx="43784" cy="122594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ecg_21">
            <a:extLst>
              <a:ext uri="{FF2B5EF4-FFF2-40B4-BE49-F238E27FC236}">
                <a16:creationId xmlns:a16="http://schemas.microsoft.com/office/drawing/2014/main" id="{0914645F-473F-F7DE-0B33-39D56CFA7ECC}"/>
              </a:ext>
            </a:extLst>
          </p:cNvPr>
          <p:cNvCxnSpPr/>
          <p:nvPr/>
        </p:nvCxnSpPr>
        <p:spPr>
          <a:xfrm>
            <a:off x="10934237" y="13640201"/>
            <a:ext cx="113837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ecg_22">
            <a:extLst>
              <a:ext uri="{FF2B5EF4-FFF2-40B4-BE49-F238E27FC236}">
                <a16:creationId xmlns:a16="http://schemas.microsoft.com/office/drawing/2014/main" id="{F0CC6A60-1D24-2F7E-9AF9-BED3F17D52C5}"/>
              </a:ext>
            </a:extLst>
          </p:cNvPr>
          <p:cNvCxnSpPr/>
          <p:nvPr/>
        </p:nvCxnSpPr>
        <p:spPr>
          <a:xfrm flipV="1">
            <a:off x="11048074" y="13535120"/>
            <a:ext cx="70054" cy="10508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ecg_23">
            <a:extLst>
              <a:ext uri="{FF2B5EF4-FFF2-40B4-BE49-F238E27FC236}">
                <a16:creationId xmlns:a16="http://schemas.microsoft.com/office/drawing/2014/main" id="{5AB2927D-48CF-BCA7-B8F4-3AC1B566C2E8}"/>
              </a:ext>
            </a:extLst>
          </p:cNvPr>
          <p:cNvCxnSpPr/>
          <p:nvPr/>
        </p:nvCxnSpPr>
        <p:spPr>
          <a:xfrm>
            <a:off x="11118128" y="13535120"/>
            <a:ext cx="87567" cy="10508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ecg_24">
            <a:extLst>
              <a:ext uri="{FF2B5EF4-FFF2-40B4-BE49-F238E27FC236}">
                <a16:creationId xmlns:a16="http://schemas.microsoft.com/office/drawing/2014/main" id="{27B6E1EB-D3CC-2AED-AE91-581C78C3E3AF}"/>
              </a:ext>
            </a:extLst>
          </p:cNvPr>
          <p:cNvCxnSpPr/>
          <p:nvPr/>
        </p:nvCxnSpPr>
        <p:spPr>
          <a:xfrm>
            <a:off x="11205695" y="13640201"/>
            <a:ext cx="70053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ecg_25">
            <a:extLst>
              <a:ext uri="{FF2B5EF4-FFF2-40B4-BE49-F238E27FC236}">
                <a16:creationId xmlns:a16="http://schemas.microsoft.com/office/drawing/2014/main" id="{3B7C6657-2495-3885-7A3C-84B499D3AA6E}"/>
              </a:ext>
            </a:extLst>
          </p:cNvPr>
          <p:cNvCxnSpPr/>
          <p:nvPr/>
        </p:nvCxnSpPr>
        <p:spPr>
          <a:xfrm>
            <a:off x="11275748" y="13640201"/>
            <a:ext cx="122594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ecg_26">
            <a:extLst>
              <a:ext uri="{FF2B5EF4-FFF2-40B4-BE49-F238E27FC236}">
                <a16:creationId xmlns:a16="http://schemas.microsoft.com/office/drawing/2014/main" id="{C5AD571D-86F3-8500-95B0-5DDD226FD64C}"/>
              </a:ext>
            </a:extLst>
          </p:cNvPr>
          <p:cNvCxnSpPr/>
          <p:nvPr/>
        </p:nvCxnSpPr>
        <p:spPr>
          <a:xfrm flipV="1">
            <a:off x="11398343" y="13587661"/>
            <a:ext cx="52541" cy="5254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ecg_27">
            <a:extLst>
              <a:ext uri="{FF2B5EF4-FFF2-40B4-BE49-F238E27FC236}">
                <a16:creationId xmlns:a16="http://schemas.microsoft.com/office/drawing/2014/main" id="{E2F61AB3-55A4-3ADE-4103-0F85997A2F5E}"/>
              </a:ext>
            </a:extLst>
          </p:cNvPr>
          <p:cNvCxnSpPr/>
          <p:nvPr/>
        </p:nvCxnSpPr>
        <p:spPr>
          <a:xfrm>
            <a:off x="11450883" y="13587661"/>
            <a:ext cx="52541" cy="5254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ecg_28">
            <a:extLst>
              <a:ext uri="{FF2B5EF4-FFF2-40B4-BE49-F238E27FC236}">
                <a16:creationId xmlns:a16="http://schemas.microsoft.com/office/drawing/2014/main" id="{9AB31304-2C8D-506A-55C0-D8478A264D12}"/>
              </a:ext>
            </a:extLst>
          </p:cNvPr>
          <p:cNvCxnSpPr/>
          <p:nvPr/>
        </p:nvCxnSpPr>
        <p:spPr>
          <a:xfrm>
            <a:off x="11503423" y="13640201"/>
            <a:ext cx="87567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ecg_29">
            <a:extLst>
              <a:ext uri="{FF2B5EF4-FFF2-40B4-BE49-F238E27FC236}">
                <a16:creationId xmlns:a16="http://schemas.microsoft.com/office/drawing/2014/main" id="{04962D2E-955A-43C8-1C0F-75EEEB6DBF51}"/>
              </a:ext>
            </a:extLst>
          </p:cNvPr>
          <p:cNvCxnSpPr/>
          <p:nvPr/>
        </p:nvCxnSpPr>
        <p:spPr>
          <a:xfrm>
            <a:off x="11590991" y="13640201"/>
            <a:ext cx="35027" cy="78811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ecg_30">
            <a:extLst>
              <a:ext uri="{FF2B5EF4-FFF2-40B4-BE49-F238E27FC236}">
                <a16:creationId xmlns:a16="http://schemas.microsoft.com/office/drawing/2014/main" id="{C7CA7D61-2AB4-8B1A-189F-C21BB51C72E2}"/>
              </a:ext>
            </a:extLst>
          </p:cNvPr>
          <p:cNvCxnSpPr/>
          <p:nvPr/>
        </p:nvCxnSpPr>
        <p:spPr>
          <a:xfrm flipV="1">
            <a:off x="11626018" y="13342472"/>
            <a:ext cx="52541" cy="37654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ecg_31">
            <a:extLst>
              <a:ext uri="{FF2B5EF4-FFF2-40B4-BE49-F238E27FC236}">
                <a16:creationId xmlns:a16="http://schemas.microsoft.com/office/drawing/2014/main" id="{926161FF-ED00-8C13-595C-8083226E25E7}"/>
              </a:ext>
            </a:extLst>
          </p:cNvPr>
          <p:cNvCxnSpPr/>
          <p:nvPr/>
        </p:nvCxnSpPr>
        <p:spPr>
          <a:xfrm>
            <a:off x="11678558" y="13342472"/>
            <a:ext cx="52541" cy="420323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ecg_32">
            <a:extLst>
              <a:ext uri="{FF2B5EF4-FFF2-40B4-BE49-F238E27FC236}">
                <a16:creationId xmlns:a16="http://schemas.microsoft.com/office/drawing/2014/main" id="{D0B3C0B3-89F8-5C4F-C6AF-DCC88110294C}"/>
              </a:ext>
            </a:extLst>
          </p:cNvPr>
          <p:cNvCxnSpPr/>
          <p:nvPr/>
        </p:nvCxnSpPr>
        <p:spPr>
          <a:xfrm flipV="1">
            <a:off x="11731097" y="13640201"/>
            <a:ext cx="43784" cy="122594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ecg_36">
            <a:extLst>
              <a:ext uri="{FF2B5EF4-FFF2-40B4-BE49-F238E27FC236}">
                <a16:creationId xmlns:a16="http://schemas.microsoft.com/office/drawing/2014/main" id="{E4A084A0-F1CB-18AB-69B0-43616DCD0760}"/>
              </a:ext>
            </a:extLst>
          </p:cNvPr>
          <p:cNvCxnSpPr/>
          <p:nvPr/>
        </p:nvCxnSpPr>
        <p:spPr>
          <a:xfrm>
            <a:off x="12046340" y="13640201"/>
            <a:ext cx="0" cy="0"/>
          </a:xfrm>
          <a:prstGeom prst="line">
            <a:avLst/>
          </a:prstGeom>
          <a:ln w="22986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E8FC024E-D6C2-0161-84B8-93D48583E67F}"/>
              </a:ext>
            </a:extLst>
          </p:cNvPr>
          <p:cNvSpPr txBox="1"/>
          <p:nvPr/>
        </p:nvSpPr>
        <p:spPr>
          <a:xfrm>
            <a:off x="9471864" y="13779783"/>
            <a:ext cx="2627017" cy="189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40"/>
              </a:spcAft>
            </a:pPr>
            <a:r>
              <a:rPr sz="1232" i="1">
                <a:solidFill>
                  <a:srgbClr val="5F6E7A"/>
                </a:solidFill>
              </a:rPr>
              <a:t>cardiac band 0.8–2.5 Hz</a:t>
            </a:r>
          </a:p>
        </p:txBody>
      </p:sp>
      <p:pic>
        <p:nvPicPr>
          <p:cNvPr id="118" name="Picture 117" descr="NC State Brick Logo 2x2 White Black">
            <a:extLst>
              <a:ext uri="{FF2B5EF4-FFF2-40B4-BE49-F238E27FC236}">
                <a16:creationId xmlns:a16="http://schemas.microsoft.com/office/drawing/2014/main" id="{75F62637-BCE6-2850-9FF8-4177E1B07F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52637" y="1132262"/>
            <a:ext cx="4204614" cy="2015451"/>
          </a:xfrm>
          <a:prstGeom prst="rect">
            <a:avLst/>
          </a:pr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7293AA88-05B7-CD1B-4B70-4ACFCB808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85089" y="19488965"/>
            <a:ext cx="13534557" cy="4016654"/>
          </a:xfrm>
          <a:prstGeom prst="rect">
            <a:avLst/>
          </a:prstGeom>
        </p:spPr>
      </p:pic>
      <p:sp>
        <p:nvSpPr>
          <p:cNvPr id="330" name="TextBox 329">
            <a:extLst>
              <a:ext uri="{FF2B5EF4-FFF2-40B4-BE49-F238E27FC236}">
                <a16:creationId xmlns:a16="http://schemas.microsoft.com/office/drawing/2014/main" id="{6BD03D49-DF49-C370-C6D6-C52F242231DB}"/>
              </a:ext>
            </a:extLst>
          </p:cNvPr>
          <p:cNvSpPr txBox="1"/>
          <p:nvPr/>
        </p:nvSpPr>
        <p:spPr>
          <a:xfrm>
            <a:off x="10631788" y="8717751"/>
            <a:ext cx="3847147" cy="1035976"/>
          </a:xfrm>
          <a:prstGeom prst="rect">
            <a:avLst/>
          </a:prstGeom>
          <a:noFill/>
        </p:spPr>
        <p:txBody>
          <a:bodyPr wrap="square" lIns="60350" tIns="30175" rIns="60350" bIns="30175" rtlCol="0">
            <a:spAutoFit/>
          </a:bodyPr>
          <a:lstStyle/>
          <a:p>
            <a:pPr algn="just"/>
            <a:r>
              <a:rPr lang="en-US" sz="1584">
                <a:latin typeface="+mn-lt"/>
                <a:cs typeface="Times New Roman" panose="02020603050405020304" pitchFamily="18" charset="0"/>
              </a:rPr>
              <a:t>Body motion is orders of magnitude stronger than chest motion, and it spreads across the cardiac band. </a:t>
            </a:r>
            <a:r>
              <a:rPr lang="en-US" sz="1584" b="1">
                <a:latin typeface="+mn-lt"/>
                <a:cs typeface="Times New Roman" panose="02020603050405020304" pitchFamily="18" charset="0"/>
              </a:rPr>
              <a:t>Filtering alone cannot separate them.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22070620-7B60-F62F-C88A-910D2C9ABDA3}"/>
              </a:ext>
            </a:extLst>
          </p:cNvPr>
          <p:cNvSpPr txBox="1"/>
          <p:nvPr/>
        </p:nvSpPr>
        <p:spPr>
          <a:xfrm>
            <a:off x="10569146" y="10848094"/>
            <a:ext cx="3960718" cy="1279735"/>
          </a:xfrm>
          <a:prstGeom prst="rect">
            <a:avLst/>
          </a:prstGeom>
          <a:noFill/>
        </p:spPr>
        <p:txBody>
          <a:bodyPr wrap="square" lIns="60350" tIns="30175" rIns="60350" bIns="30175" rtlCol="0">
            <a:spAutoFit/>
          </a:bodyPr>
          <a:lstStyle/>
          <a:p>
            <a:pPr algn="just"/>
            <a:r>
              <a:rPr lang="en-US" sz="1584">
                <a:latin typeface="+mn-lt"/>
                <a:cs typeface="Times New Roman" panose="02020603050405020304" pitchFamily="18" charset="0"/>
              </a:rPr>
              <a:t>A CAE + Bi-LSTM predicts 14 joints per frame from RA, RE, and RD maps.</a:t>
            </a:r>
          </a:p>
          <a:p>
            <a:pPr algn="just"/>
            <a:r>
              <a:rPr lang="en-US" sz="1584">
                <a:latin typeface="+mn-lt"/>
                <a:cs typeface="Times New Roman" panose="02020603050405020304" pitchFamily="18" charset="0"/>
              </a:rPr>
              <a:t>Kinematic cycle consistency ties the predicted joint velocities to the measured micro-Doppler envelopes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86E6BA75-1599-3731-69D8-8A9A8AE8CD3F}"/>
              </a:ext>
            </a:extLst>
          </p:cNvPr>
          <p:cNvSpPr txBox="1"/>
          <p:nvPr/>
        </p:nvSpPr>
        <p:spPr>
          <a:xfrm>
            <a:off x="11800091" y="13134036"/>
            <a:ext cx="2811259" cy="1035976"/>
          </a:xfrm>
          <a:prstGeom prst="rect">
            <a:avLst/>
          </a:prstGeom>
          <a:noFill/>
        </p:spPr>
        <p:txBody>
          <a:bodyPr wrap="square" lIns="60350" tIns="30175" rIns="60350" bIns="30175" rtlCol="0">
            <a:spAutoFit/>
          </a:bodyPr>
          <a:lstStyle/>
          <a:p>
            <a:pPr algn="just"/>
            <a:r>
              <a:rPr lang="en-US" sz="1584">
                <a:latin typeface="+mn-lt"/>
                <a:cs typeface="Times New Roman" panose="02020603050405020304" pitchFamily="18" charset="0"/>
              </a:rPr>
              <a:t>Skeleton compensation removes the gross motion, and the residual phase carries the beat.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CBDC65EC-FB13-1E26-EED1-62EDD0125257}"/>
              </a:ext>
            </a:extLst>
          </p:cNvPr>
          <p:cNvCxnSpPr/>
          <p:nvPr/>
        </p:nvCxnSpPr>
        <p:spPr>
          <a:xfrm>
            <a:off x="29784294" y="17290386"/>
            <a:ext cx="13176504" cy="0"/>
          </a:xfrm>
          <a:prstGeom prst="line">
            <a:avLst/>
          </a:prstGeom>
          <a:ln w="50292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7" name="Table 136">
            <a:extLst>
              <a:ext uri="{FF2B5EF4-FFF2-40B4-BE49-F238E27FC236}">
                <a16:creationId xmlns:a16="http://schemas.microsoft.com/office/drawing/2014/main" id="{24B30AA5-AC9E-532C-5FF0-71101E6F224F}"/>
              </a:ext>
            </a:extLst>
          </p:cNvPr>
          <p:cNvGraphicFramePr>
            <a:graphicFrameLocks noGrp="1"/>
          </p:cNvGraphicFramePr>
          <p:nvPr/>
        </p:nvGraphicFramePr>
        <p:xfrm>
          <a:off x="569256" y="26617735"/>
          <a:ext cx="12765215" cy="326193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553043">
                  <a:extLst>
                    <a:ext uri="{9D8B030D-6E8A-4147-A177-3AD203B41FA5}">
                      <a16:colId xmlns:a16="http://schemas.microsoft.com/office/drawing/2014/main" val="1291578471"/>
                    </a:ext>
                  </a:extLst>
                </a:gridCol>
                <a:gridCol w="2553043">
                  <a:extLst>
                    <a:ext uri="{9D8B030D-6E8A-4147-A177-3AD203B41FA5}">
                      <a16:colId xmlns:a16="http://schemas.microsoft.com/office/drawing/2014/main" val="538044070"/>
                    </a:ext>
                  </a:extLst>
                </a:gridCol>
                <a:gridCol w="2553043">
                  <a:extLst>
                    <a:ext uri="{9D8B030D-6E8A-4147-A177-3AD203B41FA5}">
                      <a16:colId xmlns:a16="http://schemas.microsoft.com/office/drawing/2014/main" val="1345626440"/>
                    </a:ext>
                  </a:extLst>
                </a:gridCol>
                <a:gridCol w="2553043">
                  <a:extLst>
                    <a:ext uri="{9D8B030D-6E8A-4147-A177-3AD203B41FA5}">
                      <a16:colId xmlns:a16="http://schemas.microsoft.com/office/drawing/2014/main" val="2388630325"/>
                    </a:ext>
                  </a:extLst>
                </a:gridCol>
                <a:gridCol w="2553043">
                  <a:extLst>
                    <a:ext uri="{9D8B030D-6E8A-4147-A177-3AD203B41FA5}">
                      <a16:colId xmlns:a16="http://schemas.microsoft.com/office/drawing/2014/main" val="1772795229"/>
                    </a:ext>
                  </a:extLst>
                </a:gridCol>
              </a:tblGrid>
              <a:tr h="642976"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Methods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Latency (s)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Energy (J)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CPU Util (%)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Power (W)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412654"/>
                  </a:ext>
                </a:extLst>
              </a:tr>
              <a:tr h="642976"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Bandpass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0.20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8.09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90.9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40.9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702088"/>
                  </a:ext>
                </a:extLst>
              </a:tr>
              <a:tr h="690034">
                <a:tc>
                  <a:txBody>
                    <a:bodyPr/>
                    <a:lstStyle/>
                    <a:p>
                      <a:pPr algn="ctr"/>
                      <a:r>
                        <a:rPr lang="en-US" sz="2919" err="1"/>
                        <a:t>Sk</a:t>
                      </a:r>
                      <a:r>
                        <a:rPr lang="en-US" sz="2919"/>
                        <a:t>-RBM</a:t>
                      </a: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>
                          <a:solidFill>
                            <a:srgbClr val="1482A5"/>
                          </a:solidFill>
                        </a:rPr>
                        <a:t>0.88</a:t>
                      </a:r>
                      <a:endParaRPr lang="en-US" sz="2919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>
                          <a:solidFill>
                            <a:srgbClr val="1482A5"/>
                          </a:solidFill>
                        </a:rPr>
                        <a:t>35.69</a:t>
                      </a:r>
                      <a:endParaRPr lang="en-US" sz="2919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>
                          <a:solidFill>
                            <a:srgbClr val="1482A5"/>
                          </a:solidFill>
                        </a:rPr>
                        <a:t>89.7</a:t>
                      </a:r>
                      <a:endParaRPr lang="en-US" sz="2919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>
                          <a:solidFill>
                            <a:srgbClr val="1482A5"/>
                          </a:solidFill>
                        </a:rPr>
                        <a:t>40.4</a:t>
                      </a:r>
                      <a:endParaRPr lang="en-US" sz="2919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5928795"/>
                  </a:ext>
                </a:extLst>
              </a:tr>
              <a:tr h="642976"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MDM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4.26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159.58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83.1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37.4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075528"/>
                  </a:ext>
                </a:extLst>
              </a:tr>
              <a:tr h="642976"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A-VMD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17.07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711.76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92.1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19"/>
                        <a:t>41.4</a:t>
                      </a:r>
                      <a:endParaRPr lang="en-US" sz="2919">
                        <a:latin typeface="+mn-lt"/>
                      </a:endParaRPr>
                    </a:p>
                  </a:txBody>
                  <a:tcPr marL="107826" marR="107826" marT="53914" marB="53914">
                    <a:lnL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23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039976"/>
                  </a:ext>
                </a:extLst>
              </a:tr>
            </a:tbl>
          </a:graphicData>
        </a:graphic>
      </p:graphicFrame>
      <p:graphicFrame>
        <p:nvGraphicFramePr>
          <p:cNvPr id="325" name="Table 324">
            <a:extLst>
              <a:ext uri="{FF2B5EF4-FFF2-40B4-BE49-F238E27FC236}">
                <a16:creationId xmlns:a16="http://schemas.microsoft.com/office/drawing/2014/main" id="{942E3E1F-DF1A-AD22-64EA-6F836A087A03}"/>
              </a:ext>
            </a:extLst>
          </p:cNvPr>
          <p:cNvGraphicFramePr>
            <a:graphicFrameLocks noGrp="1"/>
          </p:cNvGraphicFramePr>
          <p:nvPr/>
        </p:nvGraphicFramePr>
        <p:xfrm>
          <a:off x="14545374" y="16445493"/>
          <a:ext cx="13551222" cy="7393767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258537">
                  <a:extLst>
                    <a:ext uri="{9D8B030D-6E8A-4147-A177-3AD203B41FA5}">
                      <a16:colId xmlns:a16="http://schemas.microsoft.com/office/drawing/2014/main" val="3797779769"/>
                    </a:ext>
                  </a:extLst>
                </a:gridCol>
                <a:gridCol w="2258537">
                  <a:extLst>
                    <a:ext uri="{9D8B030D-6E8A-4147-A177-3AD203B41FA5}">
                      <a16:colId xmlns:a16="http://schemas.microsoft.com/office/drawing/2014/main" val="3252964300"/>
                    </a:ext>
                  </a:extLst>
                </a:gridCol>
                <a:gridCol w="2258537">
                  <a:extLst>
                    <a:ext uri="{9D8B030D-6E8A-4147-A177-3AD203B41FA5}">
                      <a16:colId xmlns:a16="http://schemas.microsoft.com/office/drawing/2014/main" val="2183128633"/>
                    </a:ext>
                  </a:extLst>
                </a:gridCol>
                <a:gridCol w="2258537">
                  <a:extLst>
                    <a:ext uri="{9D8B030D-6E8A-4147-A177-3AD203B41FA5}">
                      <a16:colId xmlns:a16="http://schemas.microsoft.com/office/drawing/2014/main" val="1044625261"/>
                    </a:ext>
                  </a:extLst>
                </a:gridCol>
                <a:gridCol w="2258537">
                  <a:extLst>
                    <a:ext uri="{9D8B030D-6E8A-4147-A177-3AD203B41FA5}">
                      <a16:colId xmlns:a16="http://schemas.microsoft.com/office/drawing/2014/main" val="2525623091"/>
                    </a:ext>
                  </a:extLst>
                </a:gridCol>
                <a:gridCol w="2258537">
                  <a:extLst>
                    <a:ext uri="{9D8B030D-6E8A-4147-A177-3AD203B41FA5}">
                      <a16:colId xmlns:a16="http://schemas.microsoft.com/office/drawing/2014/main" val="2149944198"/>
                    </a:ext>
                  </a:extLst>
                </a:gridCol>
              </a:tblGrid>
              <a:tr h="1066458"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Scenario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Metric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Bandpass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err="1"/>
                        <a:t>Sk</a:t>
                      </a:r>
                      <a:r>
                        <a:rPr lang="en-US" sz="3093"/>
                        <a:t>-RBM (ours)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MDM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A-VMD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611313"/>
                  </a:ext>
                </a:extLst>
              </a:tr>
              <a:tr h="590361">
                <a:tc rowSpan="3">
                  <a:txBody>
                    <a:bodyPr/>
                    <a:lstStyle/>
                    <a:p>
                      <a:pPr algn="ctr"/>
                      <a:r>
                        <a:rPr lang="en-US" sz="3093"/>
                        <a:t>Stationary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err="1"/>
                        <a:t>FoM</a:t>
                      </a:r>
                      <a:r>
                        <a:rPr lang="en-US" sz="3093"/>
                        <a:t> AHR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0.003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>
                          <a:solidFill>
                            <a:srgbClr val="1482A5"/>
                          </a:solidFill>
                        </a:rPr>
                        <a:t>0.007</a:t>
                      </a:r>
                      <a:endParaRPr lang="en-US" sz="3093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0.002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0.009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497745"/>
                  </a:ext>
                </a:extLst>
              </a:tr>
              <a:tr h="590361">
                <a:tc vMerge="1">
                  <a:txBody>
                    <a:bodyPr/>
                    <a:lstStyle/>
                    <a:p>
                      <a:endParaRPr lang="en-US" sz="2343">
                        <a:latin typeface="+mn-lt"/>
                      </a:endParaRPr>
                    </a:p>
                  </a:txBody>
                  <a:tcPr marL="85697" marR="85697" marT="42849" marB="428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err="1"/>
                        <a:t>FoM</a:t>
                      </a:r>
                      <a:r>
                        <a:rPr lang="en-US" sz="3093"/>
                        <a:t> HRV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0.255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>
                          <a:solidFill>
                            <a:srgbClr val="1482A5"/>
                          </a:solidFill>
                        </a:rPr>
                        <a:t>1.307</a:t>
                      </a:r>
                      <a:endParaRPr lang="en-US" sz="3093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0.071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0.407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007743"/>
                  </a:ext>
                </a:extLst>
              </a:tr>
              <a:tr h="590361">
                <a:tc vMerge="1">
                  <a:txBody>
                    <a:bodyPr/>
                    <a:lstStyle/>
                    <a:p>
                      <a:endParaRPr lang="en-US" sz="2343">
                        <a:latin typeface="+mn-lt"/>
                      </a:endParaRPr>
                    </a:p>
                  </a:txBody>
                  <a:tcPr marL="85697" marR="85697" marT="42849" marB="428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Score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3.267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>
                          <a:solidFill>
                            <a:srgbClr val="1482A5"/>
                          </a:solidFill>
                        </a:rPr>
                        <a:t>9.230</a:t>
                      </a:r>
                      <a:endParaRPr lang="en-US" sz="3093" b="1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2.131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12.862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182165"/>
                  </a:ext>
                </a:extLst>
              </a:tr>
              <a:tr h="590361">
                <a:tc rowSpan="3">
                  <a:txBody>
                    <a:bodyPr/>
                    <a:lstStyle/>
                    <a:p>
                      <a:pPr algn="ctr"/>
                      <a:r>
                        <a:rPr lang="en-US" sz="3093" dirty="0"/>
                        <a:t>Deep breathing</a:t>
                      </a:r>
                      <a:endParaRPr lang="en-US" sz="3093" dirty="0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err="1"/>
                        <a:t>FoM</a:t>
                      </a:r>
                      <a:r>
                        <a:rPr lang="en-US" sz="3093"/>
                        <a:t> AHR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0.003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>
                          <a:solidFill>
                            <a:srgbClr val="1482A5"/>
                          </a:solidFill>
                        </a:rPr>
                        <a:t>0.007</a:t>
                      </a:r>
                      <a:endParaRPr lang="en-US" sz="3093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0.007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0.011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635394"/>
                  </a:ext>
                </a:extLst>
              </a:tr>
              <a:tr h="590361">
                <a:tc vMerge="1">
                  <a:txBody>
                    <a:bodyPr/>
                    <a:lstStyle/>
                    <a:p>
                      <a:endParaRPr lang="en-US" sz="2343">
                        <a:latin typeface="+mn-lt"/>
                      </a:endParaRPr>
                    </a:p>
                  </a:txBody>
                  <a:tcPr marL="85697" marR="85697" marT="42849" marB="428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err="1"/>
                        <a:t>FoM</a:t>
                      </a:r>
                      <a:r>
                        <a:rPr lang="en-US" sz="3093"/>
                        <a:t> HRV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0.182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>
                          <a:solidFill>
                            <a:srgbClr val="1482A5"/>
                          </a:solidFill>
                        </a:rPr>
                        <a:t>1.083</a:t>
                      </a:r>
                      <a:endParaRPr lang="en-US" sz="3093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0.086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0.385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667608"/>
                  </a:ext>
                </a:extLst>
              </a:tr>
              <a:tr h="590361">
                <a:tc vMerge="1">
                  <a:txBody>
                    <a:bodyPr/>
                    <a:lstStyle/>
                    <a:p>
                      <a:endParaRPr lang="en-US" sz="2343">
                        <a:latin typeface="+mn-lt"/>
                      </a:endParaRPr>
                    </a:p>
                  </a:txBody>
                  <a:tcPr marL="85697" marR="85697" marT="42849" marB="428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Score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2.983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>
                          <a:solidFill>
                            <a:srgbClr val="1482A5"/>
                          </a:solidFill>
                        </a:rPr>
                        <a:t>9.407</a:t>
                      </a:r>
                      <a:endParaRPr lang="en-US" sz="3093" b="1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7.649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10.484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390134"/>
                  </a:ext>
                </a:extLst>
              </a:tr>
              <a:tr h="590361">
                <a:tc rowSpan="3">
                  <a:txBody>
                    <a:bodyPr/>
                    <a:lstStyle/>
                    <a:p>
                      <a:pPr algn="ctr"/>
                      <a:r>
                        <a:rPr lang="en-US" sz="3093"/>
                        <a:t>Random body motion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err="1"/>
                        <a:t>FoM</a:t>
                      </a:r>
                      <a:r>
                        <a:rPr lang="en-US" sz="3093"/>
                        <a:t> AHR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0.004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>
                          <a:solidFill>
                            <a:srgbClr val="1482A5"/>
                          </a:solidFill>
                        </a:rPr>
                        <a:t>0.008</a:t>
                      </a:r>
                      <a:endParaRPr lang="en-US" sz="3093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0.010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0.006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855368"/>
                  </a:ext>
                </a:extLst>
              </a:tr>
              <a:tr h="590361">
                <a:tc vMerge="1">
                  <a:txBody>
                    <a:bodyPr/>
                    <a:lstStyle/>
                    <a:p>
                      <a:endParaRPr lang="en-US" sz="2343">
                        <a:latin typeface="+mn-lt"/>
                      </a:endParaRPr>
                    </a:p>
                  </a:txBody>
                  <a:tcPr marL="85697" marR="85697" marT="42849" marB="428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err="1"/>
                        <a:t>FoM</a:t>
                      </a:r>
                      <a:r>
                        <a:rPr lang="en-US" sz="3093"/>
                        <a:t> HRV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0.188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>
                          <a:solidFill>
                            <a:srgbClr val="1482A5"/>
                          </a:solidFill>
                        </a:rPr>
                        <a:t>0.333</a:t>
                      </a:r>
                      <a:endParaRPr lang="en-US" sz="3093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0.081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0.035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874179"/>
                  </a:ext>
                </a:extLst>
              </a:tr>
              <a:tr h="590361">
                <a:tc vMerge="1">
                  <a:txBody>
                    <a:bodyPr/>
                    <a:lstStyle/>
                    <a:p>
                      <a:endParaRPr lang="en-US" sz="2343">
                        <a:latin typeface="+mn-lt"/>
                      </a:endParaRPr>
                    </a:p>
                  </a:txBody>
                  <a:tcPr marL="85697" marR="85697" marT="42849" marB="428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Score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3.931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>
                          <a:solidFill>
                            <a:srgbClr val="1482A5"/>
                          </a:solidFill>
                        </a:rPr>
                        <a:t>8.877</a:t>
                      </a:r>
                      <a:endParaRPr lang="en-US" sz="3093" b="1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>
                          <a:solidFill>
                            <a:schemeClr val="accent6"/>
                          </a:solidFill>
                        </a:rPr>
                        <a:t>10.218</a:t>
                      </a:r>
                      <a:endParaRPr lang="en-US" sz="3093" b="1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b="1"/>
                        <a:t>6.375</a:t>
                      </a:r>
                      <a:endParaRPr lang="en-US" sz="3093" b="1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910543"/>
                  </a:ext>
                </a:extLst>
              </a:tr>
              <a:tr h="1014060"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Total Score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__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3.394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>
                          <a:solidFill>
                            <a:srgbClr val="1482A5"/>
                          </a:solidFill>
                        </a:rPr>
                        <a:t>9.171</a:t>
                      </a:r>
                      <a:endParaRPr lang="en-US" sz="3093">
                        <a:solidFill>
                          <a:srgbClr val="1482A5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/>
                        <a:t>6.667</a:t>
                      </a:r>
                      <a:endParaRPr lang="en-US" sz="3093"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93" dirty="0">
                          <a:solidFill>
                            <a:schemeClr val="accent6"/>
                          </a:solidFill>
                        </a:rPr>
                        <a:t>9.907</a:t>
                      </a:r>
                      <a:endParaRPr lang="en-US" sz="3093" dirty="0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114263" marR="114263" marT="57132" marB="57132">
                    <a:lnL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2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706626"/>
                  </a:ext>
                </a:extLst>
              </a:tr>
            </a:tbl>
          </a:graphicData>
        </a:graphic>
      </p:graphicFrame>
      <p:sp>
        <p:nvSpPr>
          <p:cNvPr id="327" name="TextBox 326">
            <a:extLst>
              <a:ext uri="{FF2B5EF4-FFF2-40B4-BE49-F238E27FC236}">
                <a16:creationId xmlns:a16="http://schemas.microsoft.com/office/drawing/2014/main" id="{B0416306-2C75-BA24-314D-9560378F0D04}"/>
              </a:ext>
            </a:extLst>
          </p:cNvPr>
          <p:cNvSpPr txBox="1"/>
          <p:nvPr/>
        </p:nvSpPr>
        <p:spPr>
          <a:xfrm>
            <a:off x="14678554" y="23937089"/>
            <a:ext cx="13390668" cy="930847"/>
          </a:xfrm>
          <a:prstGeom prst="rect">
            <a:avLst/>
          </a:prstGeom>
          <a:noFill/>
        </p:spPr>
        <p:txBody>
          <a:bodyPr wrap="square" lIns="0" tIns="22852" rIns="0" bIns="22852" anchor="t">
            <a:spAutoFit/>
          </a:bodyPr>
          <a:lstStyle/>
          <a:p>
            <a:r>
              <a:rPr lang="en-US" sz="2874" i="1">
                <a:solidFill>
                  <a:srgbClr val="5A6874"/>
                </a:solidFill>
                <a:latin typeface="+mn-lt"/>
              </a:rPr>
              <a:t>FOM AHR: Figure-of-merit Average Heart Rate, FOM HRV: Figure-of-merit Heart Rate Variability; Higher score means better performance</a:t>
            </a:r>
            <a:endParaRPr sz="2874" i="1">
              <a:solidFill>
                <a:srgbClr val="5A6874"/>
              </a:solidFill>
              <a:latin typeface="+mn-lt"/>
            </a:endParaRPr>
          </a:p>
        </p:txBody>
      </p:sp>
      <p:pic>
        <p:nvPicPr>
          <p:cNvPr id="336" name="Picture 335">
            <a:extLst>
              <a:ext uri="{FF2B5EF4-FFF2-40B4-BE49-F238E27FC236}">
                <a16:creationId xmlns:a16="http://schemas.microsoft.com/office/drawing/2014/main" id="{D7CBE90E-1138-76F9-002F-7DC92BC450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83037" y="7829581"/>
            <a:ext cx="13179502" cy="7406443"/>
          </a:xfrm>
          <a:prstGeom prst="rect">
            <a:avLst/>
          </a:prstGeom>
        </p:spPr>
      </p:pic>
      <p:pic>
        <p:nvPicPr>
          <p:cNvPr id="343" name="Picture 342">
            <a:extLst>
              <a:ext uri="{FF2B5EF4-FFF2-40B4-BE49-F238E27FC236}">
                <a16:creationId xmlns:a16="http://schemas.microsoft.com/office/drawing/2014/main" id="{5EFDBE50-2F1C-83CD-0B17-807C1C1E635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258"/>
          <a:stretch>
            <a:fillRect/>
          </a:stretch>
        </p:blipFill>
        <p:spPr>
          <a:xfrm>
            <a:off x="7234715" y="16092459"/>
            <a:ext cx="6054509" cy="8231727"/>
          </a:xfrm>
          <a:prstGeom prst="rect">
            <a:avLst/>
          </a:prstGeom>
        </p:spPr>
      </p:pic>
      <p:sp>
        <p:nvSpPr>
          <p:cNvPr id="349" name="Oval 348">
            <a:extLst>
              <a:ext uri="{FF2B5EF4-FFF2-40B4-BE49-F238E27FC236}">
                <a16:creationId xmlns:a16="http://schemas.microsoft.com/office/drawing/2014/main" id="{5265B506-2A68-F584-8CFA-89D52CA5B254}"/>
              </a:ext>
            </a:extLst>
          </p:cNvPr>
          <p:cNvSpPr/>
          <p:nvPr/>
        </p:nvSpPr>
        <p:spPr>
          <a:xfrm>
            <a:off x="10185981" y="18539756"/>
            <a:ext cx="1095211" cy="1142634"/>
          </a:xfrm>
          <a:prstGeom prst="ellipse">
            <a:avLst/>
          </a:prstGeom>
          <a:solidFill>
            <a:srgbClr val="1482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697" tIns="42849" rIns="85697" bIns="42849" rtlCol="0" anchor="ctr"/>
          <a:lstStyle/>
          <a:p>
            <a:pPr algn="ctr"/>
            <a:endParaRPr lang="en-US" sz="1749"/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4F678F08-3105-1127-1CC3-5C76580E3542}"/>
              </a:ext>
            </a:extLst>
          </p:cNvPr>
          <p:cNvSpPr txBox="1"/>
          <p:nvPr/>
        </p:nvSpPr>
        <p:spPr>
          <a:xfrm>
            <a:off x="1426096" y="20615519"/>
            <a:ext cx="4302397" cy="10095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85697" tIns="42849" rIns="85697" bIns="42849" rtlCol="0">
            <a:spAutoFit/>
          </a:bodyPr>
          <a:lstStyle/>
          <a:p>
            <a:pPr algn="ctr"/>
            <a:r>
              <a:rPr lang="en-US" sz="2999" b="1"/>
              <a:t>77GHz AWR2243 </a:t>
            </a:r>
            <a:r>
              <a:rPr lang="en-US" sz="2999" b="1" err="1"/>
              <a:t>mmwave</a:t>
            </a:r>
            <a:r>
              <a:rPr lang="en-US" sz="2999" b="1"/>
              <a:t> Radar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8EAECC65-776E-8E8D-E23E-773F9E1F0317}"/>
              </a:ext>
            </a:extLst>
          </p:cNvPr>
          <p:cNvSpPr txBox="1"/>
          <p:nvPr/>
        </p:nvSpPr>
        <p:spPr>
          <a:xfrm>
            <a:off x="1656303" y="22425495"/>
            <a:ext cx="4302397" cy="10095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85697" tIns="42849" rIns="85697" bIns="42849" rtlCol="0">
            <a:spAutoFit/>
          </a:bodyPr>
          <a:lstStyle/>
          <a:p>
            <a:pPr algn="ctr"/>
            <a:r>
              <a:rPr lang="en-US" sz="2999" b="1"/>
              <a:t>10GHz </a:t>
            </a:r>
            <a:r>
              <a:rPr lang="en-US" sz="2999" b="1" err="1"/>
              <a:t>Vayyar</a:t>
            </a:r>
            <a:r>
              <a:rPr lang="en-US" sz="2999" b="1"/>
              <a:t> </a:t>
            </a:r>
            <a:r>
              <a:rPr lang="en-US" sz="2999" b="1" err="1"/>
              <a:t>Walabot</a:t>
            </a:r>
            <a:r>
              <a:rPr lang="en-US" sz="2999" b="1"/>
              <a:t> UWB Radar</a:t>
            </a:r>
          </a:p>
        </p:txBody>
      </p:sp>
      <p:cxnSp>
        <p:nvCxnSpPr>
          <p:cNvPr id="354" name="Straight Arrow Connector 353">
            <a:extLst>
              <a:ext uri="{FF2B5EF4-FFF2-40B4-BE49-F238E27FC236}">
                <a16:creationId xmlns:a16="http://schemas.microsoft.com/office/drawing/2014/main" id="{060A372F-260E-28AE-CAD0-9AB36CAB69D0}"/>
              </a:ext>
            </a:extLst>
          </p:cNvPr>
          <p:cNvCxnSpPr>
            <a:stCxn id="352" idx="3"/>
          </p:cNvCxnSpPr>
          <p:nvPr/>
        </p:nvCxnSpPr>
        <p:spPr>
          <a:xfrm flipV="1">
            <a:off x="5958700" y="22122383"/>
            <a:ext cx="2290939" cy="8078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86FBD2A9-CDD1-C29A-BBAA-3399C176B6AF}"/>
              </a:ext>
            </a:extLst>
          </p:cNvPr>
          <p:cNvCxnSpPr>
            <a:stCxn id="350" idx="3"/>
          </p:cNvCxnSpPr>
          <p:nvPr/>
        </p:nvCxnSpPr>
        <p:spPr>
          <a:xfrm>
            <a:off x="5728493" y="21120303"/>
            <a:ext cx="1472666" cy="5213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8" name="TextBox 357">
            <a:extLst>
              <a:ext uri="{FF2B5EF4-FFF2-40B4-BE49-F238E27FC236}">
                <a16:creationId xmlns:a16="http://schemas.microsoft.com/office/drawing/2014/main" id="{1A562351-C89C-084A-40E7-9E310DC7E7C1}"/>
              </a:ext>
            </a:extLst>
          </p:cNvPr>
          <p:cNvSpPr txBox="1"/>
          <p:nvPr/>
        </p:nvSpPr>
        <p:spPr>
          <a:xfrm>
            <a:off x="1520509" y="18630116"/>
            <a:ext cx="4302397" cy="548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5697" tIns="42849" rIns="85697" bIns="42849" rtlCol="0">
            <a:spAutoFit/>
          </a:bodyPr>
          <a:lstStyle/>
          <a:p>
            <a:pPr algn="ctr"/>
            <a:r>
              <a:rPr lang="en-US" sz="2999" b="1"/>
              <a:t>Wall Barrier</a:t>
            </a:r>
          </a:p>
        </p:txBody>
      </p: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8F0F98FD-5E76-77D2-F408-A1B9951E273B}"/>
              </a:ext>
            </a:extLst>
          </p:cNvPr>
          <p:cNvCxnSpPr>
            <a:stCxn id="358" idx="3"/>
          </p:cNvCxnSpPr>
          <p:nvPr/>
        </p:nvCxnSpPr>
        <p:spPr>
          <a:xfrm>
            <a:off x="5822906" y="18904142"/>
            <a:ext cx="2344732" cy="2975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2" name="TextBox 361">
            <a:extLst>
              <a:ext uri="{FF2B5EF4-FFF2-40B4-BE49-F238E27FC236}">
                <a16:creationId xmlns:a16="http://schemas.microsoft.com/office/drawing/2014/main" id="{A062559F-07A6-EB27-6687-B94551FDC2E6}"/>
              </a:ext>
            </a:extLst>
          </p:cNvPr>
          <p:cNvSpPr txBox="1"/>
          <p:nvPr/>
        </p:nvSpPr>
        <p:spPr>
          <a:xfrm>
            <a:off x="1520509" y="17011408"/>
            <a:ext cx="4302397" cy="5480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85697" tIns="42849" rIns="85697" bIns="42849" rtlCol="0">
            <a:spAutoFit/>
          </a:bodyPr>
          <a:lstStyle/>
          <a:p>
            <a:pPr algn="ctr"/>
            <a:r>
              <a:rPr lang="en-US" sz="2999" b="1"/>
              <a:t>Human Subject</a:t>
            </a:r>
          </a:p>
        </p:txBody>
      </p: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ADE524D1-A48D-A8E9-757C-971E742B4B38}"/>
              </a:ext>
            </a:extLst>
          </p:cNvPr>
          <p:cNvCxnSpPr>
            <a:stCxn id="362" idx="3"/>
          </p:cNvCxnSpPr>
          <p:nvPr/>
        </p:nvCxnSpPr>
        <p:spPr>
          <a:xfrm>
            <a:off x="5822906" y="17285434"/>
            <a:ext cx="4972790" cy="27494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41" name="Picture 140">
            <a:extLst>
              <a:ext uri="{FF2B5EF4-FFF2-40B4-BE49-F238E27FC236}">
                <a16:creationId xmlns:a16="http://schemas.microsoft.com/office/drawing/2014/main" id="{749E65C0-EFD0-3844-75A5-893FDFFF72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07" y="871012"/>
            <a:ext cx="4004824" cy="380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14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97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4F75F5-09C2-42D6-BEC3-0816771DBA8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179618e-ea5f-41a7-b4b4-970a1681c68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A26694F888BB429CFC26114868F58E" ma:contentTypeVersion="13" ma:contentTypeDescription="Create a new document." ma:contentTypeScope="" ma:versionID="b2e2c13ecc93ffd2c4aa8686a2926d7a">
  <xsd:schema xmlns:xsd="http://www.w3.org/2001/XMLSchema" xmlns:xs="http://www.w3.org/2001/XMLSchema" xmlns:p="http://schemas.microsoft.com/office/2006/metadata/properties" xmlns:ns1="http://schemas.microsoft.com/sharepoint/v3" xmlns:ns3="524c2e92-58d4-45cb-8bc9-c41d512ae73a" targetNamespace="http://schemas.microsoft.com/office/2006/metadata/properties" ma:root="true" ma:fieldsID="ac58b18a0f82db236e462de42f626e8d" ns1:_="" ns3:_="">
    <xsd:import namespace="http://schemas.microsoft.com/sharepoint/v3"/>
    <xsd:import namespace="524c2e92-58d4-45cb-8bc9-c41d512ae73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c2e92-58d4-45cb-8bc9-c41d512ae73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4c2e92-58d4-45cb-8bc9-c41d512ae73a" xsi:nil="true"/>
    <_ip_UnifiedCompliancePolicyProperties xmlns="http://schemas.microsoft.com/sharepoint/v3" xsi:nil="true"/>
    <_ip_UnifiedCompliancePolicyUIAction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7EAC484-DB21-4FD0-8ED2-A0C51919C6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24c2e92-58d4-45cb-8bc9-c41d512ae7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053933-79EE-4256-ADE5-16478C334B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2740E5-DD4A-42AE-86CD-9CBFA19F9A82}">
  <ds:schemaRefs>
    <ds:schemaRef ds:uri="http://www.w3.org/XML/1998/namespace"/>
    <ds:schemaRef ds:uri="http://purl.org/dc/terms/"/>
    <ds:schemaRef ds:uri="http://schemas.microsoft.com/sharepoint/v3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524c2e92-58d4-45cb-8bc9-c41d512ae73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2132</TotalTime>
  <Words>625</Words>
  <Application>Microsoft Office PowerPoint</Application>
  <PresentationFormat>Custom</PresentationFormat>
  <Paragraphs>139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Amaranth</vt:lpstr>
      <vt:lpstr>Arial</vt:lpstr>
      <vt:lpstr>Calibri</vt:lpstr>
      <vt:lpstr>Georgia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Muhammad Moiz</dc:creator>
  <cp:lastModifiedBy>Muhammad Moiz</cp:lastModifiedBy>
  <cp:revision>8</cp:revision>
  <dcterms:created xsi:type="dcterms:W3CDTF">2006-08-16T00:00:00Z</dcterms:created>
  <dcterms:modified xsi:type="dcterms:W3CDTF">2026-09-29T01:15:38Z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0x010100B2A26694F888BB429CFC26114868F58E</vt:lpwstr>
  </property>
</Properties>
</file>