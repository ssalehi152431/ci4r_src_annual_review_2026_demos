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g6yv7bwh78j93yKiSv2HwKYA2l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87F"/>
    <a:srgbClr val="2350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4326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rul Islam" userId="d4533dd0-7b42-4d13-9d1c-8fa9bc901ffe" providerId="ADAL" clId="{B67D4C98-2527-4D47-96EA-18C02A5935F7}"/>
    <pc:docChg chg="modSld">
      <pc:chgData name="Kamrul Islam" userId="d4533dd0-7b42-4d13-9d1c-8fa9bc901ffe" providerId="ADAL" clId="{B67D4C98-2527-4D47-96EA-18C02A5935F7}" dt="2026-09-25T05:31:11.741" v="4" actId="20577"/>
      <pc:docMkLst>
        <pc:docMk/>
      </pc:docMkLst>
      <pc:sldChg chg="modSp mod">
        <pc:chgData name="Kamrul Islam" userId="d4533dd0-7b42-4d13-9d1c-8fa9bc901ffe" providerId="ADAL" clId="{B67D4C98-2527-4D47-96EA-18C02A5935F7}" dt="2026-09-25T05:31:11.741" v="4" actId="20577"/>
        <pc:sldMkLst>
          <pc:docMk/>
          <pc:sldMk cId="0" sldId="256"/>
        </pc:sldMkLst>
        <pc:spChg chg="mod">
          <ac:chgData name="Kamrul Islam" userId="d4533dd0-7b42-4d13-9d1c-8fa9bc901ffe" providerId="ADAL" clId="{B67D4C98-2527-4D47-96EA-18C02A5935F7}" dt="2026-09-25T05:31:11.741" v="4" actId="20577"/>
          <ac:spMkLst>
            <pc:docMk/>
            <pc:sldMk cId="0" sldId="256"/>
            <ac:spMk id="95" creationId="{00000000-0000-0000-0000-000000000000}"/>
          </ac:spMkLst>
        </pc:spChg>
        <pc:spChg chg="mod">
          <ac:chgData name="Kamrul Islam" userId="d4533dd0-7b42-4d13-9d1c-8fa9bc901ffe" providerId="ADAL" clId="{B67D4C98-2527-4D47-96EA-18C02A5935F7}" dt="2026-09-25T04:59:52.672" v="0" actId="14100"/>
          <ac:spMkLst>
            <pc:docMk/>
            <pc:sldMk cId="0" sldId="256"/>
            <ac:spMk id="131" creationId="{6EB0AA28-5E11-440C-85C7-7167992E806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dadf8ee0f_3_198:notes"/>
          <p:cNvSpPr txBox="1">
            <a:spLocks noGrp="1"/>
          </p:cNvSpPr>
          <p:nvPr>
            <p:ph type="body" idx="1"/>
          </p:nvPr>
        </p:nvSpPr>
        <p:spPr>
          <a:xfrm>
            <a:off x="685773" y="4343382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700" tIns="102700" rIns="102700" bIns="102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3" name="Google Shape;83;g2edadf8ee0f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1E0E5"/>
            </a:gs>
          </a:gsLst>
          <a:lin ang="5400012" scaled="0"/>
        </a:gra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7238152-C23B-4CAB-0BC8-C2A0E6B6CFC6}"/>
              </a:ext>
            </a:extLst>
          </p:cNvPr>
          <p:cNvSpPr/>
          <p:nvPr/>
        </p:nvSpPr>
        <p:spPr>
          <a:xfrm>
            <a:off x="259457" y="20094579"/>
            <a:ext cx="43236486" cy="111263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6AE95D-55E0-07AF-6163-9B90CA8807E9}"/>
              </a:ext>
            </a:extLst>
          </p:cNvPr>
          <p:cNvSpPr/>
          <p:nvPr/>
        </p:nvSpPr>
        <p:spPr>
          <a:xfrm>
            <a:off x="28305577" y="6939037"/>
            <a:ext cx="15079541" cy="85930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7B1830-FA75-67B2-A5DA-E9809D5E3F62}"/>
              </a:ext>
            </a:extLst>
          </p:cNvPr>
          <p:cNvSpPr/>
          <p:nvPr/>
        </p:nvSpPr>
        <p:spPr>
          <a:xfrm>
            <a:off x="506082" y="6967412"/>
            <a:ext cx="10441713" cy="82485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Google Shape;85;g2edadf8ee0f_3_198"/>
          <p:cNvSpPr/>
          <p:nvPr/>
        </p:nvSpPr>
        <p:spPr>
          <a:xfrm>
            <a:off x="-48494" y="0"/>
            <a:ext cx="43940100" cy="6533700"/>
          </a:xfrm>
          <a:prstGeom prst="rect">
            <a:avLst/>
          </a:prstGeom>
          <a:gradFill>
            <a:gsLst>
              <a:gs pos="0">
                <a:srgbClr val="235078"/>
              </a:gs>
              <a:gs pos="5000">
                <a:srgbClr val="235078"/>
              </a:gs>
              <a:gs pos="100000">
                <a:srgbClr val="1482A5"/>
              </a:gs>
            </a:gsLst>
            <a:lin ang="0" scaled="0"/>
          </a:gradFill>
          <a:ln>
            <a:noFill/>
          </a:ln>
        </p:spPr>
        <p:txBody>
          <a:bodyPr spcFirstLastPara="1" wrap="square" lIns="93075" tIns="46525" rIns="93075" bIns="46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endParaRPr sz="9600" b="0" i="0" u="none" strike="noStrike" cap="none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2edadf8ee0f_3_198"/>
          <p:cNvSpPr/>
          <p:nvPr/>
        </p:nvSpPr>
        <p:spPr>
          <a:xfrm>
            <a:off x="-48492" y="31447268"/>
            <a:ext cx="43940100" cy="1470600"/>
          </a:xfrm>
          <a:prstGeom prst="rect">
            <a:avLst/>
          </a:prstGeom>
          <a:gradFill>
            <a:gsLst>
              <a:gs pos="0">
                <a:srgbClr val="235078"/>
              </a:gs>
              <a:gs pos="5000">
                <a:srgbClr val="235078"/>
              </a:gs>
              <a:gs pos="100000">
                <a:srgbClr val="1482A5"/>
              </a:gs>
            </a:gsLst>
            <a:lin ang="0" scaled="0"/>
          </a:gradFill>
          <a:ln>
            <a:noFill/>
          </a:ln>
        </p:spPr>
        <p:txBody>
          <a:bodyPr spcFirstLastPara="1" wrap="square" lIns="139725" tIns="69875" rIns="139725" bIns="69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endParaRPr sz="9600" b="0" i="0" u="none" strike="noStrike" cap="none">
              <a:solidFill>
                <a:schemeClr val="l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2edadf8ee0f_3_198"/>
          <p:cNvSpPr txBox="1"/>
          <p:nvPr/>
        </p:nvSpPr>
        <p:spPr>
          <a:xfrm>
            <a:off x="699724" y="826200"/>
            <a:ext cx="6828835" cy="488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 dirty="0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g2edadf8ee0f_3_1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025" y="31443760"/>
            <a:ext cx="9144003" cy="146446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TextBox 91"/>
          <p:cNvSpPr txBox="1"/>
          <p:nvPr/>
        </p:nvSpPr>
        <p:spPr>
          <a:xfrm>
            <a:off x="10423453" y="901778"/>
            <a:ext cx="24505920" cy="2370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7200" b="1" i="0" dirty="0">
                <a:solidFill>
                  <a:srgbClr val="FFFFFF"/>
                </a:solidFill>
                <a:latin typeface="+mj-lt"/>
              </a:rPr>
              <a:t>Physics-Aware Machine Learning for Real-World Human Activity Recognition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063361" y="3827305"/>
            <a:ext cx="24505920" cy="2057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1" i="0" dirty="0">
                <a:solidFill>
                  <a:srgbClr val="FFFFFF"/>
                </a:solidFill>
                <a:latin typeface="+mj-lt"/>
              </a:rPr>
              <a:t>Kamrul Islam, Sultanus Salehin</a:t>
            </a:r>
          </a:p>
          <a:p>
            <a:pPr algn="ctr">
              <a:lnSpc>
                <a:spcPct val="105000"/>
              </a:lnSpc>
            </a:pPr>
            <a:r>
              <a:rPr sz="3800" b="0" i="0" dirty="0">
                <a:solidFill>
                  <a:srgbClr val="CADCFC"/>
                </a:solidFill>
                <a:latin typeface="+mj-lt"/>
              </a:rPr>
              <a:t>Department of Electrical &amp; Computer Engineering, North Carolina State University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37230" y="2790017"/>
            <a:ext cx="4937760" cy="1660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sz="4000" b="1" i="0">
                <a:solidFill>
                  <a:srgbClr val="FFFFFF"/>
                </a:solidFill>
                <a:latin typeface="Arial"/>
              </a:rPr>
              <a:t>POSTER 2.</a:t>
            </a:r>
            <a:r>
              <a:rPr lang="en-US" sz="4000" b="1">
                <a:solidFill>
                  <a:srgbClr val="FFFFFF"/>
                </a:solidFill>
              </a:rPr>
              <a:t>2</a:t>
            </a:r>
            <a:endParaRPr sz="4600" b="1" i="0" dirty="0">
              <a:solidFill>
                <a:srgbClr val="FFFFFF"/>
              </a:solidFill>
              <a:latin typeface="+mj-lt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sz="3400" b="0" i="0" dirty="0">
                <a:solidFill>
                  <a:srgbClr val="CADCFC"/>
                </a:solidFill>
                <a:latin typeface="Calibri"/>
              </a:rPr>
              <a:t>THEME 2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sz="3000" b="0" i="0" dirty="0">
                <a:solidFill>
                  <a:srgbClr val="CADCFC"/>
                </a:solidFill>
                <a:latin typeface="Calibri"/>
              </a:rPr>
              <a:t>PI: Dr. Sevgi Z. Gurbuz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868365-1435-B409-F0AB-BDB6C644D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8032" y="1981200"/>
            <a:ext cx="6227218" cy="3257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CBD8C2-BC2E-549C-BCE0-E33DBC765DCF}"/>
              </a:ext>
            </a:extLst>
          </p:cNvPr>
          <p:cNvSpPr txBox="1"/>
          <p:nvPr/>
        </p:nvSpPr>
        <p:spPr>
          <a:xfrm>
            <a:off x="758994" y="696772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5800" b="1" i="0">
                <a:solidFill>
                  <a:srgbClr val="235078"/>
                </a:solidFill>
                <a:latin typeface="Arial"/>
              </a:rPr>
              <a:t>Motivation</a:t>
            </a:r>
            <a:endParaRPr sz="7200" b="1" i="0" dirty="0">
              <a:solidFill>
                <a:srgbClr val="235078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BF606E-DD9E-87F5-ACA7-808C92CE0B73}"/>
              </a:ext>
            </a:extLst>
          </p:cNvPr>
          <p:cNvSpPr txBox="1"/>
          <p:nvPr/>
        </p:nvSpPr>
        <p:spPr>
          <a:xfrm>
            <a:off x="548640" y="8183879"/>
            <a:ext cx="10399155" cy="9837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just">
              <a:lnSpc>
                <a:spcPct val="112000"/>
              </a:lnSpc>
              <a:buFont typeface="Arial" panose="020B0604020202020204" pitchFamily="34" charset="0"/>
              <a:buNone/>
            </a:pPr>
            <a:r>
              <a:rPr sz="4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A rescue team at a collapsed structure has two time-sensitive questions: is anyone alive inside, and can they get out on their own?</a:t>
            </a:r>
          </a:p>
          <a:p>
            <a:pPr marL="0" indent="0" algn="just">
              <a:lnSpc>
                <a:spcPct val="105000"/>
              </a:lnSpc>
              <a:spcBef>
                <a:spcPts val="2600"/>
              </a:spcBef>
              <a:buNone/>
            </a:pPr>
            <a:r>
              <a:rPr sz="4400" b="1" i="0" dirty="0">
                <a:solidFill>
                  <a:srgbClr val="1482A5"/>
                </a:solidFill>
                <a:latin typeface="Arial"/>
              </a:rPr>
              <a:t>OBJECTIVE</a:t>
            </a:r>
          </a:p>
          <a:p>
            <a:pPr marL="0" indent="0" algn="just">
              <a:lnSpc>
                <a:spcPct val="112000"/>
              </a:lnSpc>
              <a:spcBef>
                <a:spcPts val="400"/>
              </a:spcBef>
              <a:buNone/>
            </a:pPr>
            <a:r>
              <a:rPr sz="4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Recognise activity, gait and injury through dust and debris, accurately enough to answer both and light enough to run at the edge.</a:t>
            </a:r>
          </a:p>
          <a:p>
            <a:pPr marL="0" indent="0" algn="just">
              <a:lnSpc>
                <a:spcPct val="105000"/>
              </a:lnSpc>
              <a:spcBef>
                <a:spcPts val="2600"/>
              </a:spcBef>
              <a:buNone/>
            </a:pPr>
            <a:r>
              <a:rPr sz="4400" b="1" i="0" dirty="0">
                <a:solidFill>
                  <a:srgbClr val="1482A5"/>
                </a:solidFill>
                <a:latin typeface="Arial"/>
              </a:rPr>
              <a:t>DEVELOPED SOLUTIONS</a:t>
            </a:r>
          </a:p>
          <a:p>
            <a:pPr marL="0" indent="0" algn="l">
              <a:lnSpc>
                <a:spcPct val="110000"/>
              </a:lnSpc>
              <a:spcBef>
                <a:spcPts val="600"/>
              </a:spcBef>
              <a:buNone/>
            </a:pPr>
            <a:r>
              <a:rPr sz="4400" b="1" i="0" dirty="0">
                <a:solidFill>
                  <a:srgbClr val="1482A5"/>
                </a:solidFill>
                <a:latin typeface="Arial"/>
              </a:rPr>
              <a:t>▪  </a:t>
            </a:r>
            <a:r>
              <a:rPr sz="4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CV-</a:t>
            </a:r>
            <a:r>
              <a:rPr sz="44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SincNet</a:t>
            </a:r>
            <a:r>
              <a:rPr sz="4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</a:t>
            </a:r>
            <a:r>
              <a:rPr lang="en-US" sz="4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-</a:t>
            </a:r>
            <a:r>
              <a:rPr sz="4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direct classification from the raw complex signal.</a:t>
            </a:r>
          </a:p>
          <a:p>
            <a:pPr marL="0" indent="0" algn="l">
              <a:lnSpc>
                <a:spcPct val="110000"/>
              </a:lnSpc>
              <a:spcBef>
                <a:spcPts val="1000"/>
              </a:spcBef>
              <a:buNone/>
            </a:pPr>
            <a:r>
              <a:rPr sz="4400" b="1" i="0" dirty="0">
                <a:solidFill>
                  <a:srgbClr val="1482A5"/>
                </a:solidFill>
                <a:latin typeface="Arial"/>
              </a:rPr>
              <a:t>▪  </a:t>
            </a:r>
            <a:r>
              <a:rPr sz="44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PhGAN</a:t>
            </a:r>
            <a:r>
              <a:rPr sz="4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</a:t>
            </a:r>
            <a:r>
              <a:rPr lang="en-US" sz="4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-</a:t>
            </a:r>
            <a:r>
              <a:rPr sz="4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physics-constrained synthetic training data.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9EF5DF-0A16-0BFD-CDCF-EB2CCC604333}"/>
              </a:ext>
            </a:extLst>
          </p:cNvPr>
          <p:cNvSpPr txBox="1"/>
          <p:nvPr/>
        </p:nvSpPr>
        <p:spPr>
          <a:xfrm>
            <a:off x="28510991" y="6967728"/>
            <a:ext cx="16088131" cy="789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200" b="1" i="0" dirty="0">
                <a:solidFill>
                  <a:srgbClr val="235078"/>
                </a:solidFill>
                <a:latin typeface="Arial"/>
              </a:rPr>
              <a:t>Two Roadblocks, Two Physics-Aware Answers</a:t>
            </a:r>
            <a:endParaRPr sz="6600" b="1" i="0" dirty="0">
              <a:solidFill>
                <a:srgbClr val="235078"/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4C67BE-3375-2B64-47D5-C8450C4FD5FD}"/>
              </a:ext>
            </a:extLst>
          </p:cNvPr>
          <p:cNvSpPr txBox="1"/>
          <p:nvPr/>
        </p:nvSpPr>
        <p:spPr>
          <a:xfrm>
            <a:off x="548640" y="20162520"/>
            <a:ext cx="42839640" cy="935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6400" b="1" i="0" dirty="0">
                <a:solidFill>
                  <a:srgbClr val="235078"/>
                </a:solidFill>
                <a:latin typeface="Arial"/>
              </a:rPr>
              <a:t>Physics-Aware Models  ·  Architecture and Benchmarking</a:t>
            </a:r>
            <a:endParaRPr sz="8000" b="1" i="0" dirty="0">
              <a:solidFill>
                <a:srgbClr val="235078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FED98D-D5BF-AEA8-40F4-642406057578}"/>
              </a:ext>
            </a:extLst>
          </p:cNvPr>
          <p:cNvSpPr/>
          <p:nvPr/>
        </p:nvSpPr>
        <p:spPr>
          <a:xfrm>
            <a:off x="28510992" y="18017672"/>
            <a:ext cx="14904720" cy="1806046"/>
          </a:xfrm>
          <a:prstGeom prst="rect">
            <a:avLst/>
          </a:prstGeom>
          <a:solidFill>
            <a:srgbClr val="E6F1F6"/>
          </a:solidFill>
          <a:ln w="38100">
            <a:solidFill>
              <a:srgbClr val="1482A5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48C598-DCDB-5E36-914B-75072210CD89}"/>
              </a:ext>
            </a:extLst>
          </p:cNvPr>
          <p:cNvSpPr txBox="1"/>
          <p:nvPr/>
        </p:nvSpPr>
        <p:spPr>
          <a:xfrm>
            <a:off x="11338560" y="7040880"/>
            <a:ext cx="1655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sz="3600" b="1" i="0" spc="190" dirty="0">
                <a:solidFill>
                  <a:srgbClr val="235078"/>
                </a:solidFill>
                <a:latin typeface="Arial"/>
              </a:rPr>
              <a:t>GRAPHICAL ABSTRACT</a:t>
            </a:r>
            <a:endParaRPr sz="7200" b="1" i="0" dirty="0">
              <a:solidFill>
                <a:srgbClr val="235078"/>
              </a:solidFill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D949DF-3997-8ECC-F312-BBB0AA9213CA}"/>
              </a:ext>
            </a:extLst>
          </p:cNvPr>
          <p:cNvSpPr txBox="1"/>
          <p:nvPr/>
        </p:nvSpPr>
        <p:spPr>
          <a:xfrm>
            <a:off x="28988619" y="18239962"/>
            <a:ext cx="14706924" cy="13232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000" b="1" i="0" spc="170" dirty="0">
                <a:solidFill>
                  <a:srgbClr val="1482A5"/>
                </a:solidFill>
                <a:latin typeface="Arial"/>
              </a:rPr>
              <a:t>IMPACT? Builds the physics of the measurement into the model, cutting our reliance on massive datasets.</a:t>
            </a:r>
            <a:endParaRPr sz="4000" b="1" i="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8346400" y="13898880"/>
            <a:ext cx="1517904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571500" indent="-5715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CV-SincNet bypasses the processing bottleneck. </a:t>
            </a:r>
            <a:r>
              <a:rPr lang="en-US" sz="40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It learns band-pass filters on the complex raw signal, and every filter is a velocity band, so no spectrogram is ever formed.</a:t>
            </a:r>
          </a:p>
          <a:p>
            <a:pPr marL="571500" indent="-5715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PhGAN solves the data shortage. </a:t>
            </a:r>
            <a:r>
              <a:rPr lang="en-US" sz="40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It synthesises new training samples from a small pool of real data, with envelope constraints keeping them kinematically real.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48640" y="21244628"/>
            <a:ext cx="160020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 dirty="0">
                <a:solidFill>
                  <a:srgbClr val="235078"/>
                </a:solidFill>
                <a:latin typeface="Arial"/>
              </a:rPr>
              <a:t>CV-SincNet</a:t>
            </a:r>
            <a:r>
              <a:rPr sz="4000" b="0" i="0" dirty="0">
                <a:solidFill>
                  <a:srgbClr val="3E5163"/>
                </a:solidFill>
                <a:latin typeface="Calibri"/>
              </a:rPr>
              <a:t>   ·   </a:t>
            </a:r>
            <a:r>
              <a:rPr sz="4400" b="1" i="0" dirty="0">
                <a:solidFill>
                  <a:srgbClr val="00B050"/>
                </a:solidFill>
                <a:latin typeface="Calibri"/>
              </a:rPr>
              <a:t>learn the filter, never draw the picture</a:t>
            </a:r>
            <a:endParaRPr sz="4000" b="1" i="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365760" y="26060400"/>
            <a:ext cx="160934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No pre-processing cost: the network takes the I/Q stream directly, 8600 × 2 complex samples per window.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0.54 M parameters and about 1 s end to end on Intel Core Ultra 5 / Ultra 7, light enough for real-time edge processing.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7340560" y="21390497"/>
            <a:ext cx="1604772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 dirty="0">
                <a:solidFill>
                  <a:srgbClr val="235078"/>
                </a:solidFill>
                <a:latin typeface="Arial"/>
              </a:rPr>
              <a:t>PhGAN + CAE</a:t>
            </a:r>
            <a:r>
              <a:rPr sz="4000" b="0" i="0" dirty="0">
                <a:solidFill>
                  <a:srgbClr val="3E5163"/>
                </a:solidFill>
                <a:latin typeface="Calibri"/>
              </a:rPr>
              <a:t>   ·   </a:t>
            </a:r>
            <a:r>
              <a:rPr sz="4400" b="1" i="0" dirty="0">
                <a:solidFill>
                  <a:srgbClr val="00B050"/>
                </a:solidFill>
                <a:latin typeface="Calibri"/>
              </a:rPr>
              <a:t>more data without breaking the physics</a:t>
            </a:r>
            <a:endParaRPr sz="4000" b="1" i="0" dirty="0">
              <a:solidFill>
                <a:srgbClr val="00B050"/>
              </a:solidFill>
              <a:latin typeface="Calibri"/>
            </a:endParaRP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3B5E2567-D33A-FC01-BADF-E5E2FF175F2F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47952" y="961030"/>
            <a:ext cx="3167528" cy="3167528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BA5100D8-A0D5-584A-B1B1-BAEB7F97F883}"/>
              </a:ext>
            </a:extLst>
          </p:cNvPr>
          <p:cNvSpPr/>
          <p:nvPr/>
        </p:nvSpPr>
        <p:spPr>
          <a:xfrm>
            <a:off x="453742" y="29558894"/>
            <a:ext cx="15782129" cy="1744674"/>
          </a:xfrm>
          <a:prstGeom prst="rect">
            <a:avLst/>
          </a:prstGeom>
          <a:solidFill>
            <a:srgbClr val="E6F1F6"/>
          </a:solidFill>
          <a:ln w="38100">
            <a:solidFill>
              <a:srgbClr val="1482A5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6BEF469-BA46-2E97-878D-D92DB827ACD4}"/>
              </a:ext>
            </a:extLst>
          </p:cNvPr>
          <p:cNvSpPr txBox="1"/>
          <p:nvPr/>
        </p:nvSpPr>
        <p:spPr>
          <a:xfrm>
            <a:off x="856074" y="29706435"/>
            <a:ext cx="14970563" cy="13232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4000" b="1" i="0" spc="170" dirty="0">
                <a:solidFill>
                  <a:srgbClr val="1482A5"/>
                </a:solidFill>
                <a:latin typeface="Arial"/>
              </a:rPr>
              <a:t>IMPACT? The pre-processing bottleneck disappears, over 20× faster than spectrogram-based pipelines.</a:t>
            </a:r>
            <a:endParaRPr sz="4000" b="1" i="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9B2389F-AE6A-156C-5B99-4A2D24BFF8CE}"/>
              </a:ext>
            </a:extLst>
          </p:cNvPr>
          <p:cNvSpPr txBox="1"/>
          <p:nvPr/>
        </p:nvSpPr>
        <p:spPr>
          <a:xfrm>
            <a:off x="27340560" y="26609040"/>
            <a:ext cx="160934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discriminator checks the upper and lower envelopes, so a synthetic sample must be physically plausible to count as real.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convolutional autoencoder pre-trains on them, then fine-tunes on a small pool of real data.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6EB0AA28-5E11-440C-85C7-7167992E806B}"/>
              </a:ext>
            </a:extLst>
          </p:cNvPr>
          <p:cNvSpPr/>
          <p:nvPr/>
        </p:nvSpPr>
        <p:spPr>
          <a:xfrm>
            <a:off x="27340560" y="29463297"/>
            <a:ext cx="16184880" cy="1744674"/>
          </a:xfrm>
          <a:prstGeom prst="rect">
            <a:avLst/>
          </a:prstGeom>
          <a:solidFill>
            <a:srgbClr val="E6F1F6"/>
          </a:solidFill>
          <a:ln w="38100">
            <a:solidFill>
              <a:srgbClr val="1482A5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7330F02-FCCD-D887-B188-DDD4E82A8082}"/>
              </a:ext>
            </a:extLst>
          </p:cNvPr>
          <p:cNvSpPr txBox="1"/>
          <p:nvPr/>
        </p:nvSpPr>
        <p:spPr>
          <a:xfrm>
            <a:off x="27879138" y="29609866"/>
            <a:ext cx="14970563" cy="13232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4000" b="1" i="0" spc="170" dirty="0">
                <a:solidFill>
                  <a:srgbClr val="1482A5"/>
                </a:solidFill>
                <a:latin typeface="Arial"/>
              </a:rPr>
              <a:t>IMPACT? 92% accuracy with only 2.4 M parameters, learned from a small pool of real data.</a:t>
            </a:r>
            <a:endParaRPr sz="4000" b="1" i="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pic>
        <p:nvPicPr>
          <p:cNvPr id="202" name="Picture 201">
            <a:extLst>
              <a:ext uri="{FF2B5EF4-FFF2-40B4-BE49-F238E27FC236}">
                <a16:creationId xmlns:a16="http://schemas.microsoft.com/office/drawing/2014/main" id="{1DA63793-7780-7810-7744-34089E4E7D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3545" y="722230"/>
            <a:ext cx="2419350" cy="2390775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F74DCF3E-948F-7014-6E24-3535CB01FE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507" y="-349399"/>
            <a:ext cx="7166381" cy="6046634"/>
          </a:xfrm>
          <a:prstGeom prst="rect">
            <a:avLst/>
          </a:prstGeom>
        </p:spPr>
      </p:pic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E60B5D1-D5CA-E621-0EA6-BB7B95B9CB93}"/>
              </a:ext>
            </a:extLst>
          </p:cNvPr>
          <p:cNvGrpSpPr/>
          <p:nvPr/>
        </p:nvGrpSpPr>
        <p:grpSpPr>
          <a:xfrm>
            <a:off x="16712482" y="22213247"/>
            <a:ext cx="10058400" cy="8467535"/>
            <a:chOff x="45720" y="45720"/>
            <a:chExt cx="10058400" cy="7502393"/>
          </a:xfrm>
        </p:grpSpPr>
        <p:sp>
          <p:nvSpPr>
            <p:cNvPr id="9601" name="Rounded Rectangle 1">
              <a:extLst>
                <a:ext uri="{FF2B5EF4-FFF2-40B4-BE49-F238E27FC236}">
                  <a16:creationId xmlns:a16="http://schemas.microsoft.com/office/drawing/2014/main" id="{CF3DBA5D-FB52-811D-2CD0-73B39A75D4BD}"/>
                </a:ext>
              </a:extLst>
            </p:cNvPr>
            <p:cNvSpPr/>
            <p:nvPr/>
          </p:nvSpPr>
          <p:spPr>
            <a:xfrm>
              <a:off x="45720" y="45720"/>
              <a:ext cx="10058400" cy="7502393"/>
            </a:xfrm>
            <a:prstGeom prst="roundRect">
              <a:avLst>
                <a:gd name="adj" fmla="val 2000"/>
              </a:avLst>
            </a:prstGeom>
            <a:solidFill>
              <a:srgbClr val="FAFCFD"/>
            </a:solidFill>
            <a:ln w="38100">
              <a:solidFill>
                <a:srgbClr val="23507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602" name="TextBox 147">
              <a:extLst>
                <a:ext uri="{FF2B5EF4-FFF2-40B4-BE49-F238E27FC236}">
                  <a16:creationId xmlns:a16="http://schemas.microsoft.com/office/drawing/2014/main" id="{D602C21B-FAB4-F6E0-D47F-DDAC1C78DD79}"/>
                </a:ext>
              </a:extLst>
            </p:cNvPr>
            <p:cNvSpPr txBox="1"/>
            <p:nvPr/>
          </p:nvSpPr>
          <p:spPr>
            <a:xfrm>
              <a:off x="45720" y="292608"/>
              <a:ext cx="10058400" cy="6583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3200" b="1" spc="190">
                  <a:solidFill>
                    <a:srgbClr val="235078"/>
                  </a:solidFill>
                  <a:latin typeface="Arial"/>
                </a:rPr>
                <a:t>PERFORMANCE vs STATE OF THE ART</a:t>
              </a:r>
            </a:p>
          </p:txBody>
        </p:sp>
        <p:sp>
          <p:nvSpPr>
            <p:cNvPr id="9603" name="Rounded Rectangle 3">
              <a:extLst>
                <a:ext uri="{FF2B5EF4-FFF2-40B4-BE49-F238E27FC236}">
                  <a16:creationId xmlns:a16="http://schemas.microsoft.com/office/drawing/2014/main" id="{E824DC75-7B9C-5E59-0701-6D6A509CA945}"/>
                </a:ext>
              </a:extLst>
            </p:cNvPr>
            <p:cNvSpPr/>
            <p:nvPr/>
          </p:nvSpPr>
          <p:spPr>
            <a:xfrm>
              <a:off x="365760" y="1133856"/>
              <a:ext cx="9418320" cy="1920240"/>
            </a:xfrm>
            <a:prstGeom prst="roundRect">
              <a:avLst>
                <a:gd name="adj" fmla="val 6000"/>
              </a:avLst>
            </a:prstGeom>
            <a:solidFill>
              <a:srgbClr val="F2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604" name="TextBox 149">
              <a:extLst>
                <a:ext uri="{FF2B5EF4-FFF2-40B4-BE49-F238E27FC236}">
                  <a16:creationId xmlns:a16="http://schemas.microsoft.com/office/drawing/2014/main" id="{24BE2463-912E-DB21-D5D7-483867C87745}"/>
                </a:ext>
              </a:extLst>
            </p:cNvPr>
            <p:cNvSpPr txBox="1"/>
            <p:nvPr/>
          </p:nvSpPr>
          <p:spPr>
            <a:xfrm>
              <a:off x="502920" y="1133856"/>
              <a:ext cx="3017520" cy="19202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400" b="1">
                  <a:solidFill>
                    <a:srgbClr val="1482A5"/>
                  </a:solidFill>
                  <a:latin typeface="Arial"/>
                </a:rPr>
                <a:t>92%</a:t>
              </a:r>
            </a:p>
          </p:txBody>
        </p:sp>
        <p:sp>
          <p:nvSpPr>
            <p:cNvPr id="9605" name="TextBox 150">
              <a:extLst>
                <a:ext uri="{FF2B5EF4-FFF2-40B4-BE49-F238E27FC236}">
                  <a16:creationId xmlns:a16="http://schemas.microsoft.com/office/drawing/2014/main" id="{5A9B8904-481A-DBB7-1B94-EFC2386196A9}"/>
                </a:ext>
              </a:extLst>
            </p:cNvPr>
            <p:cNvSpPr txBox="1"/>
            <p:nvPr/>
          </p:nvSpPr>
          <p:spPr>
            <a:xfrm>
              <a:off x="3611880" y="1133856"/>
              <a:ext cx="5897880" cy="19202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6000"/>
                </a:lnSpc>
              </a:pPr>
              <a:r>
                <a:rPr sz="3600" b="1">
                  <a:solidFill>
                    <a:srgbClr val="235078"/>
                  </a:solidFill>
                  <a:latin typeface="Arial"/>
                </a:rPr>
                <a:t>overall accuracy</a:t>
              </a:r>
            </a:p>
            <a:p>
              <a:pPr algn="l">
                <a:lnSpc>
                  <a:spcPct val="110000"/>
                </a:lnSpc>
                <a:spcBef>
                  <a:spcPts val="900"/>
                </a:spcBef>
              </a:pPr>
              <a:r>
                <a:rPr sz="2700" b="0">
                  <a:solidFill>
                    <a:srgbClr val="3E5163"/>
                  </a:solidFill>
                  <a:latin typeface="Calibri"/>
                </a:rPr>
                <a:t>PhGAN pipeline  vs  82%  (ViT-B/16)</a:t>
              </a:r>
            </a:p>
          </p:txBody>
        </p:sp>
        <p:sp>
          <p:nvSpPr>
            <p:cNvPr id="9606" name="Rounded Rectangle 6">
              <a:extLst>
                <a:ext uri="{FF2B5EF4-FFF2-40B4-BE49-F238E27FC236}">
                  <a16:creationId xmlns:a16="http://schemas.microsoft.com/office/drawing/2014/main" id="{83132B90-C22D-4BD8-8B82-2F99823E1DFB}"/>
                </a:ext>
              </a:extLst>
            </p:cNvPr>
            <p:cNvSpPr/>
            <p:nvPr/>
          </p:nvSpPr>
          <p:spPr>
            <a:xfrm>
              <a:off x="365760" y="3255263"/>
              <a:ext cx="9418320" cy="1920240"/>
            </a:xfrm>
            <a:prstGeom prst="roundRect">
              <a:avLst>
                <a:gd name="adj" fmla="val 6000"/>
              </a:avLst>
            </a:prstGeom>
            <a:solidFill>
              <a:srgbClr val="F2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607" name="TextBox 152">
              <a:extLst>
                <a:ext uri="{FF2B5EF4-FFF2-40B4-BE49-F238E27FC236}">
                  <a16:creationId xmlns:a16="http://schemas.microsoft.com/office/drawing/2014/main" id="{EFDBF0D4-954D-AB97-DC2B-D588CCD69731}"/>
                </a:ext>
              </a:extLst>
            </p:cNvPr>
            <p:cNvSpPr txBox="1"/>
            <p:nvPr/>
          </p:nvSpPr>
          <p:spPr>
            <a:xfrm>
              <a:off x="502920" y="3255263"/>
              <a:ext cx="3017520" cy="19202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400" b="1">
                  <a:solidFill>
                    <a:srgbClr val="235078"/>
                  </a:solidFill>
                  <a:latin typeface="Arial"/>
                </a:rPr>
                <a:t>&gt;20×</a:t>
              </a:r>
            </a:p>
          </p:txBody>
        </p:sp>
        <p:sp>
          <p:nvSpPr>
            <p:cNvPr id="9608" name="TextBox 153">
              <a:extLst>
                <a:ext uri="{FF2B5EF4-FFF2-40B4-BE49-F238E27FC236}">
                  <a16:creationId xmlns:a16="http://schemas.microsoft.com/office/drawing/2014/main" id="{EDE629F0-4726-499F-2142-9F0D0E7E1370}"/>
                </a:ext>
              </a:extLst>
            </p:cNvPr>
            <p:cNvSpPr txBox="1"/>
            <p:nvPr/>
          </p:nvSpPr>
          <p:spPr>
            <a:xfrm>
              <a:off x="3611880" y="3255263"/>
              <a:ext cx="5897880" cy="19202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6000"/>
                </a:lnSpc>
              </a:pPr>
              <a:r>
                <a:rPr sz="3600" b="1">
                  <a:solidFill>
                    <a:srgbClr val="235078"/>
                  </a:solidFill>
                  <a:latin typeface="Arial"/>
                </a:rPr>
                <a:t>faster pre-processing</a:t>
              </a:r>
            </a:p>
            <a:p>
              <a:pPr algn="l">
                <a:lnSpc>
                  <a:spcPct val="110000"/>
                </a:lnSpc>
                <a:spcBef>
                  <a:spcPts val="900"/>
                </a:spcBef>
              </a:pPr>
              <a:r>
                <a:rPr sz="2700" b="0">
                  <a:solidFill>
                    <a:srgbClr val="3E5163"/>
                  </a:solidFill>
                  <a:latin typeface="Calibri"/>
                </a:rPr>
                <a:t>CV-SincNet  ·  no spectrogram formed</a:t>
              </a:r>
            </a:p>
          </p:txBody>
        </p:sp>
        <p:sp>
          <p:nvSpPr>
            <p:cNvPr id="9609" name="Rounded Rectangle 12">
              <a:extLst>
                <a:ext uri="{FF2B5EF4-FFF2-40B4-BE49-F238E27FC236}">
                  <a16:creationId xmlns:a16="http://schemas.microsoft.com/office/drawing/2014/main" id="{4A759C53-2C79-973F-5C40-E8E57F02EC81}"/>
                </a:ext>
              </a:extLst>
            </p:cNvPr>
            <p:cNvSpPr/>
            <p:nvPr/>
          </p:nvSpPr>
          <p:spPr>
            <a:xfrm>
              <a:off x="365760" y="5341488"/>
              <a:ext cx="9418320" cy="1920240"/>
            </a:xfrm>
            <a:prstGeom prst="roundRect">
              <a:avLst>
                <a:gd name="adj" fmla="val 6000"/>
              </a:avLst>
            </a:prstGeom>
            <a:solidFill>
              <a:srgbClr val="F2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610" name="TextBox 155">
              <a:extLst>
                <a:ext uri="{FF2B5EF4-FFF2-40B4-BE49-F238E27FC236}">
                  <a16:creationId xmlns:a16="http://schemas.microsoft.com/office/drawing/2014/main" id="{45AC4E99-B516-307B-72E0-B2395E926759}"/>
                </a:ext>
              </a:extLst>
            </p:cNvPr>
            <p:cNvSpPr txBox="1"/>
            <p:nvPr/>
          </p:nvSpPr>
          <p:spPr>
            <a:xfrm>
              <a:off x="502920" y="5341488"/>
              <a:ext cx="3017520" cy="19202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400" b="1">
                  <a:solidFill>
                    <a:srgbClr val="C8102E"/>
                  </a:solidFill>
                  <a:latin typeface="Arial"/>
                </a:rPr>
                <a:t>36×</a:t>
              </a:r>
            </a:p>
          </p:txBody>
        </p:sp>
        <p:sp>
          <p:nvSpPr>
            <p:cNvPr id="9611" name="TextBox 156">
              <a:extLst>
                <a:ext uri="{FF2B5EF4-FFF2-40B4-BE49-F238E27FC236}">
                  <a16:creationId xmlns:a16="http://schemas.microsoft.com/office/drawing/2014/main" id="{A2C1EE0C-6714-2579-6792-61FADC16B6E0}"/>
                </a:ext>
              </a:extLst>
            </p:cNvPr>
            <p:cNvSpPr txBox="1"/>
            <p:nvPr/>
          </p:nvSpPr>
          <p:spPr>
            <a:xfrm>
              <a:off x="3611880" y="5341488"/>
              <a:ext cx="5897880" cy="19202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6000"/>
                </a:lnSpc>
              </a:pPr>
              <a:r>
                <a:rPr sz="3600" b="1">
                  <a:solidFill>
                    <a:srgbClr val="235078"/>
                  </a:solidFill>
                  <a:latin typeface="Arial"/>
                </a:rPr>
                <a:t>fewer parameters</a:t>
              </a:r>
            </a:p>
            <a:p>
              <a:pPr algn="l">
                <a:lnSpc>
                  <a:spcPct val="110000"/>
                </a:lnSpc>
                <a:spcBef>
                  <a:spcPts val="900"/>
                </a:spcBef>
              </a:pPr>
              <a:r>
                <a:rPr sz="2700" b="0">
                  <a:solidFill>
                    <a:srgbClr val="3E5163"/>
                  </a:solidFill>
                  <a:latin typeface="Calibri"/>
                </a:rPr>
                <a:t>2.4 M  vs  85.8 M   (ViT-B/16)</a:t>
              </a:r>
            </a:p>
          </p:txBody>
        </p:sp>
      </p:grpSp>
      <p:grpSp>
        <p:nvGrpSpPr>
          <p:cNvPr id="9100" name="GraphicalAbstract"/>
          <p:cNvGrpSpPr/>
          <p:nvPr/>
        </p:nvGrpSpPr>
        <p:grpSpPr>
          <a:xfrm>
            <a:off x="11481098" y="7635240"/>
            <a:ext cx="16265562" cy="10241280"/>
            <a:chOff x="516635" y="9338471"/>
            <a:chExt cx="10863072" cy="6839712"/>
          </a:xfrm>
        </p:grpSpPr>
        <p:grpSp>
          <p:nvGrpSpPr>
            <p:cNvPr id="9612" name="Group 289">
              <a:extLst>
                <a:ext uri="{FF2B5EF4-FFF2-40B4-BE49-F238E27FC236}">
                  <a16:creationId xmlns:a16="http://schemas.microsoft.com/office/drawing/2014/main" id="{B44210A9-49E7-056E-414A-6ED2DF2F576D}"/>
                </a:ext>
              </a:extLst>
            </p:cNvPr>
            <p:cNvGrpSpPr/>
            <p:nvPr/>
          </p:nvGrpSpPr>
          <p:grpSpPr>
            <a:xfrm>
              <a:off x="516635" y="9338471"/>
              <a:ext cx="10863072" cy="6839712"/>
              <a:chOff x="502920" y="9646920"/>
              <a:chExt cx="10863072" cy="6839712"/>
            </a:xfrm>
          </p:grpSpPr>
          <p:sp>
            <p:nvSpPr>
              <p:cNvPr id="9613" name="frame">
                <a:extLst>
                  <a:ext uri="{FF2B5EF4-FFF2-40B4-BE49-F238E27FC236}">
                    <a16:creationId xmlns:a16="http://schemas.microsoft.com/office/drawing/2014/main" id="{F298C350-FC5A-21AC-6A58-603F4D851900}"/>
                  </a:ext>
                </a:extLst>
              </p:cNvPr>
              <p:cNvSpPr/>
              <p:nvPr/>
            </p:nvSpPr>
            <p:spPr>
              <a:xfrm>
                <a:off x="502920" y="9646920"/>
                <a:ext cx="10863072" cy="6839712"/>
              </a:xfrm>
              <a:prstGeom prst="roundRect">
                <a:avLst>
                  <a:gd name="adj" fmla="val 2000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CE7EE"/>
                  </a:gs>
                </a:gsLst>
                <a:lin ang="16200000" scaled="0"/>
              </a:gradFill>
              <a:ln w="28524">
                <a:solidFill>
                  <a:srgbClr val="A6B2B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14" name="skyline">
                <a:extLst>
                  <a:ext uri="{FF2B5EF4-FFF2-40B4-BE49-F238E27FC236}">
                    <a16:creationId xmlns:a16="http://schemas.microsoft.com/office/drawing/2014/main" id="{709D49B9-403D-7D18-0283-BB2D913F5A99}"/>
                  </a:ext>
                </a:extLst>
              </p:cNvPr>
              <p:cNvSpPr/>
              <p:nvPr/>
            </p:nvSpPr>
            <p:spPr>
              <a:xfrm>
                <a:off x="813816" y="14036040"/>
                <a:ext cx="493776" cy="1408176"/>
              </a:xfrm>
              <a:prstGeom prst="rect">
                <a:avLst/>
              </a:prstGeom>
              <a:solidFill>
                <a:srgbClr val="D9E1E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15" name="Rectangle 4">
                <a:extLst>
                  <a:ext uri="{FF2B5EF4-FFF2-40B4-BE49-F238E27FC236}">
                    <a16:creationId xmlns:a16="http://schemas.microsoft.com/office/drawing/2014/main" id="{24582E04-8115-67CD-C811-37E4D5FD814A}"/>
                  </a:ext>
                </a:extLst>
              </p:cNvPr>
              <p:cNvSpPr/>
              <p:nvPr/>
            </p:nvSpPr>
            <p:spPr>
              <a:xfrm>
                <a:off x="914400" y="14200632"/>
                <a:ext cx="91440" cy="137160"/>
              </a:xfrm>
              <a:prstGeom prst="rect">
                <a:avLst/>
              </a:prstGeom>
              <a:solidFill>
                <a:srgbClr val="EFF3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16" name="Rectangle 5">
                <a:extLst>
                  <a:ext uri="{FF2B5EF4-FFF2-40B4-BE49-F238E27FC236}">
                    <a16:creationId xmlns:a16="http://schemas.microsoft.com/office/drawing/2014/main" id="{7D5D1B00-AC19-4855-AC5D-D7B6E7F2BB72}"/>
                  </a:ext>
                </a:extLst>
              </p:cNvPr>
              <p:cNvSpPr/>
              <p:nvPr/>
            </p:nvSpPr>
            <p:spPr>
              <a:xfrm>
                <a:off x="914400" y="14511528"/>
                <a:ext cx="91440" cy="137160"/>
              </a:xfrm>
              <a:prstGeom prst="rect">
                <a:avLst/>
              </a:prstGeom>
              <a:solidFill>
                <a:srgbClr val="EFF3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17" name="Rectangle 6">
                <a:extLst>
                  <a:ext uri="{FF2B5EF4-FFF2-40B4-BE49-F238E27FC236}">
                    <a16:creationId xmlns:a16="http://schemas.microsoft.com/office/drawing/2014/main" id="{CA859529-5706-2D65-3DD5-1A814C9570A2}"/>
                  </a:ext>
                </a:extLst>
              </p:cNvPr>
              <p:cNvSpPr/>
              <p:nvPr/>
            </p:nvSpPr>
            <p:spPr>
              <a:xfrm>
                <a:off x="914400" y="14822424"/>
                <a:ext cx="91440" cy="137160"/>
              </a:xfrm>
              <a:prstGeom prst="rect">
                <a:avLst/>
              </a:prstGeom>
              <a:solidFill>
                <a:srgbClr val="EFF3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18" name="skyline">
                <a:extLst>
                  <a:ext uri="{FF2B5EF4-FFF2-40B4-BE49-F238E27FC236}">
                    <a16:creationId xmlns:a16="http://schemas.microsoft.com/office/drawing/2014/main" id="{7907A676-D9E0-2B93-9EBF-2C5A2B64C53C}"/>
                  </a:ext>
                </a:extLst>
              </p:cNvPr>
              <p:cNvSpPr/>
              <p:nvPr/>
            </p:nvSpPr>
            <p:spPr>
              <a:xfrm>
                <a:off x="1399032" y="14273784"/>
                <a:ext cx="402336" cy="1170432"/>
              </a:xfrm>
              <a:prstGeom prst="rect">
                <a:avLst/>
              </a:prstGeom>
              <a:solidFill>
                <a:srgbClr val="D9E1E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19" name="Rectangle 8">
                <a:extLst>
                  <a:ext uri="{FF2B5EF4-FFF2-40B4-BE49-F238E27FC236}">
                    <a16:creationId xmlns:a16="http://schemas.microsoft.com/office/drawing/2014/main" id="{5F3139CA-AE5C-393E-28FD-0E99AD0997F8}"/>
                  </a:ext>
                </a:extLst>
              </p:cNvPr>
              <p:cNvSpPr/>
              <p:nvPr/>
            </p:nvSpPr>
            <p:spPr>
              <a:xfrm>
                <a:off x="1499616" y="14438376"/>
                <a:ext cx="91440" cy="137160"/>
              </a:xfrm>
              <a:prstGeom prst="rect">
                <a:avLst/>
              </a:prstGeom>
              <a:solidFill>
                <a:srgbClr val="EFF3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20" name="Rectangle 9">
                <a:extLst>
                  <a:ext uri="{FF2B5EF4-FFF2-40B4-BE49-F238E27FC236}">
                    <a16:creationId xmlns:a16="http://schemas.microsoft.com/office/drawing/2014/main" id="{843D0202-FC04-B252-38DC-10E425245F68}"/>
                  </a:ext>
                </a:extLst>
              </p:cNvPr>
              <p:cNvSpPr/>
              <p:nvPr/>
            </p:nvSpPr>
            <p:spPr>
              <a:xfrm>
                <a:off x="1499616" y="14749272"/>
                <a:ext cx="91440" cy="137160"/>
              </a:xfrm>
              <a:prstGeom prst="rect">
                <a:avLst/>
              </a:prstGeom>
              <a:solidFill>
                <a:srgbClr val="EFF3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21" name="Rectangle 10">
                <a:extLst>
                  <a:ext uri="{FF2B5EF4-FFF2-40B4-BE49-F238E27FC236}">
                    <a16:creationId xmlns:a16="http://schemas.microsoft.com/office/drawing/2014/main" id="{126F0418-596A-89D3-C377-2EE27E778B4C}"/>
                  </a:ext>
                </a:extLst>
              </p:cNvPr>
              <p:cNvSpPr/>
              <p:nvPr/>
            </p:nvSpPr>
            <p:spPr>
              <a:xfrm>
                <a:off x="1499616" y="15060168"/>
                <a:ext cx="91440" cy="137160"/>
              </a:xfrm>
              <a:prstGeom prst="rect">
                <a:avLst/>
              </a:prstGeom>
              <a:solidFill>
                <a:srgbClr val="EFF3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22" name="skyline">
                <a:extLst>
                  <a:ext uri="{FF2B5EF4-FFF2-40B4-BE49-F238E27FC236}">
                    <a16:creationId xmlns:a16="http://schemas.microsoft.com/office/drawing/2014/main" id="{5661D872-8228-B531-A077-72CD16B91382}"/>
                  </a:ext>
                </a:extLst>
              </p:cNvPr>
              <p:cNvSpPr/>
              <p:nvPr/>
            </p:nvSpPr>
            <p:spPr>
              <a:xfrm>
                <a:off x="1892808" y="13889736"/>
                <a:ext cx="438912" cy="1554480"/>
              </a:xfrm>
              <a:prstGeom prst="rect">
                <a:avLst/>
              </a:prstGeom>
              <a:solidFill>
                <a:srgbClr val="D9E1E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23" name="Rectangle 12">
                <a:extLst>
                  <a:ext uri="{FF2B5EF4-FFF2-40B4-BE49-F238E27FC236}">
                    <a16:creationId xmlns:a16="http://schemas.microsoft.com/office/drawing/2014/main" id="{9A09D790-B59B-C68A-3380-F118A29807F1}"/>
                  </a:ext>
                </a:extLst>
              </p:cNvPr>
              <p:cNvSpPr/>
              <p:nvPr/>
            </p:nvSpPr>
            <p:spPr>
              <a:xfrm>
                <a:off x="1993392" y="14054328"/>
                <a:ext cx="91440" cy="137160"/>
              </a:xfrm>
              <a:prstGeom prst="rect">
                <a:avLst/>
              </a:prstGeom>
              <a:solidFill>
                <a:srgbClr val="EFF3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24" name="Rectangle 13">
                <a:extLst>
                  <a:ext uri="{FF2B5EF4-FFF2-40B4-BE49-F238E27FC236}">
                    <a16:creationId xmlns:a16="http://schemas.microsoft.com/office/drawing/2014/main" id="{7B7C6C55-2AE8-59B4-5B8D-D878E4237293}"/>
                  </a:ext>
                </a:extLst>
              </p:cNvPr>
              <p:cNvSpPr/>
              <p:nvPr/>
            </p:nvSpPr>
            <p:spPr>
              <a:xfrm>
                <a:off x="1993392" y="14365224"/>
                <a:ext cx="91440" cy="137160"/>
              </a:xfrm>
              <a:prstGeom prst="rect">
                <a:avLst/>
              </a:prstGeom>
              <a:solidFill>
                <a:srgbClr val="EFF3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25" name="Rectangle 14">
                <a:extLst>
                  <a:ext uri="{FF2B5EF4-FFF2-40B4-BE49-F238E27FC236}">
                    <a16:creationId xmlns:a16="http://schemas.microsoft.com/office/drawing/2014/main" id="{F2B6A4F2-803D-DE02-C8E2-B5297637256F}"/>
                  </a:ext>
                </a:extLst>
              </p:cNvPr>
              <p:cNvSpPr/>
              <p:nvPr/>
            </p:nvSpPr>
            <p:spPr>
              <a:xfrm>
                <a:off x="1993392" y="14676120"/>
                <a:ext cx="91440" cy="137160"/>
              </a:xfrm>
              <a:prstGeom prst="rect">
                <a:avLst/>
              </a:prstGeom>
              <a:solidFill>
                <a:srgbClr val="EFF3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26" name="Rectangle 15">
                <a:extLst>
                  <a:ext uri="{FF2B5EF4-FFF2-40B4-BE49-F238E27FC236}">
                    <a16:creationId xmlns:a16="http://schemas.microsoft.com/office/drawing/2014/main" id="{BAE9C618-E252-A08D-AA6C-F8589075A88F}"/>
                  </a:ext>
                </a:extLst>
              </p:cNvPr>
              <p:cNvSpPr/>
              <p:nvPr/>
            </p:nvSpPr>
            <p:spPr>
              <a:xfrm>
                <a:off x="1993392" y="14987016"/>
                <a:ext cx="91440" cy="137160"/>
              </a:xfrm>
              <a:prstGeom prst="rect">
                <a:avLst/>
              </a:prstGeom>
              <a:solidFill>
                <a:srgbClr val="EFF3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27" name="street">
                <a:extLst>
                  <a:ext uri="{FF2B5EF4-FFF2-40B4-BE49-F238E27FC236}">
                    <a16:creationId xmlns:a16="http://schemas.microsoft.com/office/drawing/2014/main" id="{B21D42AD-BDA6-F8CE-6216-E2971B7EC69C}"/>
                  </a:ext>
                </a:extLst>
              </p:cNvPr>
              <p:cNvSpPr/>
              <p:nvPr/>
            </p:nvSpPr>
            <p:spPr>
              <a:xfrm>
                <a:off x="521208" y="15444216"/>
                <a:ext cx="10826496" cy="1024128"/>
              </a:xfrm>
              <a:prstGeom prst="rect">
                <a:avLst/>
              </a:prstGeom>
              <a:solidFill>
                <a:srgbClr val="C6D0D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cxnSp>
            <p:nvCxnSpPr>
              <p:cNvPr id="9628" name="Connector 16">
                <a:extLst>
                  <a:ext uri="{FF2B5EF4-FFF2-40B4-BE49-F238E27FC236}">
                    <a16:creationId xmlns:a16="http://schemas.microsoft.com/office/drawing/2014/main" id="{DEBB445A-3399-E666-4F29-C36F098FAC97}"/>
                  </a:ext>
                </a:extLst>
              </p:cNvPr>
              <p:cNvCxnSpPr/>
              <p:nvPr/>
            </p:nvCxnSpPr>
            <p:spPr>
              <a:xfrm>
                <a:off x="521208" y="15444216"/>
                <a:ext cx="10826496" cy="0"/>
              </a:xfrm>
              <a:prstGeom prst="line">
                <a:avLst/>
              </a:prstGeom>
              <a:ln w="41075">
                <a:solidFill>
                  <a:srgbClr val="5F6E7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29" name="beam_wedge">
                <a:extLst>
                  <a:ext uri="{FF2B5EF4-FFF2-40B4-BE49-F238E27FC236}">
                    <a16:creationId xmlns:a16="http://schemas.microsoft.com/office/drawing/2014/main" id="{C1E74E60-2492-8270-D55B-FA10B6EF365C}"/>
                  </a:ext>
                </a:extLst>
              </p:cNvPr>
              <p:cNvSpPr/>
              <p:nvPr/>
            </p:nvSpPr>
            <p:spPr>
              <a:xfrm>
                <a:off x="3300984" y="11201400"/>
                <a:ext cx="1463040" cy="4187952"/>
              </a:xfrm>
              <a:custGeom>
                <a:avLst/>
                <a:gdLst/>
                <a:ahLst/>
                <a:cxnLst/>
                <a:rect l="l" t="t" r="r" b="b"/>
                <a:pathLst>
                  <a:path w="1463040" h="4187952">
                    <a:moveTo>
                      <a:pt x="0" y="2468880"/>
                    </a:moveTo>
                    <a:lnTo>
                      <a:pt x="1463040" y="0"/>
                    </a:lnTo>
                    <a:lnTo>
                      <a:pt x="1463040" y="4187952"/>
                    </a:lnTo>
                    <a:close/>
                  </a:path>
                </a:pathLst>
              </a:custGeom>
              <a:solidFill>
                <a:srgbClr val="C7E2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30" name="building_shell">
                <a:extLst>
                  <a:ext uri="{FF2B5EF4-FFF2-40B4-BE49-F238E27FC236}">
                    <a16:creationId xmlns:a16="http://schemas.microsoft.com/office/drawing/2014/main" id="{A33438E6-FF80-4315-374C-6214D321CAEA}"/>
                  </a:ext>
                </a:extLst>
              </p:cNvPr>
              <p:cNvSpPr/>
              <p:nvPr/>
            </p:nvSpPr>
            <p:spPr>
              <a:xfrm>
                <a:off x="4764024" y="10945368"/>
                <a:ext cx="6309360" cy="4498848"/>
              </a:xfrm>
              <a:custGeom>
                <a:avLst/>
                <a:gdLst/>
                <a:ahLst/>
                <a:cxnLst/>
                <a:rect l="l" t="t" r="r" b="b"/>
                <a:pathLst>
                  <a:path w="6309360" h="4498848">
                    <a:moveTo>
                      <a:pt x="0" y="4498848"/>
                    </a:moveTo>
                    <a:lnTo>
                      <a:pt x="0" y="0"/>
                    </a:lnTo>
                    <a:lnTo>
                      <a:pt x="2011680" y="0"/>
                    </a:lnTo>
                    <a:lnTo>
                      <a:pt x="2633472" y="566928"/>
                    </a:lnTo>
                    <a:lnTo>
                      <a:pt x="3950208" y="292608"/>
                    </a:lnTo>
                    <a:lnTo>
                      <a:pt x="4901184" y="877824"/>
                    </a:lnTo>
                    <a:lnTo>
                      <a:pt x="6309360" y="621792"/>
                    </a:lnTo>
                    <a:lnTo>
                      <a:pt x="6309360" y="4498848"/>
                    </a:lnTo>
                    <a:close/>
                  </a:path>
                </a:pathLst>
              </a:custGeom>
              <a:solidFill>
                <a:srgbClr val="F0F4F7"/>
              </a:solidFill>
              <a:ln w="47540">
                <a:solidFill>
                  <a:srgbClr val="2E3B4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31" name="wall_front_cut">
                <a:extLst>
                  <a:ext uri="{FF2B5EF4-FFF2-40B4-BE49-F238E27FC236}">
                    <a16:creationId xmlns:a16="http://schemas.microsoft.com/office/drawing/2014/main" id="{8AA46CEB-64B7-F6C3-20D4-2B21306D32FA}"/>
                  </a:ext>
                </a:extLst>
              </p:cNvPr>
              <p:cNvSpPr/>
              <p:nvPr/>
            </p:nvSpPr>
            <p:spPr>
              <a:xfrm>
                <a:off x="4764024" y="10945368"/>
                <a:ext cx="310896" cy="4498848"/>
              </a:xfrm>
              <a:prstGeom prst="rect">
                <a:avLst/>
              </a:prstGeom>
              <a:solidFill>
                <a:srgbClr val="B07A56"/>
              </a:solidFill>
              <a:ln w="38032">
                <a:solidFill>
                  <a:srgbClr val="2E3B4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cxnSp>
            <p:nvCxnSpPr>
              <p:cNvPr id="9632" name="Connector 20">
                <a:extLst>
                  <a:ext uri="{FF2B5EF4-FFF2-40B4-BE49-F238E27FC236}">
                    <a16:creationId xmlns:a16="http://schemas.microsoft.com/office/drawing/2014/main" id="{6262B008-D669-AAFC-FFBB-7FB2A64295B1}"/>
                  </a:ext>
                </a:extLst>
              </p:cNvPr>
              <p:cNvCxnSpPr/>
              <p:nvPr/>
            </p:nvCxnSpPr>
            <p:spPr>
              <a:xfrm>
                <a:off x="4764024" y="11091672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33" name="Connector 21">
                <a:extLst>
                  <a:ext uri="{FF2B5EF4-FFF2-40B4-BE49-F238E27FC236}">
                    <a16:creationId xmlns:a16="http://schemas.microsoft.com/office/drawing/2014/main" id="{EA82CF05-EC2B-2B68-4365-CFCD8FE79B43}"/>
                  </a:ext>
                </a:extLst>
              </p:cNvPr>
              <p:cNvCxnSpPr/>
              <p:nvPr/>
            </p:nvCxnSpPr>
            <p:spPr>
              <a:xfrm>
                <a:off x="4764024" y="11365992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34" name="Connector 22">
                <a:extLst>
                  <a:ext uri="{FF2B5EF4-FFF2-40B4-BE49-F238E27FC236}">
                    <a16:creationId xmlns:a16="http://schemas.microsoft.com/office/drawing/2014/main" id="{6E9BF4AF-DD94-7568-E0DB-71FAAEA55748}"/>
                  </a:ext>
                </a:extLst>
              </p:cNvPr>
              <p:cNvCxnSpPr/>
              <p:nvPr/>
            </p:nvCxnSpPr>
            <p:spPr>
              <a:xfrm>
                <a:off x="4764024" y="11640312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35" name="Connector 23">
                <a:extLst>
                  <a:ext uri="{FF2B5EF4-FFF2-40B4-BE49-F238E27FC236}">
                    <a16:creationId xmlns:a16="http://schemas.microsoft.com/office/drawing/2014/main" id="{F5A67134-49CF-E25A-E5C9-EA4FD29E9CD0}"/>
                  </a:ext>
                </a:extLst>
              </p:cNvPr>
              <p:cNvCxnSpPr/>
              <p:nvPr/>
            </p:nvCxnSpPr>
            <p:spPr>
              <a:xfrm>
                <a:off x="4764024" y="11914632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36" name="Connector 24">
                <a:extLst>
                  <a:ext uri="{FF2B5EF4-FFF2-40B4-BE49-F238E27FC236}">
                    <a16:creationId xmlns:a16="http://schemas.microsoft.com/office/drawing/2014/main" id="{7E495F0A-70D2-4DCE-30A8-1C3A39955D1F}"/>
                  </a:ext>
                </a:extLst>
              </p:cNvPr>
              <p:cNvCxnSpPr/>
              <p:nvPr/>
            </p:nvCxnSpPr>
            <p:spPr>
              <a:xfrm>
                <a:off x="4764024" y="12188952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37" name="Connector 25">
                <a:extLst>
                  <a:ext uri="{FF2B5EF4-FFF2-40B4-BE49-F238E27FC236}">
                    <a16:creationId xmlns:a16="http://schemas.microsoft.com/office/drawing/2014/main" id="{8B7B72B1-66DC-4D07-AF69-0EB77053FD9F}"/>
                  </a:ext>
                </a:extLst>
              </p:cNvPr>
              <p:cNvCxnSpPr/>
              <p:nvPr/>
            </p:nvCxnSpPr>
            <p:spPr>
              <a:xfrm>
                <a:off x="4764024" y="12463272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38" name="Connector 26">
                <a:extLst>
                  <a:ext uri="{FF2B5EF4-FFF2-40B4-BE49-F238E27FC236}">
                    <a16:creationId xmlns:a16="http://schemas.microsoft.com/office/drawing/2014/main" id="{7112620A-E0FB-6F67-7C2A-9D2D4E0825B8}"/>
                  </a:ext>
                </a:extLst>
              </p:cNvPr>
              <p:cNvCxnSpPr/>
              <p:nvPr/>
            </p:nvCxnSpPr>
            <p:spPr>
              <a:xfrm>
                <a:off x="4764024" y="12737592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39" name="Connector 27">
                <a:extLst>
                  <a:ext uri="{FF2B5EF4-FFF2-40B4-BE49-F238E27FC236}">
                    <a16:creationId xmlns:a16="http://schemas.microsoft.com/office/drawing/2014/main" id="{3A9D28A3-8E70-1018-9187-6965125D5B6D}"/>
                  </a:ext>
                </a:extLst>
              </p:cNvPr>
              <p:cNvCxnSpPr/>
              <p:nvPr/>
            </p:nvCxnSpPr>
            <p:spPr>
              <a:xfrm>
                <a:off x="4764024" y="13011912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40" name="Connector 28">
                <a:extLst>
                  <a:ext uri="{FF2B5EF4-FFF2-40B4-BE49-F238E27FC236}">
                    <a16:creationId xmlns:a16="http://schemas.microsoft.com/office/drawing/2014/main" id="{EB0D1B66-66E4-3244-17FD-86E78C98B6A4}"/>
                  </a:ext>
                </a:extLst>
              </p:cNvPr>
              <p:cNvCxnSpPr/>
              <p:nvPr/>
            </p:nvCxnSpPr>
            <p:spPr>
              <a:xfrm>
                <a:off x="4764024" y="13286232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41" name="Connector 29">
                <a:extLst>
                  <a:ext uri="{FF2B5EF4-FFF2-40B4-BE49-F238E27FC236}">
                    <a16:creationId xmlns:a16="http://schemas.microsoft.com/office/drawing/2014/main" id="{9AB08C65-D5CD-040A-84B9-7D2102BC52B0}"/>
                  </a:ext>
                </a:extLst>
              </p:cNvPr>
              <p:cNvCxnSpPr/>
              <p:nvPr/>
            </p:nvCxnSpPr>
            <p:spPr>
              <a:xfrm>
                <a:off x="4764024" y="13560552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42" name="Connector 30">
                <a:extLst>
                  <a:ext uri="{FF2B5EF4-FFF2-40B4-BE49-F238E27FC236}">
                    <a16:creationId xmlns:a16="http://schemas.microsoft.com/office/drawing/2014/main" id="{371E4B9B-1BB1-98EE-A687-BF1638EDFE3A}"/>
                  </a:ext>
                </a:extLst>
              </p:cNvPr>
              <p:cNvCxnSpPr/>
              <p:nvPr/>
            </p:nvCxnSpPr>
            <p:spPr>
              <a:xfrm>
                <a:off x="4764024" y="13834872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43" name="Connector 31">
                <a:extLst>
                  <a:ext uri="{FF2B5EF4-FFF2-40B4-BE49-F238E27FC236}">
                    <a16:creationId xmlns:a16="http://schemas.microsoft.com/office/drawing/2014/main" id="{B5233345-8317-098D-3799-66FC82CAAEF5}"/>
                  </a:ext>
                </a:extLst>
              </p:cNvPr>
              <p:cNvCxnSpPr/>
              <p:nvPr/>
            </p:nvCxnSpPr>
            <p:spPr>
              <a:xfrm>
                <a:off x="4764024" y="14109192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44" name="Connector 32">
                <a:extLst>
                  <a:ext uri="{FF2B5EF4-FFF2-40B4-BE49-F238E27FC236}">
                    <a16:creationId xmlns:a16="http://schemas.microsoft.com/office/drawing/2014/main" id="{5D55F713-A84F-4797-B10C-FCB98AE605E4}"/>
                  </a:ext>
                </a:extLst>
              </p:cNvPr>
              <p:cNvCxnSpPr/>
              <p:nvPr/>
            </p:nvCxnSpPr>
            <p:spPr>
              <a:xfrm>
                <a:off x="4764024" y="14383512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45" name="Connector 33">
                <a:extLst>
                  <a:ext uri="{FF2B5EF4-FFF2-40B4-BE49-F238E27FC236}">
                    <a16:creationId xmlns:a16="http://schemas.microsoft.com/office/drawing/2014/main" id="{CB658C10-D1F8-0D7F-8782-33E52DE24562}"/>
                  </a:ext>
                </a:extLst>
              </p:cNvPr>
              <p:cNvCxnSpPr/>
              <p:nvPr/>
            </p:nvCxnSpPr>
            <p:spPr>
              <a:xfrm>
                <a:off x="4764024" y="14657832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46" name="Connector 34">
                <a:extLst>
                  <a:ext uri="{FF2B5EF4-FFF2-40B4-BE49-F238E27FC236}">
                    <a16:creationId xmlns:a16="http://schemas.microsoft.com/office/drawing/2014/main" id="{966051F3-4D40-2F8D-2063-B71DD9B4DB28}"/>
                  </a:ext>
                </a:extLst>
              </p:cNvPr>
              <p:cNvCxnSpPr/>
              <p:nvPr/>
            </p:nvCxnSpPr>
            <p:spPr>
              <a:xfrm>
                <a:off x="4764024" y="14932152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47" name="Connector 35">
                <a:extLst>
                  <a:ext uri="{FF2B5EF4-FFF2-40B4-BE49-F238E27FC236}">
                    <a16:creationId xmlns:a16="http://schemas.microsoft.com/office/drawing/2014/main" id="{5E8609F8-FBDE-15C7-DCD5-A8F1B4C59CC7}"/>
                  </a:ext>
                </a:extLst>
              </p:cNvPr>
              <p:cNvCxnSpPr/>
              <p:nvPr/>
            </p:nvCxnSpPr>
            <p:spPr>
              <a:xfrm>
                <a:off x="4764024" y="15206472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48" name="wall_rear_cut">
                <a:extLst>
                  <a:ext uri="{FF2B5EF4-FFF2-40B4-BE49-F238E27FC236}">
                    <a16:creationId xmlns:a16="http://schemas.microsoft.com/office/drawing/2014/main" id="{BCABB858-6054-6D14-188E-06D386444C84}"/>
                  </a:ext>
                </a:extLst>
              </p:cNvPr>
              <p:cNvSpPr/>
              <p:nvPr/>
            </p:nvSpPr>
            <p:spPr>
              <a:xfrm>
                <a:off x="10762488" y="11567160"/>
                <a:ext cx="310896" cy="3877056"/>
              </a:xfrm>
              <a:prstGeom prst="rect">
                <a:avLst/>
              </a:prstGeom>
              <a:solidFill>
                <a:srgbClr val="B07A56"/>
              </a:solidFill>
              <a:ln w="38032">
                <a:solidFill>
                  <a:srgbClr val="2E3B4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cxnSp>
            <p:nvCxnSpPr>
              <p:cNvPr id="9649" name="Connector 37">
                <a:extLst>
                  <a:ext uri="{FF2B5EF4-FFF2-40B4-BE49-F238E27FC236}">
                    <a16:creationId xmlns:a16="http://schemas.microsoft.com/office/drawing/2014/main" id="{9FADA496-322D-D77E-7861-8E391C0C79A2}"/>
                  </a:ext>
                </a:extLst>
              </p:cNvPr>
              <p:cNvCxnSpPr/>
              <p:nvPr/>
            </p:nvCxnSpPr>
            <p:spPr>
              <a:xfrm>
                <a:off x="10762488" y="11713464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50" name="Connector 38">
                <a:extLst>
                  <a:ext uri="{FF2B5EF4-FFF2-40B4-BE49-F238E27FC236}">
                    <a16:creationId xmlns:a16="http://schemas.microsoft.com/office/drawing/2014/main" id="{0CA9315A-BEE2-A31A-9CF3-F241EE344FF9}"/>
                  </a:ext>
                </a:extLst>
              </p:cNvPr>
              <p:cNvCxnSpPr/>
              <p:nvPr/>
            </p:nvCxnSpPr>
            <p:spPr>
              <a:xfrm>
                <a:off x="10762488" y="11987784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51" name="Connector 39">
                <a:extLst>
                  <a:ext uri="{FF2B5EF4-FFF2-40B4-BE49-F238E27FC236}">
                    <a16:creationId xmlns:a16="http://schemas.microsoft.com/office/drawing/2014/main" id="{AC39A62F-BE2B-3202-7E9E-5D4A41495081}"/>
                  </a:ext>
                </a:extLst>
              </p:cNvPr>
              <p:cNvCxnSpPr/>
              <p:nvPr/>
            </p:nvCxnSpPr>
            <p:spPr>
              <a:xfrm>
                <a:off x="10762488" y="12262104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52" name="Connector 40">
                <a:extLst>
                  <a:ext uri="{FF2B5EF4-FFF2-40B4-BE49-F238E27FC236}">
                    <a16:creationId xmlns:a16="http://schemas.microsoft.com/office/drawing/2014/main" id="{A1FE2CF4-FDC3-9C7F-F0B9-DA2A14E2E01D}"/>
                  </a:ext>
                </a:extLst>
              </p:cNvPr>
              <p:cNvCxnSpPr/>
              <p:nvPr/>
            </p:nvCxnSpPr>
            <p:spPr>
              <a:xfrm>
                <a:off x="10762488" y="12536424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53" name="Connector 41">
                <a:extLst>
                  <a:ext uri="{FF2B5EF4-FFF2-40B4-BE49-F238E27FC236}">
                    <a16:creationId xmlns:a16="http://schemas.microsoft.com/office/drawing/2014/main" id="{C3E49867-7ACE-114F-2A01-FCDEC7220A16}"/>
                  </a:ext>
                </a:extLst>
              </p:cNvPr>
              <p:cNvCxnSpPr/>
              <p:nvPr/>
            </p:nvCxnSpPr>
            <p:spPr>
              <a:xfrm>
                <a:off x="10762488" y="12810744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54" name="Connector 42">
                <a:extLst>
                  <a:ext uri="{FF2B5EF4-FFF2-40B4-BE49-F238E27FC236}">
                    <a16:creationId xmlns:a16="http://schemas.microsoft.com/office/drawing/2014/main" id="{C3194517-6337-428F-0720-4274B4CEDD82}"/>
                  </a:ext>
                </a:extLst>
              </p:cNvPr>
              <p:cNvCxnSpPr/>
              <p:nvPr/>
            </p:nvCxnSpPr>
            <p:spPr>
              <a:xfrm>
                <a:off x="10762488" y="13085064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55" name="Connector 43">
                <a:extLst>
                  <a:ext uri="{FF2B5EF4-FFF2-40B4-BE49-F238E27FC236}">
                    <a16:creationId xmlns:a16="http://schemas.microsoft.com/office/drawing/2014/main" id="{E6FC52A5-A123-1459-3207-49FDB65CAC70}"/>
                  </a:ext>
                </a:extLst>
              </p:cNvPr>
              <p:cNvCxnSpPr/>
              <p:nvPr/>
            </p:nvCxnSpPr>
            <p:spPr>
              <a:xfrm>
                <a:off x="10762488" y="13359384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56" name="Connector 44">
                <a:extLst>
                  <a:ext uri="{FF2B5EF4-FFF2-40B4-BE49-F238E27FC236}">
                    <a16:creationId xmlns:a16="http://schemas.microsoft.com/office/drawing/2014/main" id="{838C47C2-1DAC-D8C4-4C3F-747E5BF75C0B}"/>
                  </a:ext>
                </a:extLst>
              </p:cNvPr>
              <p:cNvCxnSpPr/>
              <p:nvPr/>
            </p:nvCxnSpPr>
            <p:spPr>
              <a:xfrm>
                <a:off x="10762488" y="13633704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57" name="Connector 45">
                <a:extLst>
                  <a:ext uri="{FF2B5EF4-FFF2-40B4-BE49-F238E27FC236}">
                    <a16:creationId xmlns:a16="http://schemas.microsoft.com/office/drawing/2014/main" id="{84FEEAE7-AB71-1B64-CBA0-7FDDED70C4E0}"/>
                  </a:ext>
                </a:extLst>
              </p:cNvPr>
              <p:cNvCxnSpPr/>
              <p:nvPr/>
            </p:nvCxnSpPr>
            <p:spPr>
              <a:xfrm>
                <a:off x="10762488" y="13908024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58" name="Connector 46">
                <a:extLst>
                  <a:ext uri="{FF2B5EF4-FFF2-40B4-BE49-F238E27FC236}">
                    <a16:creationId xmlns:a16="http://schemas.microsoft.com/office/drawing/2014/main" id="{C5A7BAF6-56D5-61CF-2402-9D71F3EFF9F8}"/>
                  </a:ext>
                </a:extLst>
              </p:cNvPr>
              <p:cNvCxnSpPr/>
              <p:nvPr/>
            </p:nvCxnSpPr>
            <p:spPr>
              <a:xfrm>
                <a:off x="10762488" y="14182344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59" name="Connector 47">
                <a:extLst>
                  <a:ext uri="{FF2B5EF4-FFF2-40B4-BE49-F238E27FC236}">
                    <a16:creationId xmlns:a16="http://schemas.microsoft.com/office/drawing/2014/main" id="{B8E09649-B6F2-8FE5-75F4-B49D29827431}"/>
                  </a:ext>
                </a:extLst>
              </p:cNvPr>
              <p:cNvCxnSpPr/>
              <p:nvPr/>
            </p:nvCxnSpPr>
            <p:spPr>
              <a:xfrm>
                <a:off x="10762488" y="14456664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60" name="Connector 48">
                <a:extLst>
                  <a:ext uri="{FF2B5EF4-FFF2-40B4-BE49-F238E27FC236}">
                    <a16:creationId xmlns:a16="http://schemas.microsoft.com/office/drawing/2014/main" id="{FC874699-6AE6-DC3D-D929-F27758168B77}"/>
                  </a:ext>
                </a:extLst>
              </p:cNvPr>
              <p:cNvCxnSpPr/>
              <p:nvPr/>
            </p:nvCxnSpPr>
            <p:spPr>
              <a:xfrm>
                <a:off x="10762488" y="14730984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61" name="Connector 49">
                <a:extLst>
                  <a:ext uri="{FF2B5EF4-FFF2-40B4-BE49-F238E27FC236}">
                    <a16:creationId xmlns:a16="http://schemas.microsoft.com/office/drawing/2014/main" id="{518311A3-382B-D629-E0F9-0E5638F56175}"/>
                  </a:ext>
                </a:extLst>
              </p:cNvPr>
              <p:cNvCxnSpPr/>
              <p:nvPr/>
            </p:nvCxnSpPr>
            <p:spPr>
              <a:xfrm>
                <a:off x="10762488" y="15005304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62" name="Connector 50">
                <a:extLst>
                  <a:ext uri="{FF2B5EF4-FFF2-40B4-BE49-F238E27FC236}">
                    <a16:creationId xmlns:a16="http://schemas.microsoft.com/office/drawing/2014/main" id="{1D982254-B130-85B8-2925-18CC4DB86335}"/>
                  </a:ext>
                </a:extLst>
              </p:cNvPr>
              <p:cNvCxnSpPr/>
              <p:nvPr/>
            </p:nvCxnSpPr>
            <p:spPr>
              <a:xfrm>
                <a:off x="10762488" y="15279624"/>
                <a:ext cx="310896" cy="0"/>
              </a:xfrm>
              <a:prstGeom prst="line">
                <a:avLst/>
              </a:prstGeom>
              <a:ln w="27383">
                <a:solidFill>
                  <a:srgbClr val="8E5F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63" name="slab_ground_ceiling">
                <a:extLst>
                  <a:ext uri="{FF2B5EF4-FFF2-40B4-BE49-F238E27FC236}">
                    <a16:creationId xmlns:a16="http://schemas.microsoft.com/office/drawing/2014/main" id="{7399B7AC-EDB8-362C-BFB8-B1BD74B73D6D}"/>
                  </a:ext>
                </a:extLst>
              </p:cNvPr>
              <p:cNvSpPr/>
              <p:nvPr/>
            </p:nvSpPr>
            <p:spPr>
              <a:xfrm>
                <a:off x="4764024" y="13761720"/>
                <a:ext cx="6309360" cy="164592"/>
              </a:xfrm>
              <a:prstGeom prst="rect">
                <a:avLst/>
              </a:prstGeom>
              <a:solidFill>
                <a:srgbClr val="C4CFD7"/>
              </a:solidFill>
              <a:ln w="38032">
                <a:solidFill>
                  <a:srgbClr val="2E3B4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64" name="slab_first_ceiling">
                <a:extLst>
                  <a:ext uri="{FF2B5EF4-FFF2-40B4-BE49-F238E27FC236}">
                    <a16:creationId xmlns:a16="http://schemas.microsoft.com/office/drawing/2014/main" id="{8EA32A06-FB0B-B5BD-F667-22F766E64CFE}"/>
                  </a:ext>
                </a:extLst>
              </p:cNvPr>
              <p:cNvSpPr/>
              <p:nvPr/>
            </p:nvSpPr>
            <p:spPr>
              <a:xfrm>
                <a:off x="4764024" y="12481560"/>
                <a:ext cx="4297680" cy="164592"/>
              </a:xfrm>
              <a:prstGeom prst="rect">
                <a:avLst/>
              </a:prstGeom>
              <a:solidFill>
                <a:srgbClr val="C4CFD7"/>
              </a:solidFill>
              <a:ln w="38032">
                <a:solidFill>
                  <a:srgbClr val="2E3B4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65" name="slab_collapsed">
                <a:extLst>
                  <a:ext uri="{FF2B5EF4-FFF2-40B4-BE49-F238E27FC236}">
                    <a16:creationId xmlns:a16="http://schemas.microsoft.com/office/drawing/2014/main" id="{5D02814D-2D3C-B749-84A8-E296D20412A2}"/>
                  </a:ext>
                </a:extLst>
              </p:cNvPr>
              <p:cNvSpPr/>
              <p:nvPr/>
            </p:nvSpPr>
            <p:spPr>
              <a:xfrm>
                <a:off x="9061704" y="12481560"/>
                <a:ext cx="1152144" cy="859536"/>
              </a:xfrm>
              <a:custGeom>
                <a:avLst/>
                <a:gdLst/>
                <a:ahLst/>
                <a:cxnLst/>
                <a:rect l="l" t="t" r="r" b="b"/>
                <a:pathLst>
                  <a:path w="1152144" h="859536">
                    <a:moveTo>
                      <a:pt x="0" y="0"/>
                    </a:moveTo>
                    <a:lnTo>
                      <a:pt x="1152144" y="676656"/>
                    </a:lnTo>
                    <a:lnTo>
                      <a:pt x="1152144" y="859536"/>
                    </a:lnTo>
                    <a:lnTo>
                      <a:pt x="0" y="164592"/>
                    </a:lnTo>
                    <a:close/>
                  </a:path>
                </a:pathLst>
              </a:custGeom>
              <a:solidFill>
                <a:srgbClr val="A9B6C0"/>
              </a:solidFill>
              <a:ln w="38032">
                <a:solidFill>
                  <a:srgbClr val="2E3B4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9666" name="Connector 54">
                <a:extLst>
                  <a:ext uri="{FF2B5EF4-FFF2-40B4-BE49-F238E27FC236}">
                    <a16:creationId xmlns:a16="http://schemas.microsoft.com/office/drawing/2014/main" id="{9C66CC61-3A08-A424-5F09-02FD38D88205}"/>
                  </a:ext>
                </a:extLst>
              </p:cNvPr>
              <p:cNvCxnSpPr/>
              <p:nvPr/>
            </p:nvCxnSpPr>
            <p:spPr>
              <a:xfrm flipV="1">
                <a:off x="9061704" y="12335256"/>
                <a:ext cx="219456" cy="182880"/>
              </a:xfrm>
              <a:prstGeom prst="line">
                <a:avLst/>
              </a:prstGeom>
              <a:ln w="27383">
                <a:solidFill>
                  <a:srgbClr val="5F6E7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67" name="Connector 55">
                <a:extLst>
                  <a:ext uri="{FF2B5EF4-FFF2-40B4-BE49-F238E27FC236}">
                    <a16:creationId xmlns:a16="http://schemas.microsoft.com/office/drawing/2014/main" id="{02B061C3-7B55-B59C-36DA-08EA8E6B6A8F}"/>
                  </a:ext>
                </a:extLst>
              </p:cNvPr>
              <p:cNvCxnSpPr/>
              <p:nvPr/>
            </p:nvCxnSpPr>
            <p:spPr>
              <a:xfrm flipV="1">
                <a:off x="9061704" y="12243816"/>
                <a:ext cx="292608" cy="329184"/>
              </a:xfrm>
              <a:prstGeom prst="line">
                <a:avLst/>
              </a:prstGeom>
              <a:ln w="27383">
                <a:solidFill>
                  <a:srgbClr val="5F6E7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68" name="Connector 56">
                <a:extLst>
                  <a:ext uri="{FF2B5EF4-FFF2-40B4-BE49-F238E27FC236}">
                    <a16:creationId xmlns:a16="http://schemas.microsoft.com/office/drawing/2014/main" id="{9E5F51B7-7E9A-9D42-0BFE-6706E68E78F4}"/>
                  </a:ext>
                </a:extLst>
              </p:cNvPr>
              <p:cNvCxnSpPr/>
              <p:nvPr/>
            </p:nvCxnSpPr>
            <p:spPr>
              <a:xfrm flipV="1">
                <a:off x="9061704" y="12152376"/>
                <a:ext cx="365760" cy="475488"/>
              </a:xfrm>
              <a:prstGeom prst="line">
                <a:avLst/>
              </a:prstGeom>
              <a:ln w="27383">
                <a:solidFill>
                  <a:srgbClr val="5F6E7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69" name="rubble_interior">
                <a:extLst>
                  <a:ext uri="{FF2B5EF4-FFF2-40B4-BE49-F238E27FC236}">
                    <a16:creationId xmlns:a16="http://schemas.microsoft.com/office/drawing/2014/main" id="{EC68E8DA-D38F-F175-3932-BD58CA5F74FC}"/>
                  </a:ext>
                </a:extLst>
              </p:cNvPr>
              <p:cNvSpPr/>
              <p:nvPr/>
            </p:nvSpPr>
            <p:spPr>
              <a:xfrm>
                <a:off x="9043416" y="14639544"/>
                <a:ext cx="1719072" cy="804672"/>
              </a:xfrm>
              <a:custGeom>
                <a:avLst/>
                <a:gdLst/>
                <a:ahLst/>
                <a:cxnLst/>
                <a:rect l="l" t="t" r="r" b="b"/>
                <a:pathLst>
                  <a:path w="1719072" h="804672">
                    <a:moveTo>
                      <a:pt x="0" y="804672"/>
                    </a:moveTo>
                    <a:lnTo>
                      <a:pt x="420624" y="128016"/>
                    </a:lnTo>
                    <a:lnTo>
                      <a:pt x="932688" y="347472"/>
                    </a:lnTo>
                    <a:lnTo>
                      <a:pt x="1371600" y="0"/>
                    </a:lnTo>
                    <a:lnTo>
                      <a:pt x="1719072" y="237744"/>
                    </a:lnTo>
                    <a:lnTo>
                      <a:pt x="1719072" y="804672"/>
                    </a:lnTo>
                    <a:close/>
                  </a:path>
                </a:pathLst>
              </a:custGeom>
              <a:solidFill>
                <a:srgbClr val="B9C3CB"/>
              </a:solidFill>
              <a:ln w="38032">
                <a:solidFill>
                  <a:srgbClr val="2E3B4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70" name="rubble_chunk">
                <a:extLst>
                  <a:ext uri="{FF2B5EF4-FFF2-40B4-BE49-F238E27FC236}">
                    <a16:creationId xmlns:a16="http://schemas.microsoft.com/office/drawing/2014/main" id="{5CE21084-77E4-E6EF-FF50-BCF260E1E1D5}"/>
                  </a:ext>
                </a:extLst>
              </p:cNvPr>
              <p:cNvSpPr/>
              <p:nvPr/>
            </p:nvSpPr>
            <p:spPr>
              <a:xfrm rot="20760000">
                <a:off x="9208008" y="15078456"/>
                <a:ext cx="274320" cy="173736"/>
              </a:xfrm>
              <a:prstGeom prst="rect">
                <a:avLst/>
              </a:prstGeom>
              <a:solidFill>
                <a:srgbClr val="A9B6C0"/>
              </a:solidFill>
              <a:ln w="28524">
                <a:solidFill>
                  <a:srgbClr val="2E3B4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71" name="rubble_chunk">
                <a:extLst>
                  <a:ext uri="{FF2B5EF4-FFF2-40B4-BE49-F238E27FC236}">
                    <a16:creationId xmlns:a16="http://schemas.microsoft.com/office/drawing/2014/main" id="{0EE4AC66-A6D4-FEFD-1497-68AE69BEA12A}"/>
                  </a:ext>
                </a:extLst>
              </p:cNvPr>
              <p:cNvSpPr/>
              <p:nvPr/>
            </p:nvSpPr>
            <p:spPr>
              <a:xfrm rot="660000">
                <a:off x="9646920" y="15188184"/>
                <a:ext cx="219456" cy="137160"/>
              </a:xfrm>
              <a:prstGeom prst="rect">
                <a:avLst/>
              </a:prstGeom>
              <a:solidFill>
                <a:srgbClr val="A9B6C0"/>
              </a:solidFill>
              <a:ln w="28524">
                <a:solidFill>
                  <a:srgbClr val="2E3B4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72" name="rubble_chunk">
                <a:extLst>
                  <a:ext uri="{FF2B5EF4-FFF2-40B4-BE49-F238E27FC236}">
                    <a16:creationId xmlns:a16="http://schemas.microsoft.com/office/drawing/2014/main" id="{AD0500FD-ADEE-F509-7E33-F15E29ABB7FA}"/>
                  </a:ext>
                </a:extLst>
              </p:cNvPr>
              <p:cNvSpPr/>
              <p:nvPr/>
            </p:nvSpPr>
            <p:spPr>
              <a:xfrm rot="1320000">
                <a:off x="10085832" y="15041880"/>
                <a:ext cx="292608" cy="182880"/>
              </a:xfrm>
              <a:prstGeom prst="rect">
                <a:avLst/>
              </a:prstGeom>
              <a:solidFill>
                <a:srgbClr val="A9B6C0"/>
              </a:solidFill>
              <a:ln w="28524">
                <a:solidFill>
                  <a:srgbClr val="2E3B4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73" name="rubble_chunk">
                <a:extLst>
                  <a:ext uri="{FF2B5EF4-FFF2-40B4-BE49-F238E27FC236}">
                    <a16:creationId xmlns:a16="http://schemas.microsoft.com/office/drawing/2014/main" id="{95D5FD76-1B0A-24CC-8219-DCFCD55D9192}"/>
                  </a:ext>
                </a:extLst>
              </p:cNvPr>
              <p:cNvSpPr/>
              <p:nvPr/>
            </p:nvSpPr>
            <p:spPr>
              <a:xfrm rot="21060000">
                <a:off x="10469880" y="15169896"/>
                <a:ext cx="237744" cy="146304"/>
              </a:xfrm>
              <a:prstGeom prst="rect">
                <a:avLst/>
              </a:prstGeom>
              <a:solidFill>
                <a:srgbClr val="A9B6C0"/>
              </a:solidFill>
              <a:ln w="28524">
                <a:solidFill>
                  <a:srgbClr val="2E3B4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74" name="rubble_first_floor">
                <a:extLst>
                  <a:ext uri="{FF2B5EF4-FFF2-40B4-BE49-F238E27FC236}">
                    <a16:creationId xmlns:a16="http://schemas.microsoft.com/office/drawing/2014/main" id="{BD2888A7-FBA7-489C-FA31-3651C0EAD561}"/>
                  </a:ext>
                </a:extLst>
              </p:cNvPr>
              <p:cNvSpPr/>
              <p:nvPr/>
            </p:nvSpPr>
            <p:spPr>
              <a:xfrm>
                <a:off x="9683496" y="13377672"/>
                <a:ext cx="1078992" cy="384048"/>
              </a:xfrm>
              <a:custGeom>
                <a:avLst/>
                <a:gdLst/>
                <a:ahLst/>
                <a:cxnLst/>
                <a:rect l="l" t="t" r="r" b="b"/>
                <a:pathLst>
                  <a:path w="1078992" h="384048">
                    <a:moveTo>
                      <a:pt x="0" y="384048"/>
                    </a:moveTo>
                    <a:lnTo>
                      <a:pt x="384048" y="0"/>
                    </a:lnTo>
                    <a:lnTo>
                      <a:pt x="859536" y="146304"/>
                    </a:lnTo>
                    <a:lnTo>
                      <a:pt x="1078992" y="384048"/>
                    </a:lnTo>
                    <a:close/>
                  </a:path>
                </a:pathLst>
              </a:custGeom>
              <a:solidFill>
                <a:srgbClr val="B9C3CB"/>
              </a:solidFill>
              <a:ln w="38032">
                <a:solidFill>
                  <a:srgbClr val="2E3B4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9675" name="Connector 63">
                <a:extLst>
                  <a:ext uri="{FF2B5EF4-FFF2-40B4-BE49-F238E27FC236}">
                    <a16:creationId xmlns:a16="http://schemas.microsoft.com/office/drawing/2014/main" id="{D4A41356-FF7C-A8F7-F3F7-E9883B713A91}"/>
                  </a:ext>
                </a:extLst>
              </p:cNvPr>
              <p:cNvCxnSpPr/>
              <p:nvPr/>
            </p:nvCxnSpPr>
            <p:spPr>
              <a:xfrm flipV="1">
                <a:off x="5074920" y="11750040"/>
                <a:ext cx="1773936" cy="960120"/>
              </a:xfrm>
              <a:prstGeom prst="line">
                <a:avLst/>
              </a:prstGeom>
              <a:ln w="47920">
                <a:solidFill>
                  <a:srgbClr val="7FB6C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76" name="Connector 64">
                <a:extLst>
                  <a:ext uri="{FF2B5EF4-FFF2-40B4-BE49-F238E27FC236}">
                    <a16:creationId xmlns:a16="http://schemas.microsoft.com/office/drawing/2014/main" id="{D8FC9495-9F4B-B1D9-39DD-40C879264E29}"/>
                  </a:ext>
                </a:extLst>
              </p:cNvPr>
              <p:cNvCxnSpPr/>
              <p:nvPr/>
            </p:nvCxnSpPr>
            <p:spPr>
              <a:xfrm flipV="1">
                <a:off x="5074920" y="12262104"/>
                <a:ext cx="4882896" cy="1032920"/>
              </a:xfrm>
              <a:prstGeom prst="line">
                <a:avLst/>
              </a:prstGeom>
              <a:ln w="47920">
                <a:solidFill>
                  <a:srgbClr val="7FB6C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77" name="Connector 65">
                <a:extLst>
                  <a:ext uri="{FF2B5EF4-FFF2-40B4-BE49-F238E27FC236}">
                    <a16:creationId xmlns:a16="http://schemas.microsoft.com/office/drawing/2014/main" id="{AADE23DC-1920-7899-9512-2BF9FF340E8C}"/>
                  </a:ext>
                </a:extLst>
              </p:cNvPr>
              <p:cNvCxnSpPr/>
              <p:nvPr/>
            </p:nvCxnSpPr>
            <p:spPr>
              <a:xfrm flipV="1">
                <a:off x="5074920" y="13267944"/>
                <a:ext cx="1682496" cy="195846"/>
              </a:xfrm>
              <a:prstGeom prst="line">
                <a:avLst/>
              </a:prstGeom>
              <a:ln w="47920">
                <a:solidFill>
                  <a:srgbClr val="7FB6C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78" name="Connector 66">
                <a:extLst>
                  <a:ext uri="{FF2B5EF4-FFF2-40B4-BE49-F238E27FC236}">
                    <a16:creationId xmlns:a16="http://schemas.microsoft.com/office/drawing/2014/main" id="{89909A35-A4C4-C4E2-2C61-9E7E9B778CB6}"/>
                  </a:ext>
                </a:extLst>
              </p:cNvPr>
              <p:cNvCxnSpPr/>
              <p:nvPr/>
            </p:nvCxnSpPr>
            <p:spPr>
              <a:xfrm flipV="1">
                <a:off x="5074920" y="13523976"/>
                <a:ext cx="5340096" cy="109822"/>
              </a:xfrm>
              <a:prstGeom prst="line">
                <a:avLst/>
              </a:prstGeom>
              <a:ln w="47920">
                <a:solidFill>
                  <a:srgbClr val="7FB6C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79" name="Connector 67">
                <a:extLst>
                  <a:ext uri="{FF2B5EF4-FFF2-40B4-BE49-F238E27FC236}">
                    <a16:creationId xmlns:a16="http://schemas.microsoft.com/office/drawing/2014/main" id="{5FAE5145-FE55-9E3F-5075-58730CD45A73}"/>
                  </a:ext>
                </a:extLst>
              </p:cNvPr>
              <p:cNvCxnSpPr/>
              <p:nvPr/>
            </p:nvCxnSpPr>
            <p:spPr>
              <a:xfrm>
                <a:off x="5074920" y="14315348"/>
                <a:ext cx="1444752" cy="525364"/>
              </a:xfrm>
              <a:prstGeom prst="line">
                <a:avLst/>
              </a:prstGeom>
              <a:ln w="47920">
                <a:solidFill>
                  <a:srgbClr val="7FB6C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80" name="Connector 68">
                <a:extLst>
                  <a:ext uri="{FF2B5EF4-FFF2-40B4-BE49-F238E27FC236}">
                    <a16:creationId xmlns:a16="http://schemas.microsoft.com/office/drawing/2014/main" id="{E82610BF-6B1C-CBE4-17FC-60736ED52351}"/>
                  </a:ext>
                </a:extLst>
              </p:cNvPr>
              <p:cNvCxnSpPr/>
              <p:nvPr/>
            </p:nvCxnSpPr>
            <p:spPr>
              <a:xfrm>
                <a:off x="5074920" y="14117331"/>
                <a:ext cx="5047488" cy="1272021"/>
              </a:xfrm>
              <a:prstGeom prst="line">
                <a:avLst/>
              </a:prstGeom>
              <a:ln w="47920">
                <a:solidFill>
                  <a:srgbClr val="7FB6C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681" name="survivor" descr="fig_limping.png">
                <a:extLst>
                  <a:ext uri="{FF2B5EF4-FFF2-40B4-BE49-F238E27FC236}">
                    <a16:creationId xmlns:a16="http://schemas.microsoft.com/office/drawing/2014/main" id="{394E8442-047A-2B9F-4B94-2023B08AA2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flipH="1">
                <a:off x="5451265" y="11530584"/>
                <a:ext cx="1515022" cy="950976"/>
              </a:xfrm>
              <a:prstGeom prst="rect">
                <a:avLst/>
              </a:prstGeom>
            </p:spPr>
          </p:pic>
          <p:sp>
            <p:nvSpPr>
              <p:cNvPr id="9682" name="detect_1">
                <a:extLst>
                  <a:ext uri="{FF2B5EF4-FFF2-40B4-BE49-F238E27FC236}">
                    <a16:creationId xmlns:a16="http://schemas.microsoft.com/office/drawing/2014/main" id="{0DEAB409-A633-DBDC-285E-5112918AF113}"/>
                  </a:ext>
                </a:extLst>
              </p:cNvPr>
              <p:cNvSpPr/>
              <p:nvPr/>
            </p:nvSpPr>
            <p:spPr>
              <a:xfrm>
                <a:off x="5323249" y="11402568"/>
                <a:ext cx="201168" cy="45720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83" name="detect_2">
                <a:extLst>
                  <a:ext uri="{FF2B5EF4-FFF2-40B4-BE49-F238E27FC236}">
                    <a16:creationId xmlns:a16="http://schemas.microsoft.com/office/drawing/2014/main" id="{442525E1-ACC4-6FC5-BDAA-EAFB053C1459}"/>
                  </a:ext>
                </a:extLst>
              </p:cNvPr>
              <p:cNvSpPr/>
              <p:nvPr/>
            </p:nvSpPr>
            <p:spPr>
              <a:xfrm>
                <a:off x="5323249" y="11402568"/>
                <a:ext cx="45720" cy="201168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84" name="detect_3">
                <a:extLst>
                  <a:ext uri="{FF2B5EF4-FFF2-40B4-BE49-F238E27FC236}">
                    <a16:creationId xmlns:a16="http://schemas.microsoft.com/office/drawing/2014/main" id="{C82FD641-C9F4-7A66-6C52-5D923CB92507}"/>
                  </a:ext>
                </a:extLst>
              </p:cNvPr>
              <p:cNvSpPr/>
              <p:nvPr/>
            </p:nvSpPr>
            <p:spPr>
              <a:xfrm>
                <a:off x="6893135" y="11402568"/>
                <a:ext cx="201168" cy="45720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85" name="detect_4">
                <a:extLst>
                  <a:ext uri="{FF2B5EF4-FFF2-40B4-BE49-F238E27FC236}">
                    <a16:creationId xmlns:a16="http://schemas.microsoft.com/office/drawing/2014/main" id="{9C9DAB96-D459-4FB3-1D43-E29EEECCE45A}"/>
                  </a:ext>
                </a:extLst>
              </p:cNvPr>
              <p:cNvSpPr/>
              <p:nvPr/>
            </p:nvSpPr>
            <p:spPr>
              <a:xfrm>
                <a:off x="7048583" y="11402568"/>
                <a:ext cx="45720" cy="201168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86" name="detect_5">
                <a:extLst>
                  <a:ext uri="{FF2B5EF4-FFF2-40B4-BE49-F238E27FC236}">
                    <a16:creationId xmlns:a16="http://schemas.microsoft.com/office/drawing/2014/main" id="{A0AEB89B-65B6-FA3A-3F14-9C1CEE382E7D}"/>
                  </a:ext>
                </a:extLst>
              </p:cNvPr>
              <p:cNvSpPr/>
              <p:nvPr/>
            </p:nvSpPr>
            <p:spPr>
              <a:xfrm>
                <a:off x="5323249" y="12563856"/>
                <a:ext cx="201168" cy="45720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87" name="detect_6">
                <a:extLst>
                  <a:ext uri="{FF2B5EF4-FFF2-40B4-BE49-F238E27FC236}">
                    <a16:creationId xmlns:a16="http://schemas.microsoft.com/office/drawing/2014/main" id="{58CE4ADA-61BA-C7C2-A7AF-DB99A1A327B0}"/>
                  </a:ext>
                </a:extLst>
              </p:cNvPr>
              <p:cNvSpPr/>
              <p:nvPr/>
            </p:nvSpPr>
            <p:spPr>
              <a:xfrm>
                <a:off x="5323249" y="12408408"/>
                <a:ext cx="45720" cy="201168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88" name="detect_7">
                <a:extLst>
                  <a:ext uri="{FF2B5EF4-FFF2-40B4-BE49-F238E27FC236}">
                    <a16:creationId xmlns:a16="http://schemas.microsoft.com/office/drawing/2014/main" id="{6E01A8DD-875E-3A12-C01B-2755DD591B2A}"/>
                  </a:ext>
                </a:extLst>
              </p:cNvPr>
              <p:cNvSpPr/>
              <p:nvPr/>
            </p:nvSpPr>
            <p:spPr>
              <a:xfrm>
                <a:off x="6893135" y="12563856"/>
                <a:ext cx="201168" cy="45720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89" name="detect_8">
                <a:extLst>
                  <a:ext uri="{FF2B5EF4-FFF2-40B4-BE49-F238E27FC236}">
                    <a16:creationId xmlns:a16="http://schemas.microsoft.com/office/drawing/2014/main" id="{F82919CF-87A8-550D-E6B4-75A658F0D19F}"/>
                  </a:ext>
                </a:extLst>
              </p:cNvPr>
              <p:cNvSpPr/>
              <p:nvPr/>
            </p:nvSpPr>
            <p:spPr>
              <a:xfrm>
                <a:off x="7048583" y="12408408"/>
                <a:ext cx="45720" cy="201168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90" name="activity_tag">
                <a:extLst>
                  <a:ext uri="{FF2B5EF4-FFF2-40B4-BE49-F238E27FC236}">
                    <a16:creationId xmlns:a16="http://schemas.microsoft.com/office/drawing/2014/main" id="{B4FC6109-5FE1-0D66-B50C-B4AF72BE026E}"/>
                  </a:ext>
                </a:extLst>
              </p:cNvPr>
              <p:cNvSpPr/>
              <p:nvPr/>
            </p:nvSpPr>
            <p:spPr>
              <a:xfrm>
                <a:off x="7240607" y="11804904"/>
                <a:ext cx="2157984" cy="402336"/>
              </a:xfrm>
              <a:prstGeom prst="roundRect">
                <a:avLst>
                  <a:gd name="adj" fmla="val 40000"/>
                </a:avLst>
              </a:prstGeom>
              <a:solidFill>
                <a:srgbClr val="FFFFFF"/>
              </a:solidFill>
              <a:ln w="38032">
                <a:solidFill>
                  <a:srgbClr val="C8102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91" name="Oval 80">
                <a:extLst>
                  <a:ext uri="{FF2B5EF4-FFF2-40B4-BE49-F238E27FC236}">
                    <a16:creationId xmlns:a16="http://schemas.microsoft.com/office/drawing/2014/main" id="{2CA9A7AE-8951-F0E2-4A15-4E536B54A613}"/>
                  </a:ext>
                </a:extLst>
              </p:cNvPr>
              <p:cNvSpPr/>
              <p:nvPr/>
            </p:nvSpPr>
            <p:spPr>
              <a:xfrm>
                <a:off x="7368623" y="11932920"/>
                <a:ext cx="146304" cy="146304"/>
              </a:xfrm>
              <a:prstGeom prst="ellipse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92" name="TextBox 81">
                <a:extLst>
                  <a:ext uri="{FF2B5EF4-FFF2-40B4-BE49-F238E27FC236}">
                    <a16:creationId xmlns:a16="http://schemas.microsoft.com/office/drawing/2014/main" id="{36AD5DD9-7628-A45D-C5E4-51E329A2679B}"/>
                  </a:ext>
                </a:extLst>
              </p:cNvPr>
              <p:cNvSpPr txBox="1"/>
              <p:nvPr/>
            </p:nvSpPr>
            <p:spPr>
              <a:xfrm>
                <a:off x="7588079" y="11875861"/>
                <a:ext cx="1755648" cy="25511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32"/>
                  </a:spcAft>
                </a:pPr>
                <a:r>
                  <a:rPr sz="1941" b="1" i="0">
                    <a:solidFill>
                      <a:srgbClr val="C8102E"/>
                    </a:solidFill>
                    <a:latin typeface="Arial"/>
                  </a:rPr>
                  <a:t>Limping — injured</a:t>
                </a:r>
              </a:p>
            </p:txBody>
          </p:sp>
          <p:pic>
            <p:nvPicPr>
              <p:cNvPr id="9693" name="survivor" descr="fig_cane.png">
                <a:extLst>
                  <a:ext uri="{FF2B5EF4-FFF2-40B4-BE49-F238E27FC236}">
                    <a16:creationId xmlns:a16="http://schemas.microsoft.com/office/drawing/2014/main" id="{0854128D-34AD-7659-14BC-D0ABD009E2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flipH="1">
                <a:off x="6374316" y="12847320"/>
                <a:ext cx="510168" cy="914400"/>
              </a:xfrm>
              <a:prstGeom prst="rect">
                <a:avLst/>
              </a:prstGeom>
            </p:spPr>
          </p:pic>
          <p:sp>
            <p:nvSpPr>
              <p:cNvPr id="9694" name="detect_1">
                <a:extLst>
                  <a:ext uri="{FF2B5EF4-FFF2-40B4-BE49-F238E27FC236}">
                    <a16:creationId xmlns:a16="http://schemas.microsoft.com/office/drawing/2014/main" id="{5BB74DF6-2736-09B3-B217-4F61E022C5A6}"/>
                  </a:ext>
                </a:extLst>
              </p:cNvPr>
              <p:cNvSpPr/>
              <p:nvPr/>
            </p:nvSpPr>
            <p:spPr>
              <a:xfrm>
                <a:off x="6246300" y="12719304"/>
                <a:ext cx="201168" cy="45720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95" name="detect_2">
                <a:extLst>
                  <a:ext uri="{FF2B5EF4-FFF2-40B4-BE49-F238E27FC236}">
                    <a16:creationId xmlns:a16="http://schemas.microsoft.com/office/drawing/2014/main" id="{6F54102E-B523-36A7-6554-2474B4200F42}"/>
                  </a:ext>
                </a:extLst>
              </p:cNvPr>
              <p:cNvSpPr/>
              <p:nvPr/>
            </p:nvSpPr>
            <p:spPr>
              <a:xfrm>
                <a:off x="6246300" y="12719304"/>
                <a:ext cx="45720" cy="201168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96" name="detect_3">
                <a:extLst>
                  <a:ext uri="{FF2B5EF4-FFF2-40B4-BE49-F238E27FC236}">
                    <a16:creationId xmlns:a16="http://schemas.microsoft.com/office/drawing/2014/main" id="{226412F2-965A-8F90-A885-F8A7E518538F}"/>
                  </a:ext>
                </a:extLst>
              </p:cNvPr>
              <p:cNvSpPr/>
              <p:nvPr/>
            </p:nvSpPr>
            <p:spPr>
              <a:xfrm>
                <a:off x="6811332" y="12719304"/>
                <a:ext cx="201168" cy="45720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97" name="detect_4">
                <a:extLst>
                  <a:ext uri="{FF2B5EF4-FFF2-40B4-BE49-F238E27FC236}">
                    <a16:creationId xmlns:a16="http://schemas.microsoft.com/office/drawing/2014/main" id="{1C1D9CFD-F3B8-7831-6D1F-B92565837837}"/>
                  </a:ext>
                </a:extLst>
              </p:cNvPr>
              <p:cNvSpPr/>
              <p:nvPr/>
            </p:nvSpPr>
            <p:spPr>
              <a:xfrm>
                <a:off x="6966780" y="12719304"/>
                <a:ext cx="45720" cy="201168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98" name="detect_5">
                <a:extLst>
                  <a:ext uri="{FF2B5EF4-FFF2-40B4-BE49-F238E27FC236}">
                    <a16:creationId xmlns:a16="http://schemas.microsoft.com/office/drawing/2014/main" id="{A953BF54-65C2-4307-061D-AB7C5E38C0CE}"/>
                  </a:ext>
                </a:extLst>
              </p:cNvPr>
              <p:cNvSpPr/>
              <p:nvPr/>
            </p:nvSpPr>
            <p:spPr>
              <a:xfrm>
                <a:off x="6246300" y="13844016"/>
                <a:ext cx="201168" cy="45720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699" name="detect_6">
                <a:extLst>
                  <a:ext uri="{FF2B5EF4-FFF2-40B4-BE49-F238E27FC236}">
                    <a16:creationId xmlns:a16="http://schemas.microsoft.com/office/drawing/2014/main" id="{4C64A65F-3711-DEBA-8C91-7D3AF8BC113A}"/>
                  </a:ext>
                </a:extLst>
              </p:cNvPr>
              <p:cNvSpPr/>
              <p:nvPr/>
            </p:nvSpPr>
            <p:spPr>
              <a:xfrm>
                <a:off x="6246300" y="13688568"/>
                <a:ext cx="45720" cy="201168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00" name="detect_7">
                <a:extLst>
                  <a:ext uri="{FF2B5EF4-FFF2-40B4-BE49-F238E27FC236}">
                    <a16:creationId xmlns:a16="http://schemas.microsoft.com/office/drawing/2014/main" id="{C375D07D-F292-76B2-5615-8D9ED1C34585}"/>
                  </a:ext>
                </a:extLst>
              </p:cNvPr>
              <p:cNvSpPr/>
              <p:nvPr/>
            </p:nvSpPr>
            <p:spPr>
              <a:xfrm>
                <a:off x="6811332" y="13844016"/>
                <a:ext cx="201168" cy="45720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01" name="detect_8">
                <a:extLst>
                  <a:ext uri="{FF2B5EF4-FFF2-40B4-BE49-F238E27FC236}">
                    <a16:creationId xmlns:a16="http://schemas.microsoft.com/office/drawing/2014/main" id="{4AB5D872-AF88-80C2-4251-FC9196E03C31}"/>
                  </a:ext>
                </a:extLst>
              </p:cNvPr>
              <p:cNvSpPr/>
              <p:nvPr/>
            </p:nvSpPr>
            <p:spPr>
              <a:xfrm>
                <a:off x="6966780" y="13688568"/>
                <a:ext cx="45720" cy="201168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02" name="activity_tag">
                <a:extLst>
                  <a:ext uri="{FF2B5EF4-FFF2-40B4-BE49-F238E27FC236}">
                    <a16:creationId xmlns:a16="http://schemas.microsoft.com/office/drawing/2014/main" id="{F684BAB5-FBFE-FBE8-F7A8-3DCBFEB43448}"/>
                  </a:ext>
                </a:extLst>
              </p:cNvPr>
              <p:cNvSpPr/>
              <p:nvPr/>
            </p:nvSpPr>
            <p:spPr>
              <a:xfrm>
                <a:off x="7158804" y="13103352"/>
                <a:ext cx="2157984" cy="402336"/>
              </a:xfrm>
              <a:prstGeom prst="roundRect">
                <a:avLst>
                  <a:gd name="adj" fmla="val 40000"/>
                </a:avLst>
              </a:prstGeom>
              <a:solidFill>
                <a:srgbClr val="FFFFFF"/>
              </a:solidFill>
              <a:ln w="38032">
                <a:solidFill>
                  <a:srgbClr val="C8102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03" name="Oval 94">
                <a:extLst>
                  <a:ext uri="{FF2B5EF4-FFF2-40B4-BE49-F238E27FC236}">
                    <a16:creationId xmlns:a16="http://schemas.microsoft.com/office/drawing/2014/main" id="{AF106911-2C6B-C40C-5A7A-AE623C801E00}"/>
                  </a:ext>
                </a:extLst>
              </p:cNvPr>
              <p:cNvSpPr/>
              <p:nvPr/>
            </p:nvSpPr>
            <p:spPr>
              <a:xfrm>
                <a:off x="7286820" y="13231368"/>
                <a:ext cx="146304" cy="146304"/>
              </a:xfrm>
              <a:prstGeom prst="ellipse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04" name="TextBox 95">
                <a:extLst>
                  <a:ext uri="{FF2B5EF4-FFF2-40B4-BE49-F238E27FC236}">
                    <a16:creationId xmlns:a16="http://schemas.microsoft.com/office/drawing/2014/main" id="{FDFC34D5-0816-901E-6F1F-73742732A95A}"/>
                  </a:ext>
                </a:extLst>
              </p:cNvPr>
              <p:cNvSpPr txBox="1"/>
              <p:nvPr/>
            </p:nvSpPr>
            <p:spPr>
              <a:xfrm>
                <a:off x="7506276" y="13174309"/>
                <a:ext cx="1755648" cy="25511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32"/>
                  </a:spcAft>
                </a:pPr>
                <a:r>
                  <a:rPr sz="1941" b="1" i="0" dirty="0">
                    <a:solidFill>
                      <a:srgbClr val="C8102E"/>
                    </a:solidFill>
                    <a:latin typeface="Arial"/>
                  </a:rPr>
                  <a:t>Walking with cane</a:t>
                </a:r>
              </a:p>
            </p:txBody>
          </p:sp>
          <p:pic>
            <p:nvPicPr>
              <p:cNvPr id="9705" name="survivor" descr="cls_idle.png">
                <a:extLst>
                  <a:ext uri="{FF2B5EF4-FFF2-40B4-BE49-F238E27FC236}">
                    <a16:creationId xmlns:a16="http://schemas.microsoft.com/office/drawing/2014/main" id="{9C5BF2B7-0C99-430B-E236-E2C9D974E1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66202" y="14493240"/>
                <a:ext cx="1102268" cy="950976"/>
              </a:xfrm>
              <a:prstGeom prst="rect">
                <a:avLst/>
              </a:prstGeom>
            </p:spPr>
          </p:pic>
          <p:sp>
            <p:nvSpPr>
              <p:cNvPr id="9706" name="detect_1">
                <a:extLst>
                  <a:ext uri="{FF2B5EF4-FFF2-40B4-BE49-F238E27FC236}">
                    <a16:creationId xmlns:a16="http://schemas.microsoft.com/office/drawing/2014/main" id="{E7CBDAAB-4932-3EBC-7BB5-72297705DEFB}"/>
                  </a:ext>
                </a:extLst>
              </p:cNvPr>
              <p:cNvSpPr/>
              <p:nvPr/>
            </p:nvSpPr>
            <p:spPr>
              <a:xfrm>
                <a:off x="5438186" y="14365224"/>
                <a:ext cx="201168" cy="45720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07" name="detect_2">
                <a:extLst>
                  <a:ext uri="{FF2B5EF4-FFF2-40B4-BE49-F238E27FC236}">
                    <a16:creationId xmlns:a16="http://schemas.microsoft.com/office/drawing/2014/main" id="{72AE014F-AEDB-EFBC-E9F5-E5A5A73CEC72}"/>
                  </a:ext>
                </a:extLst>
              </p:cNvPr>
              <p:cNvSpPr/>
              <p:nvPr/>
            </p:nvSpPr>
            <p:spPr>
              <a:xfrm>
                <a:off x="5438186" y="14365224"/>
                <a:ext cx="45720" cy="201168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08" name="detect_3">
                <a:extLst>
                  <a:ext uri="{FF2B5EF4-FFF2-40B4-BE49-F238E27FC236}">
                    <a16:creationId xmlns:a16="http://schemas.microsoft.com/office/drawing/2014/main" id="{EE57D3B0-1597-E5B2-BC9D-3DB146736A57}"/>
                  </a:ext>
                </a:extLst>
              </p:cNvPr>
              <p:cNvSpPr/>
              <p:nvPr/>
            </p:nvSpPr>
            <p:spPr>
              <a:xfrm>
                <a:off x="6595318" y="14365224"/>
                <a:ext cx="201168" cy="45720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09" name="detect_4">
                <a:extLst>
                  <a:ext uri="{FF2B5EF4-FFF2-40B4-BE49-F238E27FC236}">
                    <a16:creationId xmlns:a16="http://schemas.microsoft.com/office/drawing/2014/main" id="{40E782E6-386D-1B04-FEDA-DEC016CBFEFF}"/>
                  </a:ext>
                </a:extLst>
              </p:cNvPr>
              <p:cNvSpPr/>
              <p:nvPr/>
            </p:nvSpPr>
            <p:spPr>
              <a:xfrm>
                <a:off x="6750766" y="14365224"/>
                <a:ext cx="45720" cy="201168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10" name="detect_5">
                <a:extLst>
                  <a:ext uri="{FF2B5EF4-FFF2-40B4-BE49-F238E27FC236}">
                    <a16:creationId xmlns:a16="http://schemas.microsoft.com/office/drawing/2014/main" id="{903F95A8-162A-A493-84F9-B9F427E0D93D}"/>
                  </a:ext>
                </a:extLst>
              </p:cNvPr>
              <p:cNvSpPr/>
              <p:nvPr/>
            </p:nvSpPr>
            <p:spPr>
              <a:xfrm>
                <a:off x="5438186" y="15526512"/>
                <a:ext cx="201168" cy="45720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11" name="detect_6">
                <a:extLst>
                  <a:ext uri="{FF2B5EF4-FFF2-40B4-BE49-F238E27FC236}">
                    <a16:creationId xmlns:a16="http://schemas.microsoft.com/office/drawing/2014/main" id="{B8DAF3D4-0E16-4197-A35A-7BA6B9C4B65E}"/>
                  </a:ext>
                </a:extLst>
              </p:cNvPr>
              <p:cNvSpPr/>
              <p:nvPr/>
            </p:nvSpPr>
            <p:spPr>
              <a:xfrm>
                <a:off x="5438186" y="15371064"/>
                <a:ext cx="45720" cy="201168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12" name="detect_7">
                <a:extLst>
                  <a:ext uri="{FF2B5EF4-FFF2-40B4-BE49-F238E27FC236}">
                    <a16:creationId xmlns:a16="http://schemas.microsoft.com/office/drawing/2014/main" id="{BE174441-C52F-4CDC-948A-F0F043A19C7A}"/>
                  </a:ext>
                </a:extLst>
              </p:cNvPr>
              <p:cNvSpPr/>
              <p:nvPr/>
            </p:nvSpPr>
            <p:spPr>
              <a:xfrm>
                <a:off x="6595318" y="15526512"/>
                <a:ext cx="201168" cy="45720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13" name="detect_8">
                <a:extLst>
                  <a:ext uri="{FF2B5EF4-FFF2-40B4-BE49-F238E27FC236}">
                    <a16:creationId xmlns:a16="http://schemas.microsoft.com/office/drawing/2014/main" id="{84B410BA-B502-3954-677E-99BF9FA02AF2}"/>
                  </a:ext>
                </a:extLst>
              </p:cNvPr>
              <p:cNvSpPr/>
              <p:nvPr/>
            </p:nvSpPr>
            <p:spPr>
              <a:xfrm>
                <a:off x="6750766" y="15371064"/>
                <a:ext cx="45720" cy="201168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14" name="activity_tag">
                <a:extLst>
                  <a:ext uri="{FF2B5EF4-FFF2-40B4-BE49-F238E27FC236}">
                    <a16:creationId xmlns:a16="http://schemas.microsoft.com/office/drawing/2014/main" id="{3C673DD4-7EC0-910F-89B5-04F1451D82CE}"/>
                  </a:ext>
                </a:extLst>
              </p:cNvPr>
              <p:cNvSpPr/>
              <p:nvPr/>
            </p:nvSpPr>
            <p:spPr>
              <a:xfrm>
                <a:off x="6942790" y="14767560"/>
                <a:ext cx="2157984" cy="402336"/>
              </a:xfrm>
              <a:prstGeom prst="roundRect">
                <a:avLst>
                  <a:gd name="adj" fmla="val 40000"/>
                </a:avLst>
              </a:prstGeom>
              <a:solidFill>
                <a:srgbClr val="FFFFFF"/>
              </a:solidFill>
              <a:ln w="38032">
                <a:solidFill>
                  <a:srgbClr val="C8102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15" name="Oval 209">
                <a:extLst>
                  <a:ext uri="{FF2B5EF4-FFF2-40B4-BE49-F238E27FC236}">
                    <a16:creationId xmlns:a16="http://schemas.microsoft.com/office/drawing/2014/main" id="{3EB5453E-08C6-525E-A133-06A7A20C01B8}"/>
                  </a:ext>
                </a:extLst>
              </p:cNvPr>
              <p:cNvSpPr/>
              <p:nvPr/>
            </p:nvSpPr>
            <p:spPr>
              <a:xfrm>
                <a:off x="7070806" y="14895576"/>
                <a:ext cx="146304" cy="146304"/>
              </a:xfrm>
              <a:prstGeom prst="ellipse">
                <a:avLst/>
              </a:prstGeom>
              <a:solidFill>
                <a:srgbClr val="C8102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16" name="TextBox 210">
                <a:extLst>
                  <a:ext uri="{FF2B5EF4-FFF2-40B4-BE49-F238E27FC236}">
                    <a16:creationId xmlns:a16="http://schemas.microsoft.com/office/drawing/2014/main" id="{DD35F098-195F-A0A9-4536-A3D6ACC155C0}"/>
                  </a:ext>
                </a:extLst>
              </p:cNvPr>
              <p:cNvSpPr txBox="1"/>
              <p:nvPr/>
            </p:nvSpPr>
            <p:spPr>
              <a:xfrm>
                <a:off x="7290262" y="14838517"/>
                <a:ext cx="1755648" cy="25511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32"/>
                  </a:spcAft>
                </a:pPr>
                <a:r>
                  <a:rPr sz="1941" b="1" i="0">
                    <a:solidFill>
                      <a:srgbClr val="C8102E"/>
                    </a:solidFill>
                    <a:latin typeface="Arial"/>
                  </a:rPr>
                  <a:t>Idle — immobile</a:t>
                </a:r>
              </a:p>
            </p:txBody>
          </p:sp>
          <p:sp>
            <p:nvSpPr>
              <p:cNvPr id="9717" name="wheel_rear">
                <a:extLst>
                  <a:ext uri="{FF2B5EF4-FFF2-40B4-BE49-F238E27FC236}">
                    <a16:creationId xmlns:a16="http://schemas.microsoft.com/office/drawing/2014/main" id="{3CED139E-3D77-4131-105B-FD44B83D819D}"/>
                  </a:ext>
                </a:extLst>
              </p:cNvPr>
              <p:cNvSpPr/>
              <p:nvPr/>
            </p:nvSpPr>
            <p:spPr>
              <a:xfrm>
                <a:off x="1984248" y="14932152"/>
                <a:ext cx="512064" cy="512064"/>
              </a:xfrm>
              <a:prstGeom prst="ellipse">
                <a:avLst/>
              </a:prstGeom>
              <a:solidFill>
                <a:srgbClr val="16324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18" name="Oval 212">
                <a:extLst>
                  <a:ext uri="{FF2B5EF4-FFF2-40B4-BE49-F238E27FC236}">
                    <a16:creationId xmlns:a16="http://schemas.microsoft.com/office/drawing/2014/main" id="{DB50543D-2FA7-AD25-39E3-CFDC8EE864E9}"/>
                  </a:ext>
                </a:extLst>
              </p:cNvPr>
              <p:cNvSpPr/>
              <p:nvPr/>
            </p:nvSpPr>
            <p:spPr>
              <a:xfrm>
                <a:off x="2139696" y="15087600"/>
                <a:ext cx="201168" cy="201168"/>
              </a:xfrm>
              <a:prstGeom prst="ellipse">
                <a:avLst/>
              </a:prstGeom>
              <a:solidFill>
                <a:srgbClr val="7FB6C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19" name="wheel_front">
                <a:extLst>
                  <a:ext uri="{FF2B5EF4-FFF2-40B4-BE49-F238E27FC236}">
                    <a16:creationId xmlns:a16="http://schemas.microsoft.com/office/drawing/2014/main" id="{68BACAF6-8E7A-E827-E7BA-289174CE2830}"/>
                  </a:ext>
                </a:extLst>
              </p:cNvPr>
              <p:cNvSpPr/>
              <p:nvPr/>
            </p:nvSpPr>
            <p:spPr>
              <a:xfrm>
                <a:off x="2752344" y="14932152"/>
                <a:ext cx="512064" cy="512064"/>
              </a:xfrm>
              <a:prstGeom prst="ellipse">
                <a:avLst/>
              </a:prstGeom>
              <a:solidFill>
                <a:srgbClr val="16324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20" name="Oval 214">
                <a:extLst>
                  <a:ext uri="{FF2B5EF4-FFF2-40B4-BE49-F238E27FC236}">
                    <a16:creationId xmlns:a16="http://schemas.microsoft.com/office/drawing/2014/main" id="{5426BFA3-DA57-8990-0C3A-15D5AD1AF60F}"/>
                  </a:ext>
                </a:extLst>
              </p:cNvPr>
              <p:cNvSpPr/>
              <p:nvPr/>
            </p:nvSpPr>
            <p:spPr>
              <a:xfrm>
                <a:off x="2907792" y="15087600"/>
                <a:ext cx="201168" cy="201168"/>
              </a:xfrm>
              <a:prstGeom prst="ellipse">
                <a:avLst/>
              </a:prstGeom>
              <a:solidFill>
                <a:srgbClr val="7FB6C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21" name="rover_chassis">
                <a:extLst>
                  <a:ext uri="{FF2B5EF4-FFF2-40B4-BE49-F238E27FC236}">
                    <a16:creationId xmlns:a16="http://schemas.microsoft.com/office/drawing/2014/main" id="{8660FBE4-49F5-0CA5-3C54-2CF396DB095F}"/>
                  </a:ext>
                </a:extLst>
              </p:cNvPr>
              <p:cNvSpPr/>
              <p:nvPr/>
            </p:nvSpPr>
            <p:spPr>
              <a:xfrm>
                <a:off x="1892808" y="14602968"/>
                <a:ext cx="1463040" cy="512064"/>
              </a:xfrm>
              <a:prstGeom prst="roundRect">
                <a:avLst>
                  <a:gd name="adj" fmla="val 22000"/>
                </a:avLst>
              </a:prstGeom>
              <a:solidFill>
                <a:srgbClr val="16324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22" name="Rounded Rectangle 110">
                <a:extLst>
                  <a:ext uri="{FF2B5EF4-FFF2-40B4-BE49-F238E27FC236}">
                    <a16:creationId xmlns:a16="http://schemas.microsoft.com/office/drawing/2014/main" id="{4A78A319-700A-EDFF-B80F-F2F946B5618A}"/>
                  </a:ext>
                </a:extLst>
              </p:cNvPr>
              <p:cNvSpPr/>
              <p:nvPr/>
            </p:nvSpPr>
            <p:spPr>
              <a:xfrm>
                <a:off x="2039112" y="14712696"/>
                <a:ext cx="1170432" cy="109728"/>
              </a:xfrm>
              <a:prstGeom prst="roundRect">
                <a:avLst>
                  <a:gd name="adj" fmla="val 50000"/>
                </a:avLst>
              </a:prstGeom>
              <a:solidFill>
                <a:srgbClr val="3E5D7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23" name="rover_mast">
                <a:extLst>
                  <a:ext uri="{FF2B5EF4-FFF2-40B4-BE49-F238E27FC236}">
                    <a16:creationId xmlns:a16="http://schemas.microsoft.com/office/drawing/2014/main" id="{08EF7F52-513A-410D-2ECF-649C5E13D264}"/>
                  </a:ext>
                </a:extLst>
              </p:cNvPr>
              <p:cNvSpPr/>
              <p:nvPr/>
            </p:nvSpPr>
            <p:spPr>
              <a:xfrm>
                <a:off x="2532888" y="13889736"/>
                <a:ext cx="164592" cy="768096"/>
              </a:xfrm>
              <a:prstGeom prst="rect">
                <a:avLst/>
              </a:prstGeom>
              <a:solidFill>
                <a:srgbClr val="16324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24" name="radar_head">
                <a:extLst>
                  <a:ext uri="{FF2B5EF4-FFF2-40B4-BE49-F238E27FC236}">
                    <a16:creationId xmlns:a16="http://schemas.microsoft.com/office/drawing/2014/main" id="{FB3CC2E5-5C05-B1D8-2FB0-A2DB6DC74CEF}"/>
                  </a:ext>
                </a:extLst>
              </p:cNvPr>
              <p:cNvSpPr/>
              <p:nvPr/>
            </p:nvSpPr>
            <p:spPr>
              <a:xfrm>
                <a:off x="2057400" y="13322808"/>
                <a:ext cx="1207008" cy="621792"/>
              </a:xfrm>
              <a:prstGeom prst="roundRect">
                <a:avLst>
                  <a:gd name="adj" fmla="val 12000"/>
                </a:avLst>
              </a:prstGeom>
              <a:solidFill>
                <a:srgbClr val="16324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25" name="Rounded Rectangle 113">
                <a:extLst>
                  <a:ext uri="{FF2B5EF4-FFF2-40B4-BE49-F238E27FC236}">
                    <a16:creationId xmlns:a16="http://schemas.microsoft.com/office/drawing/2014/main" id="{29028293-9291-C9BD-91C9-7BFF00547B9B}"/>
                  </a:ext>
                </a:extLst>
              </p:cNvPr>
              <p:cNvSpPr/>
              <p:nvPr/>
            </p:nvSpPr>
            <p:spPr>
              <a:xfrm>
                <a:off x="2185416" y="13432536"/>
                <a:ext cx="155448" cy="109728"/>
              </a:xfrm>
              <a:prstGeom prst="roundRect">
                <a:avLst>
                  <a:gd name="adj" fmla="val 20000"/>
                </a:avLst>
              </a:prstGeom>
              <a:solidFill>
                <a:srgbClr val="7FB6C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26" name="Rounded Rectangle 114">
                <a:extLst>
                  <a:ext uri="{FF2B5EF4-FFF2-40B4-BE49-F238E27FC236}">
                    <a16:creationId xmlns:a16="http://schemas.microsoft.com/office/drawing/2014/main" id="{0ED6441D-0481-E82A-5D15-61731777E017}"/>
                  </a:ext>
                </a:extLst>
              </p:cNvPr>
              <p:cNvSpPr/>
              <p:nvPr/>
            </p:nvSpPr>
            <p:spPr>
              <a:xfrm>
                <a:off x="2441448" y="13432536"/>
                <a:ext cx="155448" cy="109728"/>
              </a:xfrm>
              <a:prstGeom prst="roundRect">
                <a:avLst>
                  <a:gd name="adj" fmla="val 20000"/>
                </a:avLst>
              </a:prstGeom>
              <a:solidFill>
                <a:srgbClr val="7FB6C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27" name="Rounded Rectangle 115">
                <a:extLst>
                  <a:ext uri="{FF2B5EF4-FFF2-40B4-BE49-F238E27FC236}">
                    <a16:creationId xmlns:a16="http://schemas.microsoft.com/office/drawing/2014/main" id="{BEF5880E-8215-B11A-7C42-9BD9263EC622}"/>
                  </a:ext>
                </a:extLst>
              </p:cNvPr>
              <p:cNvSpPr/>
              <p:nvPr/>
            </p:nvSpPr>
            <p:spPr>
              <a:xfrm>
                <a:off x="2697480" y="13432536"/>
                <a:ext cx="155448" cy="109728"/>
              </a:xfrm>
              <a:prstGeom prst="roundRect">
                <a:avLst>
                  <a:gd name="adj" fmla="val 20000"/>
                </a:avLst>
              </a:prstGeom>
              <a:solidFill>
                <a:srgbClr val="7FB6C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28" name="Rounded Rectangle 116">
                <a:extLst>
                  <a:ext uri="{FF2B5EF4-FFF2-40B4-BE49-F238E27FC236}">
                    <a16:creationId xmlns:a16="http://schemas.microsoft.com/office/drawing/2014/main" id="{886BAEF9-1F5A-16F4-4DFD-E69A0A8006DB}"/>
                  </a:ext>
                </a:extLst>
              </p:cNvPr>
              <p:cNvSpPr/>
              <p:nvPr/>
            </p:nvSpPr>
            <p:spPr>
              <a:xfrm>
                <a:off x="2953512" y="13432536"/>
                <a:ext cx="155448" cy="109728"/>
              </a:xfrm>
              <a:prstGeom prst="roundRect">
                <a:avLst>
                  <a:gd name="adj" fmla="val 20000"/>
                </a:avLst>
              </a:prstGeom>
              <a:solidFill>
                <a:srgbClr val="7FB6C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29" name="Rounded Rectangle 117">
                <a:extLst>
                  <a:ext uri="{FF2B5EF4-FFF2-40B4-BE49-F238E27FC236}">
                    <a16:creationId xmlns:a16="http://schemas.microsoft.com/office/drawing/2014/main" id="{2A542E9D-7806-C67B-2DC4-21BCF4DBB05A}"/>
                  </a:ext>
                </a:extLst>
              </p:cNvPr>
              <p:cNvSpPr/>
              <p:nvPr/>
            </p:nvSpPr>
            <p:spPr>
              <a:xfrm>
                <a:off x="2185416" y="13615416"/>
                <a:ext cx="155448" cy="109728"/>
              </a:xfrm>
              <a:prstGeom prst="roundRect">
                <a:avLst>
                  <a:gd name="adj" fmla="val 20000"/>
                </a:avLst>
              </a:prstGeom>
              <a:solidFill>
                <a:srgbClr val="7FB6C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30" name="Rounded Rectangle 118">
                <a:extLst>
                  <a:ext uri="{FF2B5EF4-FFF2-40B4-BE49-F238E27FC236}">
                    <a16:creationId xmlns:a16="http://schemas.microsoft.com/office/drawing/2014/main" id="{682A1F95-1C9A-756A-B1E5-04C273724547}"/>
                  </a:ext>
                </a:extLst>
              </p:cNvPr>
              <p:cNvSpPr/>
              <p:nvPr/>
            </p:nvSpPr>
            <p:spPr>
              <a:xfrm>
                <a:off x="2441448" y="13615416"/>
                <a:ext cx="155448" cy="109728"/>
              </a:xfrm>
              <a:prstGeom prst="roundRect">
                <a:avLst>
                  <a:gd name="adj" fmla="val 20000"/>
                </a:avLst>
              </a:prstGeom>
              <a:solidFill>
                <a:srgbClr val="7FB6C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31" name="Rounded Rectangle 119">
                <a:extLst>
                  <a:ext uri="{FF2B5EF4-FFF2-40B4-BE49-F238E27FC236}">
                    <a16:creationId xmlns:a16="http://schemas.microsoft.com/office/drawing/2014/main" id="{5BBE7A82-E5D2-A77C-192A-08DE18DA260D}"/>
                  </a:ext>
                </a:extLst>
              </p:cNvPr>
              <p:cNvSpPr/>
              <p:nvPr/>
            </p:nvSpPr>
            <p:spPr>
              <a:xfrm>
                <a:off x="2697480" y="13615416"/>
                <a:ext cx="155448" cy="109728"/>
              </a:xfrm>
              <a:prstGeom prst="roundRect">
                <a:avLst>
                  <a:gd name="adj" fmla="val 20000"/>
                </a:avLst>
              </a:prstGeom>
              <a:solidFill>
                <a:srgbClr val="7FB6C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32" name="Rounded Rectangle 120">
                <a:extLst>
                  <a:ext uri="{FF2B5EF4-FFF2-40B4-BE49-F238E27FC236}">
                    <a16:creationId xmlns:a16="http://schemas.microsoft.com/office/drawing/2014/main" id="{C048B93D-F20F-0CA5-633C-BF654DBD8778}"/>
                  </a:ext>
                </a:extLst>
              </p:cNvPr>
              <p:cNvSpPr/>
              <p:nvPr/>
            </p:nvSpPr>
            <p:spPr>
              <a:xfrm>
                <a:off x="2953512" y="13615416"/>
                <a:ext cx="155448" cy="109728"/>
              </a:xfrm>
              <a:prstGeom prst="roundRect">
                <a:avLst>
                  <a:gd name="adj" fmla="val 20000"/>
                </a:avLst>
              </a:prstGeom>
              <a:solidFill>
                <a:srgbClr val="7FB6C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33" name="Rounded Rectangle 121">
                <a:extLst>
                  <a:ext uri="{FF2B5EF4-FFF2-40B4-BE49-F238E27FC236}">
                    <a16:creationId xmlns:a16="http://schemas.microsoft.com/office/drawing/2014/main" id="{9C397A94-B816-E775-81B5-918969432FCE}"/>
                  </a:ext>
                </a:extLst>
              </p:cNvPr>
              <p:cNvSpPr/>
              <p:nvPr/>
            </p:nvSpPr>
            <p:spPr>
              <a:xfrm>
                <a:off x="2185416" y="13798296"/>
                <a:ext cx="155448" cy="109728"/>
              </a:xfrm>
              <a:prstGeom prst="roundRect">
                <a:avLst>
                  <a:gd name="adj" fmla="val 20000"/>
                </a:avLst>
              </a:prstGeom>
              <a:solidFill>
                <a:srgbClr val="7FB6C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34" name="Rounded Rectangle 122">
                <a:extLst>
                  <a:ext uri="{FF2B5EF4-FFF2-40B4-BE49-F238E27FC236}">
                    <a16:creationId xmlns:a16="http://schemas.microsoft.com/office/drawing/2014/main" id="{576C1890-AF1E-C6ED-6032-1D81D2E933C2}"/>
                  </a:ext>
                </a:extLst>
              </p:cNvPr>
              <p:cNvSpPr/>
              <p:nvPr/>
            </p:nvSpPr>
            <p:spPr>
              <a:xfrm>
                <a:off x="2441448" y="13798296"/>
                <a:ext cx="155448" cy="109728"/>
              </a:xfrm>
              <a:prstGeom prst="roundRect">
                <a:avLst>
                  <a:gd name="adj" fmla="val 20000"/>
                </a:avLst>
              </a:prstGeom>
              <a:solidFill>
                <a:srgbClr val="7FB6C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35" name="Rounded Rectangle 123">
                <a:extLst>
                  <a:ext uri="{FF2B5EF4-FFF2-40B4-BE49-F238E27FC236}">
                    <a16:creationId xmlns:a16="http://schemas.microsoft.com/office/drawing/2014/main" id="{711E94F5-8EF2-C34E-BD37-D728ECE39AE2}"/>
                  </a:ext>
                </a:extLst>
              </p:cNvPr>
              <p:cNvSpPr/>
              <p:nvPr/>
            </p:nvSpPr>
            <p:spPr>
              <a:xfrm>
                <a:off x="2697480" y="13798296"/>
                <a:ext cx="155448" cy="109728"/>
              </a:xfrm>
              <a:prstGeom prst="roundRect">
                <a:avLst>
                  <a:gd name="adj" fmla="val 20000"/>
                </a:avLst>
              </a:prstGeom>
              <a:solidFill>
                <a:srgbClr val="7FB6C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sp>
            <p:nvSpPr>
              <p:cNvPr id="9736" name="Rounded Rectangle 124">
                <a:extLst>
                  <a:ext uri="{FF2B5EF4-FFF2-40B4-BE49-F238E27FC236}">
                    <a16:creationId xmlns:a16="http://schemas.microsoft.com/office/drawing/2014/main" id="{C237A1F3-0D01-DDF0-512F-5447E10A0A1E}"/>
                  </a:ext>
                </a:extLst>
              </p:cNvPr>
              <p:cNvSpPr/>
              <p:nvPr/>
            </p:nvSpPr>
            <p:spPr>
              <a:xfrm>
                <a:off x="2953512" y="13798296"/>
                <a:ext cx="155448" cy="109728"/>
              </a:xfrm>
              <a:prstGeom prst="roundRect">
                <a:avLst>
                  <a:gd name="adj" fmla="val 20000"/>
                </a:avLst>
              </a:prstGeom>
              <a:solidFill>
                <a:srgbClr val="7FB6C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/>
              </a:p>
            </p:txBody>
          </p:sp>
          <p:cxnSp>
            <p:nvCxnSpPr>
              <p:cNvPr id="9737" name="Connector 125">
                <a:extLst>
                  <a:ext uri="{FF2B5EF4-FFF2-40B4-BE49-F238E27FC236}">
                    <a16:creationId xmlns:a16="http://schemas.microsoft.com/office/drawing/2014/main" id="{C07D7843-645C-C317-EF90-90C01C5983B9}"/>
                  </a:ext>
                </a:extLst>
              </p:cNvPr>
              <p:cNvCxnSpPr/>
              <p:nvPr/>
            </p:nvCxnSpPr>
            <p:spPr>
              <a:xfrm>
                <a:off x="1892808" y="15444216"/>
                <a:ext cx="1463040" cy="0"/>
              </a:xfrm>
              <a:prstGeom prst="line">
                <a:avLst/>
              </a:prstGeom>
              <a:ln w="41075">
                <a:solidFill>
                  <a:srgbClr val="16324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38" name="TextBox 232">
                <a:extLst>
                  <a:ext uri="{FF2B5EF4-FFF2-40B4-BE49-F238E27FC236}">
                    <a16:creationId xmlns:a16="http://schemas.microsoft.com/office/drawing/2014/main" id="{87B0A516-701B-D534-031D-A6B2B2A3F286}"/>
                  </a:ext>
                </a:extLst>
              </p:cNvPr>
              <p:cNvSpPr txBox="1"/>
              <p:nvPr/>
            </p:nvSpPr>
            <p:spPr>
              <a:xfrm>
                <a:off x="1051560" y="15669158"/>
                <a:ext cx="3108960" cy="42519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88"/>
                  </a:spcAft>
                </a:pPr>
                <a:r>
                  <a:rPr sz="3234" b="1" i="0">
                    <a:solidFill>
                      <a:srgbClr val="16324F"/>
                    </a:solidFill>
                    <a:latin typeface="Arial"/>
                  </a:rPr>
                  <a:t>Radar rover</a:t>
                </a:r>
              </a:p>
            </p:txBody>
          </p:sp>
          <p:sp>
            <p:nvSpPr>
              <p:cNvPr id="9739" name="TextBox 233">
                <a:extLst>
                  <a:ext uri="{FF2B5EF4-FFF2-40B4-BE49-F238E27FC236}">
                    <a16:creationId xmlns:a16="http://schemas.microsoft.com/office/drawing/2014/main" id="{7A671455-44F3-0497-2C19-C2AEC5D634E2}"/>
                  </a:ext>
                </a:extLst>
              </p:cNvPr>
              <p:cNvSpPr txBox="1"/>
              <p:nvPr/>
            </p:nvSpPr>
            <p:spPr>
              <a:xfrm>
                <a:off x="1051560" y="16029798"/>
                <a:ext cx="3108960" cy="24378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284"/>
                  </a:spcAft>
                </a:pPr>
                <a:r>
                  <a:rPr sz="2372" b="0" i="0" dirty="0">
                    <a:solidFill>
                      <a:srgbClr val="235078"/>
                    </a:solidFill>
                    <a:latin typeface="Arial"/>
                  </a:rPr>
                  <a:t>7</a:t>
                </a:r>
                <a:r>
                  <a:rPr lang="en-US" sz="2372" b="0" i="0" dirty="0">
                    <a:solidFill>
                      <a:srgbClr val="235078"/>
                    </a:solidFill>
                    <a:latin typeface="Arial"/>
                  </a:rPr>
                  <a:t>7</a:t>
                </a:r>
                <a:r>
                  <a:rPr sz="2372" b="0" i="0" dirty="0">
                    <a:solidFill>
                      <a:srgbClr val="235078"/>
                    </a:solidFill>
                    <a:latin typeface="Arial"/>
                  </a:rPr>
                  <a:t> GHz FMCW</a:t>
                </a:r>
              </a:p>
            </p:txBody>
          </p:sp>
          <p:sp>
            <p:nvSpPr>
              <p:cNvPr id="9740" name="TextBox 236">
                <a:extLst>
                  <a:ext uri="{FF2B5EF4-FFF2-40B4-BE49-F238E27FC236}">
                    <a16:creationId xmlns:a16="http://schemas.microsoft.com/office/drawing/2014/main" id="{0536EB58-36C7-DD17-F10D-BE0A1FC69DA7}"/>
                  </a:ext>
                </a:extLst>
              </p:cNvPr>
              <p:cNvSpPr txBox="1"/>
              <p:nvPr/>
            </p:nvSpPr>
            <p:spPr>
              <a:xfrm>
                <a:off x="6574536" y="15690738"/>
                <a:ext cx="4206240" cy="31021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61"/>
                  </a:spcAft>
                </a:pPr>
                <a:r>
                  <a:rPr sz="3019" b="1" i="0" dirty="0">
                    <a:solidFill>
                      <a:srgbClr val="16324F"/>
                    </a:solidFill>
                    <a:latin typeface="Arial"/>
                  </a:rPr>
                  <a:t>Collapsed structure</a:t>
                </a:r>
                <a:r>
                  <a:rPr lang="en-US" sz="3019" b="1" i="0" dirty="0">
                    <a:solidFill>
                      <a:srgbClr val="16324F"/>
                    </a:solidFill>
                    <a:latin typeface="Arial"/>
                  </a:rPr>
                  <a:t>-</a:t>
                </a:r>
                <a:r>
                  <a:rPr sz="3019" b="1" i="0" dirty="0">
                    <a:solidFill>
                      <a:srgbClr val="16324F"/>
                    </a:solidFill>
                    <a:latin typeface="Arial"/>
                  </a:rPr>
                  <a:t> </a:t>
                </a:r>
                <a:r>
                  <a:rPr lang="en-US" sz="3019" b="1" i="0" dirty="0">
                    <a:solidFill>
                      <a:srgbClr val="16324F"/>
                    </a:solidFill>
                    <a:latin typeface="Arial"/>
                  </a:rPr>
                  <a:t>zoomed in</a:t>
                </a:r>
                <a:endParaRPr sz="3019" b="1" i="0" dirty="0">
                  <a:solidFill>
                    <a:srgbClr val="16324F"/>
                  </a:solidFill>
                  <a:latin typeface="Arial"/>
                </a:endParaRPr>
              </a:p>
            </p:txBody>
          </p:sp>
          <p:sp>
            <p:nvSpPr>
              <p:cNvPr id="9741" name="TextBox 237">
                <a:extLst>
                  <a:ext uri="{FF2B5EF4-FFF2-40B4-BE49-F238E27FC236}">
                    <a16:creationId xmlns:a16="http://schemas.microsoft.com/office/drawing/2014/main" id="{B33D966D-A0F7-68F6-B768-3AFEEA894FAC}"/>
                  </a:ext>
                </a:extLst>
              </p:cNvPr>
              <p:cNvSpPr txBox="1"/>
              <p:nvPr/>
            </p:nvSpPr>
            <p:spPr>
              <a:xfrm>
                <a:off x="6300216" y="16040588"/>
                <a:ext cx="4754880" cy="23269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271"/>
                  </a:spcAft>
                </a:pPr>
                <a:r>
                  <a:rPr sz="2264" b="0" i="0" dirty="0">
                    <a:solidFill>
                      <a:srgbClr val="235078"/>
                    </a:solidFill>
                    <a:latin typeface="Arial"/>
                  </a:rPr>
                  <a:t>Survivors found and classified</a:t>
                </a:r>
              </a:p>
            </p:txBody>
          </p:sp>
        </p:grpSp>
      </p:grpSp>
      <p:sp>
        <p:nvSpPr>
          <p:cNvPr id="9500" name="TextBox 9100"/>
          <p:cNvSpPr txBox="1"/>
          <p:nvPr/>
        </p:nvSpPr>
        <p:spPr>
          <a:xfrm>
            <a:off x="11338560" y="18288000"/>
            <a:ext cx="1655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35078"/>
                </a:solidFill>
                <a:latin typeface="Calibri"/>
              </a:rPr>
              <a:t>Radar sees through dust and debris without needing light or invading private spaces.</a:t>
            </a:r>
          </a:p>
          <a:p>
            <a:pPr algn="ctr"/>
            <a:r>
              <a:rPr sz="2800" b="0">
                <a:solidFill>
                  <a:srgbClr val="3E5163"/>
                </a:solidFill>
                <a:latin typeface="Calibri"/>
              </a:rPr>
              <a:t>12 activity classes (9 gaits, 3 in-place)  ·  6 participants  ·  77 GHz FMCW radar</a:t>
            </a:r>
          </a:p>
        </p:txBody>
      </p:sp>
      <p:grpSp>
        <p:nvGrpSpPr>
          <p:cNvPr id="9200" name="Roadblocks"/>
          <p:cNvGrpSpPr/>
          <p:nvPr/>
        </p:nvGrpSpPr>
        <p:grpSpPr>
          <a:xfrm>
            <a:off x="30657851" y="7955279"/>
            <a:ext cx="10647577" cy="5577840"/>
            <a:chOff x="18004456" y="9303371"/>
            <a:chExt cx="6426387" cy="3366527"/>
          </a:xfrm>
        </p:grpSpPr>
        <p:grpSp>
          <p:nvGrpSpPr>
            <p:cNvPr id="9742" name="Group 347">
              <a:extLst>
                <a:ext uri="{FF2B5EF4-FFF2-40B4-BE49-F238E27FC236}">
                  <a16:creationId xmlns:a16="http://schemas.microsoft.com/office/drawing/2014/main" id="{633BADA5-7795-04C0-33A3-C89938A82C60}"/>
                </a:ext>
              </a:extLst>
            </p:cNvPr>
            <p:cNvGrpSpPr/>
            <p:nvPr/>
          </p:nvGrpSpPr>
          <p:grpSpPr>
            <a:xfrm>
              <a:off x="18004456" y="9303371"/>
              <a:ext cx="6426387" cy="3366527"/>
              <a:chOff x="18146029" y="9367973"/>
              <a:chExt cx="6426387" cy="3366527"/>
            </a:xfrm>
          </p:grpSpPr>
          <p:grpSp>
            <p:nvGrpSpPr>
              <p:cNvPr id="9743" name="Group 318">
                <a:extLst>
                  <a:ext uri="{FF2B5EF4-FFF2-40B4-BE49-F238E27FC236}">
                    <a16:creationId xmlns:a16="http://schemas.microsoft.com/office/drawing/2014/main" id="{8B4B2D77-F804-7894-B9EC-C018F70DFEE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8146029" y="10399661"/>
                <a:ext cx="2193131" cy="2334839"/>
                <a:chOff x="6231876" y="19941774"/>
                <a:chExt cx="2193131" cy="2886057"/>
              </a:xfrm>
            </p:grpSpPr>
            <p:grpSp>
              <p:nvGrpSpPr>
                <p:cNvPr id="9744" name="Group 319">
                  <a:extLst>
                    <a:ext uri="{FF2B5EF4-FFF2-40B4-BE49-F238E27FC236}">
                      <a16:creationId xmlns:a16="http://schemas.microsoft.com/office/drawing/2014/main" id="{B4BD2713-C4F0-3104-7732-218F5BD87101}"/>
                    </a:ext>
                  </a:extLst>
                </p:cNvPr>
                <p:cNvGrpSpPr/>
                <p:nvPr/>
              </p:nvGrpSpPr>
              <p:grpSpPr>
                <a:xfrm>
                  <a:off x="6573701" y="19941774"/>
                  <a:ext cx="1614849" cy="1948596"/>
                  <a:chOff x="2269703" y="2214158"/>
                  <a:chExt cx="1614849" cy="1948596"/>
                </a:xfrm>
              </p:grpSpPr>
              <p:pic>
                <p:nvPicPr>
                  <p:cNvPr id="9745" name="Picture 321">
                    <a:extLst>
                      <a:ext uri="{FF2B5EF4-FFF2-40B4-BE49-F238E27FC236}">
                        <a16:creationId xmlns:a16="http://schemas.microsoft.com/office/drawing/2014/main" id="{8425407B-3F83-8C76-0FA2-8AFFCED935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2659123" y="2820480"/>
                    <a:ext cx="845254" cy="845254"/>
                  </a:xfrm>
                  <a:prstGeom prst="rect">
                    <a:avLst/>
                  </a:prstGeom>
                </p:spPr>
              </p:pic>
              <p:pic>
                <p:nvPicPr>
                  <p:cNvPr id="9746" name="Picture 322">
                    <a:extLst>
                      <a:ext uri="{FF2B5EF4-FFF2-40B4-BE49-F238E27FC236}">
                        <a16:creationId xmlns:a16="http://schemas.microsoft.com/office/drawing/2014/main" id="{38F3ECC0-F93A-BE2F-C008-E3E5BCE650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/>
                  <a:srcRect l="10492" t="6028" r="10936" b="19221"/>
                  <a:stretch/>
                </p:blipFill>
                <p:spPr>
                  <a:xfrm>
                    <a:off x="2279589" y="2659161"/>
                    <a:ext cx="315278" cy="299949"/>
                  </a:xfrm>
                  <a:prstGeom prst="rect">
                    <a:avLst/>
                  </a:prstGeom>
                </p:spPr>
              </p:pic>
              <p:pic>
                <p:nvPicPr>
                  <p:cNvPr id="9747" name="Picture 323">
                    <a:extLst>
                      <a:ext uri="{FF2B5EF4-FFF2-40B4-BE49-F238E27FC236}">
                        <a16:creationId xmlns:a16="http://schemas.microsoft.com/office/drawing/2014/main" id="{8DF19A82-30F7-9ABE-8659-883F185A35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rcRect l="28551" r="30077" b="17029"/>
                  <a:stretch/>
                </p:blipFill>
                <p:spPr>
                  <a:xfrm flipH="1">
                    <a:off x="2940365" y="2214158"/>
                    <a:ext cx="168158" cy="337240"/>
                  </a:xfrm>
                  <a:prstGeom prst="rect">
                    <a:avLst/>
                  </a:prstGeom>
                </p:spPr>
              </p:pic>
              <p:pic>
                <p:nvPicPr>
                  <p:cNvPr id="9748" name="Picture 324">
                    <a:extLst>
                      <a:ext uri="{FF2B5EF4-FFF2-40B4-BE49-F238E27FC236}">
                        <a16:creationId xmlns:a16="http://schemas.microsoft.com/office/drawing/2014/main" id="{47686B57-505B-6CA2-1031-EF3A10D2BE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/>
                  <a:srcRect l="14371" r="15011" b="20124"/>
                  <a:stretch/>
                </p:blipFill>
                <p:spPr>
                  <a:xfrm>
                    <a:off x="3568633" y="2571750"/>
                    <a:ext cx="315919" cy="357342"/>
                  </a:xfrm>
                  <a:prstGeom prst="rect">
                    <a:avLst/>
                  </a:prstGeom>
                </p:spPr>
              </p:pic>
              <p:pic>
                <p:nvPicPr>
                  <p:cNvPr id="9749" name="Picture 325" descr="cls_get_up.png">
                    <a:extLst>
                      <a:ext uri="{FF2B5EF4-FFF2-40B4-BE49-F238E27FC236}">
                        <a16:creationId xmlns:a16="http://schemas.microsoft.com/office/drawing/2014/main" id="{9CDE5553-7CEF-3206-C2A3-DD815F0152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2720296" y="3863014"/>
                    <a:ext cx="608296" cy="299740"/>
                  </a:xfrm>
                  <a:prstGeom prst="rect">
                    <a:avLst/>
                  </a:prstGeom>
                </p:spPr>
              </p:pic>
              <p:pic>
                <p:nvPicPr>
                  <p:cNvPr id="9750" name="Picture 326" descr="cls_skipping.png">
                    <a:extLst>
                      <a:ext uri="{FF2B5EF4-FFF2-40B4-BE49-F238E27FC236}">
                        <a16:creationId xmlns:a16="http://schemas.microsoft.com/office/drawing/2014/main" id="{5EE0F130-12E0-22F8-5477-92199A0070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3637418" y="3313096"/>
                    <a:ext cx="208005" cy="372050"/>
                  </a:xfrm>
                  <a:prstGeom prst="rect">
                    <a:avLst/>
                  </a:prstGeom>
                </p:spPr>
              </p:pic>
              <p:pic>
                <p:nvPicPr>
                  <p:cNvPr id="9751" name="Picture 327" descr="A person walking up the stairs&#10;&#10;Description automatically generated">
                    <a:extLst>
                      <a:ext uri="{FF2B5EF4-FFF2-40B4-BE49-F238E27FC236}">
                        <a16:creationId xmlns:a16="http://schemas.microsoft.com/office/drawing/2014/main" id="{89919CC8-9FD4-6334-7B1B-9239668D64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269703" y="3315543"/>
                    <a:ext cx="353301" cy="386413"/>
                  </a:xfrm>
                  <a:prstGeom prst="rect">
                    <a:avLst/>
                  </a:prstGeom>
                </p:spPr>
              </p:pic>
              <p:cxnSp>
                <p:nvCxnSpPr>
                  <p:cNvPr id="9752" name="Straight Arrow Connector 328">
                    <a:extLst>
                      <a:ext uri="{FF2B5EF4-FFF2-40B4-BE49-F238E27FC236}">
                        <a16:creationId xmlns:a16="http://schemas.microsoft.com/office/drawing/2014/main" id="{B7CDB541-B1EA-0748-8D7E-3AF8D43B01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79631" y="2829640"/>
                    <a:ext cx="104583" cy="9945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53" name="Straight Arrow Connector 329">
                    <a:extLst>
                      <a:ext uri="{FF2B5EF4-FFF2-40B4-BE49-F238E27FC236}">
                        <a16:creationId xmlns:a16="http://schemas.microsoft.com/office/drawing/2014/main" id="{FD747AC2-3829-C04C-556F-81FD3180AF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2620438" y="2829640"/>
                    <a:ext cx="104583" cy="9945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54" name="Straight Arrow Connector 330">
                    <a:extLst>
                      <a:ext uri="{FF2B5EF4-FFF2-40B4-BE49-F238E27FC236}">
                        <a16:creationId xmlns:a16="http://schemas.microsoft.com/office/drawing/2014/main" id="{6C0859C0-EE54-9795-41F7-0F62C09D6E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09680" y="3407851"/>
                    <a:ext cx="104583" cy="9945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55" name="Straight Arrow Connector 331">
                    <a:extLst>
                      <a:ext uri="{FF2B5EF4-FFF2-40B4-BE49-F238E27FC236}">
                        <a16:creationId xmlns:a16="http://schemas.microsoft.com/office/drawing/2014/main" id="{E5C15840-7A95-706E-5E6F-306BC5968F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2640601" y="3397965"/>
                    <a:ext cx="104583" cy="9945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56" name="Straight Arrow Connector 332">
                    <a:extLst>
                      <a:ext uri="{FF2B5EF4-FFF2-40B4-BE49-F238E27FC236}">
                        <a16:creationId xmlns:a16="http://schemas.microsoft.com/office/drawing/2014/main" id="{AC65E76C-C553-FF33-24F3-634ADFDEFB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089406" y="3665734"/>
                    <a:ext cx="0" cy="14836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57" name="Straight Arrow Connector 333">
                    <a:extLst>
                      <a:ext uri="{FF2B5EF4-FFF2-40B4-BE49-F238E27FC236}">
                        <a16:creationId xmlns:a16="http://schemas.microsoft.com/office/drawing/2014/main" id="{F85891AA-5104-D433-AA8D-F5449F9FC4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027750" y="2627509"/>
                    <a:ext cx="0" cy="14836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758" name="TextBox 320">
                  <a:extLst>
                    <a:ext uri="{FF2B5EF4-FFF2-40B4-BE49-F238E27FC236}">
                      <a16:creationId xmlns:a16="http://schemas.microsoft.com/office/drawing/2014/main" id="{71BA93CC-F7BA-9377-8129-35587F6B33EA}"/>
                    </a:ext>
                  </a:extLst>
                </p:cNvPr>
                <p:cNvSpPr txBox="1"/>
                <p:nvPr/>
              </p:nvSpPr>
              <p:spPr>
                <a:xfrm>
                  <a:off x="6231876" y="21876503"/>
                  <a:ext cx="2193131" cy="95132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3314" dirty="0">
                      <a:solidFill>
                        <a:srgbClr val="C00000"/>
                      </a:solidFill>
                    </a:rPr>
                    <a:t>Data insufficiency</a:t>
                  </a:r>
                </a:p>
              </p:txBody>
            </p:sp>
          </p:grpSp>
          <p:grpSp>
            <p:nvGrpSpPr>
              <p:cNvPr id="9759" name="Group 334">
                <a:extLst>
                  <a:ext uri="{FF2B5EF4-FFF2-40B4-BE49-F238E27FC236}">
                    <a16:creationId xmlns:a16="http://schemas.microsoft.com/office/drawing/2014/main" id="{853C5268-BC97-D25E-D32A-E37170BF3B2E}"/>
                  </a:ext>
                </a:extLst>
              </p:cNvPr>
              <p:cNvGrpSpPr/>
              <p:nvPr/>
            </p:nvGrpSpPr>
            <p:grpSpPr>
              <a:xfrm>
                <a:off x="20753761" y="10671194"/>
                <a:ext cx="3818655" cy="1714459"/>
                <a:chOff x="26391352" y="10267417"/>
                <a:chExt cx="3818655" cy="1714459"/>
              </a:xfrm>
            </p:grpSpPr>
            <p:sp>
              <p:nvSpPr>
                <p:cNvPr id="9760" name="TextBox 335">
                  <a:extLst>
                    <a:ext uri="{FF2B5EF4-FFF2-40B4-BE49-F238E27FC236}">
                      <a16:creationId xmlns:a16="http://schemas.microsoft.com/office/drawing/2014/main" id="{C8CA2C3F-F864-2850-4333-17E3846F97CE}"/>
                    </a:ext>
                  </a:extLst>
                </p:cNvPr>
                <p:cNvSpPr txBox="1"/>
                <p:nvPr/>
              </p:nvSpPr>
              <p:spPr>
                <a:xfrm>
                  <a:off x="26523580" y="11273990"/>
                  <a:ext cx="3661447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314" dirty="0">
                      <a:solidFill>
                        <a:srgbClr val="C00000"/>
                      </a:solidFill>
                    </a:rPr>
                    <a:t>Power and Computational Cost in Data Pre-processing</a:t>
                  </a:r>
                </a:p>
              </p:txBody>
            </p:sp>
            <p:grpSp>
              <p:nvGrpSpPr>
                <p:cNvPr id="9761" name="Group 336">
                  <a:extLst>
                    <a:ext uri="{FF2B5EF4-FFF2-40B4-BE49-F238E27FC236}">
                      <a16:creationId xmlns:a16="http://schemas.microsoft.com/office/drawing/2014/main" id="{BE04BA8E-1B6D-53D7-C3BF-7838CE1F9B65}"/>
                    </a:ext>
                  </a:extLst>
                </p:cNvPr>
                <p:cNvGrpSpPr/>
                <p:nvPr/>
              </p:nvGrpSpPr>
              <p:grpSpPr>
                <a:xfrm>
                  <a:off x="26391352" y="10267417"/>
                  <a:ext cx="3818655" cy="907371"/>
                  <a:chOff x="4924986" y="2386720"/>
                  <a:chExt cx="3818655" cy="907371"/>
                </a:xfrm>
              </p:grpSpPr>
              <p:pic>
                <p:nvPicPr>
                  <p:cNvPr id="9762" name="Image 0" descr="/home/claude/diag/iq.png">
                    <a:extLst>
                      <a:ext uri="{FF2B5EF4-FFF2-40B4-BE49-F238E27FC236}">
                        <a16:creationId xmlns:a16="http://schemas.microsoft.com/office/drawing/2014/main" id="{7F89774F-8D64-8FAA-5413-7B966722C5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 rot="5400000">
                    <a:off x="5275752" y="2408972"/>
                    <a:ext cx="218538" cy="655613"/>
                  </a:xfrm>
                  <a:prstGeom prst="rect">
                    <a:avLst/>
                  </a:prstGeom>
                </p:spPr>
              </p:pic>
              <p:pic>
                <p:nvPicPr>
                  <p:cNvPr id="9763" name="Picture 338">
                    <a:extLst>
                      <a:ext uri="{FF2B5EF4-FFF2-40B4-BE49-F238E27FC236}">
                        <a16:creationId xmlns:a16="http://schemas.microsoft.com/office/drawing/2014/main" id="{EF9D9174-EBAE-DB2D-6673-B9BBE9241C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24986" y="2932109"/>
                    <a:ext cx="845255" cy="243331"/>
                  </a:xfrm>
                  <a:prstGeom prst="rect">
                    <a:avLst/>
                  </a:prstGeom>
                </p:spPr>
              </p:pic>
              <p:pic>
                <p:nvPicPr>
                  <p:cNvPr id="9764" name="Picture 339">
                    <a:extLst>
                      <a:ext uri="{FF2B5EF4-FFF2-40B4-BE49-F238E27FC236}">
                        <a16:creationId xmlns:a16="http://schemas.microsoft.com/office/drawing/2014/main" id="{0287D89E-B2F7-12E0-1F55-7ED084E868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135150" y="3015433"/>
                    <a:ext cx="890005" cy="257328"/>
                  </a:xfrm>
                  <a:prstGeom prst="rect">
                    <a:avLst/>
                  </a:prstGeom>
                </p:spPr>
              </p:pic>
              <p:sp>
                <p:nvSpPr>
                  <p:cNvPr id="9765" name="Rectangle: Rounded Corners 340">
                    <a:extLst>
                      <a:ext uri="{FF2B5EF4-FFF2-40B4-BE49-F238E27FC236}">
                        <a16:creationId xmlns:a16="http://schemas.microsoft.com/office/drawing/2014/main" id="{549334B1-515B-657A-5C57-9F21A800EA01}"/>
                      </a:ext>
                    </a:extLst>
                  </p:cNvPr>
                  <p:cNvSpPr/>
                  <p:nvPr/>
                </p:nvSpPr>
                <p:spPr>
                  <a:xfrm>
                    <a:off x="6297003" y="2775875"/>
                    <a:ext cx="1046598" cy="496886"/>
                  </a:xfrm>
                  <a:prstGeom prst="roundRect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57"/>
                      <a:t>Pre- Processing</a:t>
                    </a:r>
                  </a:p>
                </p:txBody>
              </p:sp>
              <p:cxnSp>
                <p:nvCxnSpPr>
                  <p:cNvPr id="9766" name="Straight Arrow Connector 341">
                    <a:extLst>
                      <a:ext uri="{FF2B5EF4-FFF2-40B4-BE49-F238E27FC236}">
                        <a16:creationId xmlns:a16="http://schemas.microsoft.com/office/drawing/2014/main" id="{31B58A6D-0D89-3385-40DE-5D7DD5BECC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37506" y="3024318"/>
                    <a:ext cx="230987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67" name="Straight Arrow Connector 342">
                    <a:extLst>
                      <a:ext uri="{FF2B5EF4-FFF2-40B4-BE49-F238E27FC236}">
                        <a16:creationId xmlns:a16="http://schemas.microsoft.com/office/drawing/2014/main" id="{52A1784F-B94D-A7B8-61A7-65B0228637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483748" y="3009050"/>
                    <a:ext cx="230987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9768" name="Picture 343">
                    <a:extLst>
                      <a:ext uri="{FF2B5EF4-FFF2-40B4-BE49-F238E27FC236}">
                        <a16:creationId xmlns:a16="http://schemas.microsoft.com/office/drawing/2014/main" id="{927677E2-6ECB-47B9-086C-5A332993A01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7808528" y="2659161"/>
                    <a:ext cx="935113" cy="634930"/>
                  </a:xfrm>
                  <a:prstGeom prst="rect">
                    <a:avLst/>
                  </a:prstGeom>
                </p:spPr>
              </p:pic>
              <p:pic>
                <p:nvPicPr>
                  <p:cNvPr id="9769" name="Picture 344">
                    <a:extLst>
                      <a:ext uri="{FF2B5EF4-FFF2-40B4-BE49-F238E27FC236}">
                        <a16:creationId xmlns:a16="http://schemas.microsoft.com/office/drawing/2014/main" id="{EC6AB206-9E90-2F4A-DC3C-CEB7135C95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6645273" y="2386720"/>
                    <a:ext cx="350058" cy="35005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9770" name="TextBox 345">
                <a:extLst>
                  <a:ext uri="{FF2B5EF4-FFF2-40B4-BE49-F238E27FC236}">
                    <a16:creationId xmlns:a16="http://schemas.microsoft.com/office/drawing/2014/main" id="{632BBE21-586D-5B1B-AC52-5970F0BF34D8}"/>
                  </a:ext>
                </a:extLst>
              </p:cNvPr>
              <p:cNvSpPr txBox="1"/>
              <p:nvPr/>
            </p:nvSpPr>
            <p:spPr>
              <a:xfrm>
                <a:off x="19011838" y="9367973"/>
                <a:ext cx="476060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302" dirty="0">
                    <a:solidFill>
                      <a:schemeClr val="tx1"/>
                    </a:solidFill>
                    <a:latin typeface="Nunito Bold" pitchFamily="2" charset="0"/>
                  </a:rPr>
                  <a:t>Major Roadblocks</a:t>
                </a:r>
                <a:endParaRPr lang="en-US" sz="2651" dirty="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9300" name="Picture 9500" descr="cvsinc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65760" y="22442261"/>
            <a:ext cx="16093440" cy="3304356"/>
          </a:xfrm>
          <a:prstGeom prst="rect">
            <a:avLst/>
          </a:prstGeom>
        </p:spPr>
      </p:pic>
      <p:pic>
        <p:nvPicPr>
          <p:cNvPr id="9400" name="Picture 9500" descr="phgan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9501643" y="22219920"/>
            <a:ext cx="11771272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3" grpId="0" animBg="1"/>
      <p:bldP spid="31" grpId="0"/>
      <p:bldP spid="146" grpId="0"/>
      <p:bldP spid="147" grpId="0"/>
      <p:bldP spid="166" grpId="0"/>
      <p:bldP spid="167" grpId="0"/>
      <p:bldP spid="96" grpId="0" animBg="1"/>
      <p:bldP spid="119" grpId="0"/>
      <p:bldP spid="124" grpId="0"/>
      <p:bldP spid="131" grpId="0" animBg="1"/>
      <p:bldP spid="13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457</Words>
  <Application>Microsoft Office PowerPoint</Application>
  <PresentationFormat>Custom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Nunito 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Kamrul Islam</cp:lastModifiedBy>
  <cp:revision>129</cp:revision>
  <dcterms:created xsi:type="dcterms:W3CDTF">2006-08-16T00:00:00Z</dcterms:created>
  <dcterms:modified xsi:type="dcterms:W3CDTF">2026-09-25T05:31:14Z</dcterms:modified>
</cp:coreProperties>
</file>