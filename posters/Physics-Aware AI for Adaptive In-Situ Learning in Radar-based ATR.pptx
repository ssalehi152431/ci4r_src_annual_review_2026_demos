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" roundtripDataSignature="AMtx7mg6yv7bwh78j93yKiSv2HwKYA2l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1587F"/>
    <a:srgbClr val="23507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" d="100"/>
          <a:sy n="22" d="100"/>
        </p:scale>
        <p:origin x="128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edadf8ee0f_3_198:notes"/>
          <p:cNvSpPr txBox="1">
            <a:spLocks noGrp="1"/>
          </p:cNvSpPr>
          <p:nvPr>
            <p:ph type="body" idx="1"/>
          </p:nvPr>
        </p:nvSpPr>
        <p:spPr>
          <a:xfrm>
            <a:off x="685773" y="4343382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700" tIns="102700" rIns="102700" bIns="102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3" name="Google Shape;83;g2edadf8ee0f_3_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6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2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3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13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 1">
  <p:cSld name="Title Slide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1E0E5"/>
            </a:gs>
          </a:gsLst>
          <a:lin ang="5400012" scaled="0"/>
        </a:gra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7238152-C23B-4CAB-0BC8-C2A0E6B6CFC6}"/>
              </a:ext>
            </a:extLst>
          </p:cNvPr>
          <p:cNvSpPr/>
          <p:nvPr/>
        </p:nvSpPr>
        <p:spPr>
          <a:xfrm>
            <a:off x="288954" y="20212568"/>
            <a:ext cx="22208531" cy="93947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6AE95D-55E0-07AF-6163-9B90CA8807E9}"/>
              </a:ext>
            </a:extLst>
          </p:cNvPr>
          <p:cNvSpPr/>
          <p:nvPr/>
        </p:nvSpPr>
        <p:spPr>
          <a:xfrm>
            <a:off x="28305577" y="6939037"/>
            <a:ext cx="15079541" cy="85930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E7B1830-FA75-67B2-A5DA-E9809D5E3F62}"/>
              </a:ext>
            </a:extLst>
          </p:cNvPr>
          <p:cNvSpPr/>
          <p:nvPr/>
        </p:nvSpPr>
        <p:spPr>
          <a:xfrm>
            <a:off x="506082" y="6967412"/>
            <a:ext cx="11157935" cy="868454"/>
          </a:xfrm>
          <a:prstGeom prst="rect">
            <a:avLst/>
          </a:prstGeom>
          <a:solidFill>
            <a:schemeClr val="bg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8" name="Picture 47">
            <a:extLst>
              <a:ext uri="{FF2B5EF4-FFF2-40B4-BE49-F238E27FC236}">
                <a16:creationId xmlns:a16="http://schemas.microsoft.com/office/drawing/2014/main" id="{90D9EF17-C216-5E8F-C142-3B4E23866C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1223" y="7738978"/>
            <a:ext cx="7542455" cy="9717167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1066E710-7420-CDCA-E6D4-006881F4FC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8692" y="6387532"/>
            <a:ext cx="9692804" cy="11742384"/>
          </a:xfrm>
          <a:prstGeom prst="rect">
            <a:avLst/>
          </a:prstGeom>
        </p:spPr>
      </p:pic>
      <p:sp>
        <p:nvSpPr>
          <p:cNvPr id="85" name="Google Shape;85;g2edadf8ee0f_3_198"/>
          <p:cNvSpPr/>
          <p:nvPr/>
        </p:nvSpPr>
        <p:spPr>
          <a:xfrm>
            <a:off x="-48494" y="0"/>
            <a:ext cx="43940100" cy="6533700"/>
          </a:xfrm>
          <a:prstGeom prst="rect">
            <a:avLst/>
          </a:prstGeom>
          <a:gradFill>
            <a:gsLst>
              <a:gs pos="0">
                <a:srgbClr val="235078"/>
              </a:gs>
              <a:gs pos="5000">
                <a:srgbClr val="235078"/>
              </a:gs>
              <a:gs pos="100000">
                <a:srgbClr val="1482A5"/>
              </a:gs>
            </a:gsLst>
            <a:lin ang="0" scaled="0"/>
          </a:gradFill>
          <a:ln>
            <a:noFill/>
          </a:ln>
        </p:spPr>
        <p:txBody>
          <a:bodyPr spcFirstLastPara="1" wrap="square" lIns="93075" tIns="46525" rIns="93075" bIns="465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9600" b="0" i="0" u="none" strike="noStrike" cap="none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g2edadf8ee0f_3_198"/>
          <p:cNvSpPr/>
          <p:nvPr/>
        </p:nvSpPr>
        <p:spPr>
          <a:xfrm>
            <a:off x="-48492" y="31447268"/>
            <a:ext cx="43940100" cy="1470600"/>
          </a:xfrm>
          <a:prstGeom prst="rect">
            <a:avLst/>
          </a:prstGeom>
          <a:gradFill>
            <a:gsLst>
              <a:gs pos="0">
                <a:srgbClr val="235078"/>
              </a:gs>
              <a:gs pos="5000">
                <a:srgbClr val="235078"/>
              </a:gs>
              <a:gs pos="100000">
                <a:srgbClr val="1482A5"/>
              </a:gs>
            </a:gsLst>
            <a:lin ang="0" scaled="0"/>
          </a:gradFill>
          <a:ln>
            <a:noFill/>
          </a:ln>
        </p:spPr>
        <p:txBody>
          <a:bodyPr spcFirstLastPara="1" wrap="square" lIns="139725" tIns="69875" rIns="139725" bIns="6987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endParaRPr sz="9600" b="0" i="0" u="none" strike="noStrike" cap="none">
              <a:solidFill>
                <a:schemeClr val="lt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2edadf8ee0f_3_198"/>
          <p:cNvSpPr txBox="1"/>
          <p:nvPr/>
        </p:nvSpPr>
        <p:spPr>
          <a:xfrm>
            <a:off x="699724" y="826200"/>
            <a:ext cx="6828835" cy="4881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endParaRPr sz="6000" b="1" i="0" u="none" strike="noStrike" cap="none" dirty="0">
              <a:solidFill>
                <a:schemeClr val="dk1"/>
              </a:solidFill>
              <a:latin typeface="+mj-lt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g2edadf8ee0f_3_19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91025" y="31443760"/>
            <a:ext cx="9144003" cy="146446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TextBox 91"/>
          <p:cNvSpPr txBox="1"/>
          <p:nvPr/>
        </p:nvSpPr>
        <p:spPr>
          <a:xfrm>
            <a:off x="10423453" y="901778"/>
            <a:ext cx="24505920" cy="23702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2000"/>
              </a:lnSpc>
            </a:pPr>
            <a:r>
              <a:rPr sz="7800" b="1" i="0" dirty="0">
                <a:solidFill>
                  <a:srgbClr val="FFFFFF"/>
                </a:solidFill>
                <a:latin typeface="+mj-lt"/>
              </a:rPr>
              <a:t>Physics-Aware</a:t>
            </a:r>
            <a:r>
              <a:rPr lang="en-US" sz="7800" b="1" i="0" dirty="0">
                <a:solidFill>
                  <a:srgbClr val="FFFFFF"/>
                </a:solidFill>
                <a:latin typeface="+mj-lt"/>
              </a:rPr>
              <a:t> AI for Adaptive </a:t>
            </a:r>
            <a:r>
              <a:rPr lang="en-US" sz="7800" b="1" dirty="0">
                <a:solidFill>
                  <a:srgbClr val="FFFFFF"/>
                </a:solidFill>
                <a:latin typeface="+mj-lt"/>
              </a:rPr>
              <a:t>I</a:t>
            </a:r>
            <a:r>
              <a:rPr lang="en-US" sz="7800" b="1" i="0" dirty="0">
                <a:solidFill>
                  <a:srgbClr val="FFFFFF"/>
                </a:solidFill>
                <a:latin typeface="+mj-lt"/>
              </a:rPr>
              <a:t>n-Situ Learning in Radar-based ATR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0063361" y="3827305"/>
            <a:ext cx="24505920" cy="2057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600" b="1" i="0" dirty="0">
                <a:solidFill>
                  <a:srgbClr val="FFFFFF"/>
                </a:solidFill>
                <a:latin typeface="+mj-lt"/>
              </a:rPr>
              <a:t>Sultanus Salehin</a:t>
            </a:r>
            <a:r>
              <a:rPr lang="en-US" sz="4600" b="1" i="0" dirty="0">
                <a:solidFill>
                  <a:srgbClr val="FFFFFF"/>
                </a:solidFill>
                <a:latin typeface="+mj-lt"/>
              </a:rPr>
              <a:t> (</a:t>
            </a:r>
            <a:r>
              <a:rPr lang="en-US" sz="4600" b="1" dirty="0">
                <a:solidFill>
                  <a:srgbClr val="FFFFFF"/>
                </a:solidFill>
                <a:latin typeface="+mj-lt"/>
              </a:rPr>
              <a:t>P</a:t>
            </a:r>
            <a:r>
              <a:rPr lang="en-US" sz="4600" b="1" i="0" dirty="0">
                <a:solidFill>
                  <a:srgbClr val="FFFFFF"/>
                </a:solidFill>
                <a:latin typeface="+mj-lt"/>
              </a:rPr>
              <a:t>resenter)</a:t>
            </a:r>
            <a:br>
              <a:rPr lang="en-US" sz="4600" b="1" dirty="0">
                <a:solidFill>
                  <a:srgbClr val="FFFFFF"/>
                </a:solidFill>
                <a:latin typeface="+mj-lt"/>
              </a:rPr>
            </a:br>
            <a:r>
              <a:rPr lang="en-US" sz="4600" b="1" dirty="0">
                <a:solidFill>
                  <a:srgbClr val="FFFFFF"/>
                </a:solidFill>
                <a:latin typeface="+mj-lt"/>
              </a:rPr>
              <a:t>Sean Kearney, Kamrul Islam, Muhammad Moiz, </a:t>
            </a:r>
            <a:r>
              <a:rPr lang="en-US" sz="4600" b="1" dirty="0">
                <a:solidFill>
                  <a:srgbClr val="FFFFFF"/>
                </a:solidFill>
              </a:rPr>
              <a:t>Sevgi Z. </a:t>
            </a:r>
            <a:r>
              <a:rPr lang="en-US" sz="4600" b="1" dirty="0" err="1">
                <a:solidFill>
                  <a:srgbClr val="FFFFFF"/>
                </a:solidFill>
              </a:rPr>
              <a:t>Gurbuz</a:t>
            </a:r>
            <a:r>
              <a:rPr lang="en-US" sz="4600" b="1" i="0" dirty="0">
                <a:solidFill>
                  <a:srgbClr val="FFFFFF"/>
                </a:solidFill>
                <a:latin typeface="+mj-lt"/>
              </a:rPr>
              <a:t> </a:t>
            </a:r>
            <a:endParaRPr sz="4600" b="1" i="0" dirty="0">
              <a:solidFill>
                <a:srgbClr val="FFFFFF"/>
              </a:solidFill>
              <a:latin typeface="+mj-lt"/>
            </a:endParaRPr>
          </a:p>
          <a:p>
            <a:pPr algn="ctr">
              <a:lnSpc>
                <a:spcPct val="105000"/>
              </a:lnSpc>
            </a:pPr>
            <a:r>
              <a:rPr sz="3800" b="0" i="0" dirty="0">
                <a:solidFill>
                  <a:srgbClr val="CADCFC"/>
                </a:solidFill>
                <a:latin typeface="+mj-lt"/>
              </a:rPr>
              <a:t>Department of Electrical &amp; Computer Engineering, North Carolina State University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807733" y="2790017"/>
            <a:ext cx="4937760" cy="166083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105000"/>
              </a:lnSpc>
              <a:buNone/>
            </a:pPr>
            <a:r>
              <a:rPr sz="4000" b="1" i="0">
                <a:solidFill>
                  <a:srgbClr val="FFFFFF"/>
                </a:solidFill>
                <a:latin typeface="Arial"/>
              </a:rPr>
              <a:t>POSTER 2.</a:t>
            </a:r>
            <a:r>
              <a:rPr lang="en-US" sz="4000" b="1" i="0">
                <a:solidFill>
                  <a:srgbClr val="FFFFFF"/>
                </a:solidFill>
                <a:latin typeface="Arial"/>
              </a:rPr>
              <a:t>9</a:t>
            </a:r>
            <a:endParaRPr sz="4600" b="1" i="0" dirty="0">
              <a:solidFill>
                <a:srgbClr val="FFFFFF"/>
              </a:solidFill>
              <a:latin typeface="+mj-lt"/>
            </a:endParaRPr>
          </a:p>
          <a:p>
            <a:pPr marL="0" indent="0" algn="ctr">
              <a:lnSpc>
                <a:spcPct val="105000"/>
              </a:lnSpc>
              <a:buNone/>
            </a:pPr>
            <a:r>
              <a:rPr sz="3400" b="0" i="0" dirty="0">
                <a:solidFill>
                  <a:srgbClr val="CADCFC"/>
                </a:solidFill>
                <a:latin typeface="Calibri"/>
              </a:rPr>
              <a:t>THEME 2</a:t>
            </a:r>
          </a:p>
          <a:p>
            <a:pPr marL="0" indent="0" algn="ctr">
              <a:lnSpc>
                <a:spcPct val="105000"/>
              </a:lnSpc>
              <a:buNone/>
            </a:pPr>
            <a:r>
              <a:rPr sz="3000" b="0" i="0" dirty="0">
                <a:solidFill>
                  <a:srgbClr val="CADCFC"/>
                </a:solidFill>
                <a:latin typeface="Calibri"/>
              </a:rPr>
              <a:t>PI: Dr. Sevgi Z. </a:t>
            </a:r>
            <a:r>
              <a:rPr sz="3000" b="0" i="0" dirty="0" err="1">
                <a:solidFill>
                  <a:srgbClr val="CADCFC"/>
                </a:solidFill>
                <a:latin typeface="Calibri"/>
              </a:rPr>
              <a:t>Gurbuz</a:t>
            </a:r>
            <a:endParaRPr sz="3000" b="0" i="0" dirty="0">
              <a:solidFill>
                <a:srgbClr val="CADCFC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868365-1435-B409-F0AB-BDB6C644D29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08032" y="1981200"/>
            <a:ext cx="6227218" cy="3257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CBD8C2-BC2E-549C-BCE0-E33DBC765DCF}"/>
              </a:ext>
            </a:extLst>
          </p:cNvPr>
          <p:cNvSpPr txBox="1"/>
          <p:nvPr/>
        </p:nvSpPr>
        <p:spPr>
          <a:xfrm>
            <a:off x="758994" y="6967728"/>
            <a:ext cx="1042416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5800" b="1" i="0">
                <a:solidFill>
                  <a:srgbClr val="235078"/>
                </a:solidFill>
                <a:latin typeface="Arial"/>
              </a:rPr>
              <a:t>Motivation</a:t>
            </a:r>
            <a:endParaRPr sz="7200" b="1" i="0" dirty="0">
              <a:solidFill>
                <a:srgbClr val="235078"/>
              </a:solidFill>
              <a:latin typeface="+mj-lt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BF606E-DD9E-87F5-ACA7-808C92CE0B73}"/>
              </a:ext>
            </a:extLst>
          </p:cNvPr>
          <p:cNvSpPr txBox="1"/>
          <p:nvPr/>
        </p:nvSpPr>
        <p:spPr>
          <a:xfrm>
            <a:off x="548640" y="8183879"/>
            <a:ext cx="10399155" cy="113808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just">
              <a:lnSpc>
                <a:spcPct val="112000"/>
              </a:lnSpc>
              <a:buFont typeface="Arial" panose="020B0604020202020204" pitchFamily="34" charset="0"/>
              <a:buNone/>
            </a:pPr>
            <a:r>
              <a:rPr sz="48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Robust, accurate and power-efficient radar-based automatic target recognition in dynamic environments.</a:t>
            </a:r>
          </a:p>
          <a:p>
            <a:pPr marL="0" indent="0" algn="just">
              <a:lnSpc>
                <a:spcPct val="105000"/>
              </a:lnSpc>
              <a:spcBef>
                <a:spcPts val="2600"/>
              </a:spcBef>
              <a:buNone/>
            </a:pPr>
            <a:r>
              <a:rPr sz="4600" b="1" i="0" spc="170" dirty="0">
                <a:solidFill>
                  <a:srgbClr val="1482A5"/>
                </a:solidFill>
                <a:latin typeface="Arial"/>
              </a:rPr>
              <a:t>OBJECTIVE</a:t>
            </a:r>
          </a:p>
          <a:p>
            <a:pPr marL="0" indent="0" algn="just">
              <a:lnSpc>
                <a:spcPct val="112000"/>
              </a:lnSpc>
              <a:spcBef>
                <a:spcPts val="400"/>
              </a:spcBef>
              <a:buNone/>
            </a:pPr>
            <a:r>
              <a:rPr sz="48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Physics-aware adaptation for high performance in dynamic environments.</a:t>
            </a:r>
          </a:p>
          <a:p>
            <a:pPr marL="0" indent="0" algn="just">
              <a:lnSpc>
                <a:spcPct val="105000"/>
              </a:lnSpc>
              <a:spcBef>
                <a:spcPts val="2600"/>
              </a:spcBef>
              <a:buNone/>
            </a:pPr>
            <a:r>
              <a:rPr sz="4600" b="1" i="0" spc="170" dirty="0">
                <a:solidFill>
                  <a:srgbClr val="1482A5"/>
                </a:solidFill>
                <a:latin typeface="Arial"/>
              </a:rPr>
              <a:t>DEVELOPED SOLUTIONS</a:t>
            </a:r>
          </a:p>
          <a:p>
            <a:pPr marL="0" indent="0" algn="just">
              <a:lnSpc>
                <a:spcPct val="110000"/>
              </a:lnSpc>
              <a:spcBef>
                <a:spcPts val="600"/>
              </a:spcBef>
              <a:buNone/>
            </a:pPr>
            <a:r>
              <a:rPr sz="4800" b="1" i="0" dirty="0">
                <a:solidFill>
                  <a:srgbClr val="1482A5"/>
                </a:solidFill>
                <a:latin typeface="Arial"/>
              </a:rPr>
              <a:t>▪  </a:t>
            </a:r>
            <a:r>
              <a:rPr sz="48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Physics-aware DNN design strategies that lower power consumption and reliance on training data.</a:t>
            </a:r>
          </a:p>
          <a:p>
            <a:pPr marL="0" indent="0" algn="just">
              <a:lnSpc>
                <a:spcPct val="110000"/>
              </a:lnSpc>
              <a:spcBef>
                <a:spcPts val="1000"/>
              </a:spcBef>
              <a:buNone/>
            </a:pPr>
            <a:r>
              <a:rPr sz="4800" b="1" i="0" dirty="0">
                <a:solidFill>
                  <a:srgbClr val="1482A5"/>
                </a:solidFill>
                <a:latin typeface="Arial"/>
              </a:rPr>
              <a:t>▪  </a:t>
            </a:r>
            <a:r>
              <a:rPr sz="48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Physics-aware continual learning that learns previously unseen targets and their physical characteristics</a:t>
            </a:r>
            <a:r>
              <a:rPr lang="en-US" sz="48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-</a:t>
            </a:r>
            <a:r>
              <a:rPr sz="4800" b="0" i="0" dirty="0">
                <a:solidFill>
                  <a:schemeClr val="tx1">
                    <a:lumMod val="95000"/>
                    <a:lumOff val="5000"/>
                  </a:schemeClr>
                </a:solidFill>
                <a:latin typeface="Calibri"/>
              </a:rPr>
              <a:t> on the fly.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F9EF5DF-0A16-0BFD-CDCF-EB2CCC604333}"/>
              </a:ext>
            </a:extLst>
          </p:cNvPr>
          <p:cNvSpPr txBox="1"/>
          <p:nvPr/>
        </p:nvSpPr>
        <p:spPr>
          <a:xfrm>
            <a:off x="28510991" y="6967728"/>
            <a:ext cx="16088131" cy="78944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5400" b="1" i="0" dirty="0">
                <a:solidFill>
                  <a:srgbClr val="235078"/>
                </a:solidFill>
              </a:rPr>
              <a:t>Open Set </a:t>
            </a:r>
            <a:r>
              <a:rPr sz="5400" b="1" i="0" dirty="0">
                <a:solidFill>
                  <a:srgbClr val="235078"/>
                </a:solidFill>
              </a:rPr>
              <a:t>Continual </a:t>
            </a:r>
            <a:r>
              <a:rPr lang="en-US" sz="5400" b="1" i="0" dirty="0">
                <a:solidFill>
                  <a:srgbClr val="235078"/>
                </a:solidFill>
              </a:rPr>
              <a:t>L</a:t>
            </a:r>
            <a:r>
              <a:rPr sz="5400" b="1" i="0" dirty="0">
                <a:solidFill>
                  <a:srgbClr val="235078"/>
                </a:solidFill>
              </a:rPr>
              <a:t>earning of </a:t>
            </a:r>
            <a:r>
              <a:rPr lang="en-US" sz="5400" b="1" i="0" dirty="0">
                <a:solidFill>
                  <a:srgbClr val="235078"/>
                </a:solidFill>
              </a:rPr>
              <a:t>N</a:t>
            </a:r>
            <a:r>
              <a:rPr sz="5400" b="1" i="0" dirty="0">
                <a:solidFill>
                  <a:srgbClr val="235078"/>
                </a:solidFill>
              </a:rPr>
              <a:t>ew </a:t>
            </a:r>
            <a:r>
              <a:rPr lang="en-US" sz="5400" b="1" dirty="0">
                <a:solidFill>
                  <a:srgbClr val="235078"/>
                </a:solidFill>
              </a:rPr>
              <a:t>T</a:t>
            </a:r>
            <a:r>
              <a:rPr sz="5400" b="1" i="0" dirty="0">
                <a:solidFill>
                  <a:srgbClr val="235078"/>
                </a:solidFill>
              </a:rPr>
              <a:t>argets</a:t>
            </a:r>
            <a:endParaRPr sz="6600" b="1" i="0" dirty="0">
              <a:solidFill>
                <a:srgbClr val="235078"/>
              </a:solidFill>
              <a:latin typeface="+mj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C4C67BE-3375-2B64-47D5-C8450C4FD5FD}"/>
              </a:ext>
            </a:extLst>
          </p:cNvPr>
          <p:cNvSpPr txBox="1"/>
          <p:nvPr/>
        </p:nvSpPr>
        <p:spPr>
          <a:xfrm>
            <a:off x="548640" y="20162520"/>
            <a:ext cx="42839640" cy="935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5000"/>
              </a:lnSpc>
              <a:buNone/>
            </a:pPr>
            <a:r>
              <a:rPr sz="6400" b="1" i="0" dirty="0">
                <a:solidFill>
                  <a:srgbClr val="235078"/>
                </a:solidFill>
                <a:latin typeface="Arial"/>
              </a:rPr>
              <a:t>Through-the-wall </a:t>
            </a:r>
            <a:r>
              <a:rPr lang="en-US" sz="6400" b="1" i="0" dirty="0">
                <a:solidFill>
                  <a:srgbClr val="235078"/>
                </a:solidFill>
                <a:latin typeface="Arial"/>
              </a:rPr>
              <a:t>H</a:t>
            </a:r>
            <a:r>
              <a:rPr sz="6400" b="1" i="0" dirty="0">
                <a:solidFill>
                  <a:srgbClr val="235078"/>
                </a:solidFill>
                <a:latin typeface="Arial"/>
              </a:rPr>
              <a:t>uman </a:t>
            </a:r>
            <a:r>
              <a:rPr lang="en-US" sz="6400" b="1" dirty="0">
                <a:solidFill>
                  <a:srgbClr val="235078"/>
                </a:solidFill>
              </a:rPr>
              <a:t>S</a:t>
            </a:r>
            <a:r>
              <a:rPr sz="6400" b="1" i="0" dirty="0">
                <a:solidFill>
                  <a:srgbClr val="235078"/>
                </a:solidFill>
                <a:latin typeface="Arial"/>
              </a:rPr>
              <a:t>ensing for </a:t>
            </a:r>
            <a:r>
              <a:rPr lang="en-US" sz="6400" b="1" i="0" dirty="0">
                <a:solidFill>
                  <a:srgbClr val="235078"/>
                </a:solidFill>
                <a:latin typeface="Arial"/>
              </a:rPr>
              <a:t>D</a:t>
            </a:r>
            <a:r>
              <a:rPr sz="6400" b="1" i="0" dirty="0">
                <a:solidFill>
                  <a:srgbClr val="235078"/>
                </a:solidFill>
                <a:latin typeface="Arial"/>
              </a:rPr>
              <a:t>isaster </a:t>
            </a:r>
            <a:r>
              <a:rPr lang="en-US" sz="6400" b="1" dirty="0">
                <a:solidFill>
                  <a:srgbClr val="235078"/>
                </a:solidFill>
              </a:rPr>
              <a:t>R</a:t>
            </a:r>
            <a:r>
              <a:rPr sz="6400" b="1" i="0" dirty="0">
                <a:solidFill>
                  <a:srgbClr val="235078"/>
                </a:solidFill>
                <a:latin typeface="Arial"/>
              </a:rPr>
              <a:t>esponse</a:t>
            </a:r>
            <a:endParaRPr sz="8000" b="1" i="0" dirty="0">
              <a:solidFill>
                <a:srgbClr val="235078"/>
              </a:solidFill>
              <a:latin typeface="+mj-lt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FED98D-D5BF-AEA8-40F4-642406057578}"/>
              </a:ext>
            </a:extLst>
          </p:cNvPr>
          <p:cNvSpPr/>
          <p:nvPr/>
        </p:nvSpPr>
        <p:spPr>
          <a:xfrm>
            <a:off x="28510992" y="18017672"/>
            <a:ext cx="14904720" cy="1806046"/>
          </a:xfrm>
          <a:prstGeom prst="rect">
            <a:avLst/>
          </a:prstGeom>
          <a:solidFill>
            <a:srgbClr val="E6F1F6"/>
          </a:solidFill>
          <a:ln w="38100">
            <a:solidFill>
              <a:srgbClr val="1482A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F48C598-DCDB-5E36-914B-75072210CD89}"/>
              </a:ext>
            </a:extLst>
          </p:cNvPr>
          <p:cNvSpPr txBox="1"/>
          <p:nvPr/>
        </p:nvSpPr>
        <p:spPr>
          <a:xfrm>
            <a:off x="12725969" y="7059168"/>
            <a:ext cx="14209814" cy="5262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sz="3600" b="1" i="0" spc="190" dirty="0">
                <a:solidFill>
                  <a:srgbClr val="235078"/>
                </a:solidFill>
                <a:latin typeface="Arial"/>
              </a:rPr>
              <a:t>GRAPHICAL ABSTRACT</a:t>
            </a:r>
            <a:endParaRPr sz="7200" b="1" i="0" dirty="0">
              <a:solidFill>
                <a:srgbClr val="235078"/>
              </a:solidFill>
              <a:latin typeface="+mj-lt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D949DF-3997-8ECC-F312-BBB0AA9213CA}"/>
              </a:ext>
            </a:extLst>
          </p:cNvPr>
          <p:cNvSpPr txBox="1"/>
          <p:nvPr/>
        </p:nvSpPr>
        <p:spPr>
          <a:xfrm>
            <a:off x="28988619" y="18239962"/>
            <a:ext cx="14706924" cy="13232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4000" b="1" i="0" spc="170" dirty="0">
                <a:solidFill>
                  <a:srgbClr val="1482A5"/>
                </a:solidFill>
                <a:latin typeface="Arial"/>
              </a:rPr>
              <a:t>IMPACT? </a:t>
            </a:r>
            <a:r>
              <a:rPr lang="en-US" sz="4000" b="1" i="0" spc="17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Every unknown target makes the radar better at the next one.</a:t>
            </a:r>
            <a:endParaRPr sz="4000" b="1" i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97" name="Rectangle 96"/>
          <p:cNvSpPr/>
          <p:nvPr/>
        </p:nvSpPr>
        <p:spPr>
          <a:xfrm>
            <a:off x="11876272" y="15791322"/>
            <a:ext cx="849697" cy="1395740"/>
          </a:xfrm>
          <a:prstGeom prst="rect">
            <a:avLst/>
          </a:prstGeom>
          <a:solidFill>
            <a:srgbClr val="D3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2774990" y="16198413"/>
            <a:ext cx="653613" cy="988649"/>
          </a:xfrm>
          <a:prstGeom prst="rect">
            <a:avLst/>
          </a:prstGeom>
          <a:solidFill>
            <a:srgbClr val="D3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3673709" y="15442387"/>
            <a:ext cx="784335" cy="1744675"/>
          </a:xfrm>
          <a:prstGeom prst="rect">
            <a:avLst/>
          </a:prstGeom>
          <a:solidFill>
            <a:srgbClr val="D3DF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1631168" y="17187062"/>
            <a:ext cx="16340328" cy="1744675"/>
          </a:xfrm>
          <a:prstGeom prst="rect">
            <a:avLst/>
          </a:prstGeom>
          <a:solidFill>
            <a:srgbClr val="DB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11631168" y="17150486"/>
            <a:ext cx="16340328" cy="73152"/>
          </a:xfrm>
          <a:prstGeom prst="rect">
            <a:avLst/>
          </a:prstGeom>
          <a:solidFill>
            <a:srgbClr val="B8B1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ounded Rectangle 102"/>
          <p:cNvSpPr/>
          <p:nvPr/>
        </p:nvSpPr>
        <p:spPr>
          <a:xfrm>
            <a:off x="16619053" y="16546295"/>
            <a:ext cx="2279475" cy="845611"/>
          </a:xfrm>
          <a:prstGeom prst="roundRect">
            <a:avLst>
              <a:gd name="adj" fmla="val 30000"/>
            </a:avLst>
          </a:prstGeom>
          <a:solidFill>
            <a:srgbClr val="4A5A6A"/>
          </a:solidFill>
          <a:ln w="4445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6751409" y="17011382"/>
            <a:ext cx="617664" cy="617664"/>
          </a:xfrm>
          <a:prstGeom prst="ellipse">
            <a:avLst/>
          </a:prstGeom>
          <a:solidFill>
            <a:srgbClr val="2B333C"/>
          </a:solidFill>
          <a:ln w="381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6936709" y="17196681"/>
            <a:ext cx="247065" cy="247065"/>
          </a:xfrm>
          <a:prstGeom prst="ellipse">
            <a:avLst/>
          </a:prstGeom>
          <a:solidFill>
            <a:srgbClr val="AEB3AE"/>
          </a:solidFill>
          <a:ln w="3175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8148507" y="17011382"/>
            <a:ext cx="617664" cy="617664"/>
          </a:xfrm>
          <a:prstGeom prst="ellipse">
            <a:avLst/>
          </a:prstGeom>
          <a:solidFill>
            <a:srgbClr val="2B333C"/>
          </a:solidFill>
          <a:ln w="381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8333807" y="17196681"/>
            <a:ext cx="247065" cy="247065"/>
          </a:xfrm>
          <a:prstGeom prst="ellipse">
            <a:avLst/>
          </a:prstGeom>
          <a:solidFill>
            <a:srgbClr val="AEB3AE"/>
          </a:solidFill>
          <a:ln w="3175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7641140" y="15847746"/>
            <a:ext cx="235300" cy="720608"/>
          </a:xfrm>
          <a:prstGeom prst="rect">
            <a:avLst/>
          </a:prstGeom>
          <a:solidFill>
            <a:srgbClr val="4A5A6A"/>
          </a:solidFill>
          <a:ln w="381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7023476" y="14928603"/>
            <a:ext cx="1470629" cy="919143"/>
          </a:xfrm>
          <a:prstGeom prst="rect">
            <a:avLst/>
          </a:prstGeom>
          <a:solidFill>
            <a:srgbClr val="2F3E4C"/>
          </a:solidFill>
          <a:ln w="4445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7170539" y="15112432"/>
            <a:ext cx="191181" cy="202211"/>
          </a:xfrm>
          <a:prstGeom prst="rect">
            <a:avLst/>
          </a:prstGeom>
          <a:solidFill>
            <a:srgbClr val="7E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7170539" y="15480089"/>
            <a:ext cx="191181" cy="202211"/>
          </a:xfrm>
          <a:prstGeom prst="rect">
            <a:avLst/>
          </a:prstGeom>
          <a:solidFill>
            <a:srgbClr val="7E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7494077" y="15112432"/>
            <a:ext cx="191181" cy="202211"/>
          </a:xfrm>
          <a:prstGeom prst="rect">
            <a:avLst/>
          </a:prstGeom>
          <a:solidFill>
            <a:srgbClr val="7E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7494077" y="15480089"/>
            <a:ext cx="191181" cy="202211"/>
          </a:xfrm>
          <a:prstGeom prst="rect">
            <a:avLst/>
          </a:prstGeom>
          <a:solidFill>
            <a:srgbClr val="7E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7817616" y="15112432"/>
            <a:ext cx="191181" cy="202211"/>
          </a:xfrm>
          <a:prstGeom prst="rect">
            <a:avLst/>
          </a:prstGeom>
          <a:solidFill>
            <a:srgbClr val="7E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17817616" y="15480089"/>
            <a:ext cx="191181" cy="202211"/>
          </a:xfrm>
          <a:prstGeom prst="rect">
            <a:avLst/>
          </a:prstGeom>
          <a:solidFill>
            <a:srgbClr val="7E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18141154" y="15112432"/>
            <a:ext cx="191181" cy="202211"/>
          </a:xfrm>
          <a:prstGeom prst="rect">
            <a:avLst/>
          </a:prstGeom>
          <a:solidFill>
            <a:srgbClr val="7E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18141154" y="15480089"/>
            <a:ext cx="191181" cy="202211"/>
          </a:xfrm>
          <a:prstGeom prst="rect">
            <a:avLst/>
          </a:prstGeom>
          <a:solidFill>
            <a:srgbClr val="7E9A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TextBox 117"/>
          <p:cNvSpPr txBox="1"/>
          <p:nvPr/>
        </p:nvSpPr>
        <p:spPr>
          <a:xfrm>
            <a:off x="15997692" y="14264955"/>
            <a:ext cx="3594872" cy="6771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4400" b="1" dirty="0">
                <a:solidFill>
                  <a:srgbClr val="3E5163"/>
                </a:solidFill>
                <a:latin typeface="Calibri"/>
              </a:rPr>
              <a:t>radar</a:t>
            </a:r>
          </a:p>
        </p:txBody>
      </p:sp>
      <p:sp>
        <p:nvSpPr>
          <p:cNvPr id="9" name="Freeform 8"/>
          <p:cNvSpPr/>
          <p:nvPr/>
        </p:nvSpPr>
        <p:spPr>
          <a:xfrm>
            <a:off x="12255368" y="9014210"/>
            <a:ext cx="597076" cy="477660"/>
          </a:xfrm>
          <a:custGeom>
            <a:avLst/>
            <a:gdLst/>
            <a:ahLst/>
            <a:cxnLst/>
            <a:rect l="l" t="t" r="r" b="b"/>
            <a:pathLst>
              <a:path w="597076" h="477660">
                <a:moveTo>
                  <a:pt x="0" y="477660"/>
                </a:moveTo>
                <a:lnTo>
                  <a:pt x="0" y="0"/>
                </a:lnTo>
                <a:lnTo>
                  <a:pt x="597076" y="0"/>
                </a:lnTo>
              </a:path>
            </a:pathLst>
          </a:custGeom>
          <a:noFill/>
          <a:ln w="762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Freeform 9"/>
          <p:cNvSpPr/>
          <p:nvPr/>
        </p:nvSpPr>
        <p:spPr>
          <a:xfrm>
            <a:off x="15638796" y="9014210"/>
            <a:ext cx="597076" cy="477660"/>
          </a:xfrm>
          <a:custGeom>
            <a:avLst/>
            <a:gdLst/>
            <a:ahLst/>
            <a:cxnLst/>
            <a:rect l="l" t="t" r="r" b="b"/>
            <a:pathLst>
              <a:path w="597076" h="477660">
                <a:moveTo>
                  <a:pt x="597076" y="477660"/>
                </a:moveTo>
                <a:lnTo>
                  <a:pt x="5970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Freeform 10"/>
          <p:cNvSpPr/>
          <p:nvPr/>
        </p:nvSpPr>
        <p:spPr>
          <a:xfrm>
            <a:off x="12255368" y="10924852"/>
            <a:ext cx="597076" cy="477660"/>
          </a:xfrm>
          <a:custGeom>
            <a:avLst/>
            <a:gdLst/>
            <a:ahLst/>
            <a:cxnLst/>
            <a:rect l="l" t="t" r="r" b="b"/>
            <a:pathLst>
              <a:path w="597076" h="477660">
                <a:moveTo>
                  <a:pt x="0" y="0"/>
                </a:moveTo>
                <a:lnTo>
                  <a:pt x="0" y="477660"/>
                </a:lnTo>
                <a:lnTo>
                  <a:pt x="597076" y="477660"/>
                </a:lnTo>
              </a:path>
            </a:pathLst>
          </a:custGeom>
          <a:noFill/>
          <a:ln w="762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Freeform 12"/>
          <p:cNvSpPr/>
          <p:nvPr/>
        </p:nvSpPr>
        <p:spPr>
          <a:xfrm>
            <a:off x="15638796" y="10924852"/>
            <a:ext cx="597076" cy="477660"/>
          </a:xfrm>
          <a:custGeom>
            <a:avLst/>
            <a:gdLst/>
            <a:ahLst/>
            <a:cxnLst/>
            <a:rect l="l" t="t" r="r" b="b"/>
            <a:pathLst>
              <a:path w="597076" h="477660">
                <a:moveTo>
                  <a:pt x="597076" y="0"/>
                </a:moveTo>
                <a:lnTo>
                  <a:pt x="597076" y="477660"/>
                </a:lnTo>
                <a:lnTo>
                  <a:pt x="0" y="477660"/>
                </a:lnTo>
              </a:path>
            </a:pathLst>
          </a:custGeom>
          <a:noFill/>
          <a:ln w="76200">
            <a:solidFill>
              <a:srgbClr val="FF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1876272" y="8868098"/>
            <a:ext cx="4738695" cy="55399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600" b="1" dirty="0">
                <a:solidFill>
                  <a:srgbClr val="FF0000"/>
                </a:solidFill>
                <a:latin typeface="Calibri"/>
              </a:rPr>
              <a:t>unknown UAV</a:t>
            </a:r>
          </a:p>
        </p:txBody>
      </p:sp>
      <p:sp>
        <p:nvSpPr>
          <p:cNvPr id="126" name="Oval 125"/>
          <p:cNvSpPr/>
          <p:nvPr/>
        </p:nvSpPr>
        <p:spPr>
          <a:xfrm>
            <a:off x="25018131" y="15817189"/>
            <a:ext cx="326427" cy="326427"/>
          </a:xfrm>
          <a:prstGeom prst="ellipse">
            <a:avLst/>
          </a:prstGeom>
          <a:solidFill>
            <a:srgbClr val="2B333C"/>
          </a:solidFill>
          <a:ln w="381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Freeform 13"/>
          <p:cNvSpPr/>
          <p:nvPr/>
        </p:nvSpPr>
        <p:spPr>
          <a:xfrm>
            <a:off x="25181344" y="16143617"/>
            <a:ext cx="0" cy="374787"/>
          </a:xfrm>
          <a:custGeom>
            <a:avLst/>
            <a:gdLst/>
            <a:ahLst/>
            <a:cxnLst/>
            <a:rect l="l" t="t" r="r" b="b"/>
            <a:pathLst>
              <a:path h="374787">
                <a:moveTo>
                  <a:pt x="0" y="0"/>
                </a:moveTo>
                <a:lnTo>
                  <a:pt x="0" y="374787"/>
                </a:lnTo>
              </a:path>
            </a:pathLst>
          </a:custGeom>
          <a:noFill/>
          <a:ln w="1270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Freeform 14"/>
          <p:cNvSpPr/>
          <p:nvPr/>
        </p:nvSpPr>
        <p:spPr>
          <a:xfrm>
            <a:off x="24975816" y="16518404"/>
            <a:ext cx="205528" cy="507776"/>
          </a:xfrm>
          <a:custGeom>
            <a:avLst/>
            <a:gdLst/>
            <a:ahLst/>
            <a:cxnLst/>
            <a:rect l="l" t="t" r="r" b="b"/>
            <a:pathLst>
              <a:path w="205528" h="507776">
                <a:moveTo>
                  <a:pt x="205528" y="0"/>
                </a:moveTo>
                <a:lnTo>
                  <a:pt x="0" y="507776"/>
                </a:lnTo>
              </a:path>
            </a:pathLst>
          </a:custGeom>
          <a:noFill/>
          <a:ln w="1270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Freeform 15"/>
          <p:cNvSpPr/>
          <p:nvPr/>
        </p:nvSpPr>
        <p:spPr>
          <a:xfrm>
            <a:off x="25181344" y="16518404"/>
            <a:ext cx="205529" cy="507776"/>
          </a:xfrm>
          <a:custGeom>
            <a:avLst/>
            <a:gdLst/>
            <a:ahLst/>
            <a:cxnLst/>
            <a:rect l="l" t="t" r="r" b="b"/>
            <a:pathLst>
              <a:path w="205529" h="507776">
                <a:moveTo>
                  <a:pt x="0" y="0"/>
                </a:moveTo>
                <a:lnTo>
                  <a:pt x="205529" y="507776"/>
                </a:lnTo>
              </a:path>
            </a:pathLst>
          </a:custGeom>
          <a:noFill/>
          <a:ln w="1270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Freeform 16"/>
          <p:cNvSpPr/>
          <p:nvPr/>
        </p:nvSpPr>
        <p:spPr>
          <a:xfrm>
            <a:off x="24854917" y="15817189"/>
            <a:ext cx="326427" cy="362697"/>
          </a:xfrm>
          <a:custGeom>
            <a:avLst/>
            <a:gdLst/>
            <a:ahLst/>
            <a:cxnLst/>
            <a:rect l="l" t="t" r="r" b="b"/>
            <a:pathLst>
              <a:path w="326427" h="362697">
                <a:moveTo>
                  <a:pt x="326427" y="362697"/>
                </a:moveTo>
                <a:lnTo>
                  <a:pt x="0" y="0"/>
                </a:lnTo>
              </a:path>
            </a:pathLst>
          </a:custGeom>
          <a:noFill/>
          <a:ln w="1270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Freeform 18"/>
          <p:cNvSpPr/>
          <p:nvPr/>
        </p:nvSpPr>
        <p:spPr>
          <a:xfrm>
            <a:off x="25181344" y="16179886"/>
            <a:ext cx="290158" cy="241799"/>
          </a:xfrm>
          <a:custGeom>
            <a:avLst/>
            <a:gdLst/>
            <a:ahLst/>
            <a:cxnLst/>
            <a:rect l="l" t="t" r="r" b="b"/>
            <a:pathLst>
              <a:path w="290158" h="241799">
                <a:moveTo>
                  <a:pt x="0" y="0"/>
                </a:moveTo>
                <a:lnTo>
                  <a:pt x="290158" y="241799"/>
                </a:lnTo>
              </a:path>
            </a:pathLst>
          </a:custGeom>
          <a:noFill/>
          <a:ln w="1270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Freeform 20"/>
          <p:cNvSpPr/>
          <p:nvPr/>
        </p:nvSpPr>
        <p:spPr>
          <a:xfrm>
            <a:off x="26236302" y="16986541"/>
            <a:ext cx="725394" cy="0"/>
          </a:xfrm>
          <a:custGeom>
            <a:avLst/>
            <a:gdLst/>
            <a:ahLst/>
            <a:cxnLst/>
            <a:rect l="l" t="t" r="r" b="b"/>
            <a:pathLst>
              <a:path w="725394">
                <a:moveTo>
                  <a:pt x="0" y="0"/>
                </a:moveTo>
                <a:lnTo>
                  <a:pt x="725394" y="0"/>
                </a:lnTo>
              </a:path>
            </a:pathLst>
          </a:custGeom>
          <a:noFill/>
          <a:ln w="1270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26961696" y="16823327"/>
            <a:ext cx="326427" cy="326427"/>
          </a:xfrm>
          <a:prstGeom prst="ellipse">
            <a:avLst/>
          </a:prstGeom>
          <a:solidFill>
            <a:srgbClr val="2B333C"/>
          </a:solidFill>
          <a:ln w="381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Freeform 21"/>
          <p:cNvSpPr/>
          <p:nvPr/>
        </p:nvSpPr>
        <p:spPr>
          <a:xfrm>
            <a:off x="25979950" y="16986541"/>
            <a:ext cx="265977" cy="84629"/>
          </a:xfrm>
          <a:custGeom>
            <a:avLst/>
            <a:gdLst/>
            <a:ahLst/>
            <a:cxnLst/>
            <a:rect l="l" t="t" r="r" b="b"/>
            <a:pathLst>
              <a:path w="265977" h="84629">
                <a:moveTo>
                  <a:pt x="265977" y="0"/>
                </a:moveTo>
                <a:lnTo>
                  <a:pt x="0" y="84629"/>
                </a:lnTo>
              </a:path>
            </a:pathLst>
          </a:custGeom>
          <a:noFill/>
          <a:ln w="12700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Freeform 23"/>
          <p:cNvSpPr/>
          <p:nvPr/>
        </p:nvSpPr>
        <p:spPr>
          <a:xfrm>
            <a:off x="26502280" y="16781012"/>
            <a:ext cx="96719" cy="205529"/>
          </a:xfrm>
          <a:custGeom>
            <a:avLst/>
            <a:gdLst/>
            <a:ahLst/>
            <a:cxnLst/>
            <a:rect l="l" t="t" r="r" b="b"/>
            <a:pathLst>
              <a:path w="96719" h="205529">
                <a:moveTo>
                  <a:pt x="96719" y="205529"/>
                </a:moveTo>
                <a:lnTo>
                  <a:pt x="0" y="0"/>
                </a:lnTo>
              </a:path>
            </a:pathLst>
          </a:custGeom>
          <a:noFill/>
          <a:ln w="107950">
            <a:solidFill>
              <a:srgbClr val="2B33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Heart 127"/>
          <p:cNvSpPr/>
          <p:nvPr/>
        </p:nvSpPr>
        <p:spPr>
          <a:xfrm>
            <a:off x="26090962" y="16030505"/>
            <a:ext cx="578819" cy="578819"/>
          </a:xfrm>
          <a:prstGeom prst="heart">
            <a:avLst/>
          </a:prstGeom>
          <a:solidFill>
            <a:srgbClr val="C8102E"/>
          </a:solidFill>
          <a:ln w="254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Freeform 25"/>
          <p:cNvSpPr/>
          <p:nvPr/>
        </p:nvSpPr>
        <p:spPr>
          <a:xfrm>
            <a:off x="26935782" y="16169029"/>
            <a:ext cx="787195" cy="503573"/>
          </a:xfrm>
          <a:custGeom>
            <a:avLst/>
            <a:gdLst/>
            <a:ahLst/>
            <a:cxnLst/>
            <a:rect l="l" t="t" r="r" b="b"/>
            <a:pathLst>
              <a:path w="591922" h="378656">
                <a:moveTo>
                  <a:pt x="0" y="195856"/>
                </a:moveTo>
                <a:lnTo>
                  <a:pt x="143628" y="195856"/>
                </a:lnTo>
                <a:lnTo>
                  <a:pt x="217619" y="0"/>
                </a:lnTo>
                <a:lnTo>
                  <a:pt x="295961" y="378656"/>
                </a:lnTo>
                <a:lnTo>
                  <a:pt x="374304" y="195856"/>
                </a:lnTo>
                <a:lnTo>
                  <a:pt x="591922" y="195856"/>
                </a:lnTo>
              </a:path>
            </a:pathLst>
          </a:custGeom>
          <a:noFill/>
          <a:ln w="762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Freeform 27"/>
          <p:cNvSpPr/>
          <p:nvPr/>
        </p:nvSpPr>
        <p:spPr>
          <a:xfrm>
            <a:off x="16445404" y="13776617"/>
            <a:ext cx="816165" cy="553558"/>
          </a:xfrm>
          <a:custGeom>
            <a:avLst/>
            <a:gdLst/>
            <a:ahLst/>
            <a:cxnLst/>
            <a:rect l="l" t="t" r="r" b="b"/>
            <a:pathLst>
              <a:path w="816165" h="553558">
                <a:moveTo>
                  <a:pt x="0" y="553558"/>
                </a:moveTo>
                <a:lnTo>
                  <a:pt x="26558" y="521411"/>
                </a:lnTo>
                <a:lnTo>
                  <a:pt x="53903" y="489930"/>
                </a:lnTo>
                <a:lnTo>
                  <a:pt x="82018" y="459134"/>
                </a:lnTo>
                <a:lnTo>
                  <a:pt x="110886" y="429043"/>
                </a:lnTo>
                <a:lnTo>
                  <a:pt x="140489" y="399675"/>
                </a:lnTo>
                <a:lnTo>
                  <a:pt x="170809" y="371048"/>
                </a:lnTo>
                <a:lnTo>
                  <a:pt x="201827" y="343180"/>
                </a:lnTo>
                <a:lnTo>
                  <a:pt x="233525" y="316086"/>
                </a:lnTo>
                <a:lnTo>
                  <a:pt x="265883" y="289785"/>
                </a:lnTo>
                <a:lnTo>
                  <a:pt x="298881" y="264291"/>
                </a:lnTo>
                <a:lnTo>
                  <a:pt x="332500" y="239622"/>
                </a:lnTo>
                <a:lnTo>
                  <a:pt x="366718" y="215790"/>
                </a:lnTo>
                <a:lnTo>
                  <a:pt x="401515" y="192813"/>
                </a:lnTo>
                <a:lnTo>
                  <a:pt x="436869" y="170702"/>
                </a:lnTo>
                <a:lnTo>
                  <a:pt x="472759" y="149472"/>
                </a:lnTo>
                <a:lnTo>
                  <a:pt x="509163" y="129136"/>
                </a:lnTo>
                <a:lnTo>
                  <a:pt x="546059" y="109707"/>
                </a:lnTo>
                <a:lnTo>
                  <a:pt x="583424" y="91195"/>
                </a:lnTo>
                <a:lnTo>
                  <a:pt x="621235" y="73613"/>
                </a:lnTo>
                <a:lnTo>
                  <a:pt x="659469" y="56971"/>
                </a:lnTo>
                <a:lnTo>
                  <a:pt x="698103" y="41279"/>
                </a:lnTo>
                <a:lnTo>
                  <a:pt x="737113" y="26548"/>
                </a:lnTo>
                <a:lnTo>
                  <a:pt x="776475" y="12785"/>
                </a:lnTo>
                <a:lnTo>
                  <a:pt x="816165" y="0"/>
                </a:lnTo>
              </a:path>
            </a:pathLst>
          </a:custGeom>
          <a:noFill/>
          <a:ln w="76200">
            <a:solidFill>
              <a:srgbClr val="1482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Freeform 29"/>
          <p:cNvSpPr/>
          <p:nvPr/>
        </p:nvSpPr>
        <p:spPr>
          <a:xfrm>
            <a:off x="15901933" y="13109765"/>
            <a:ext cx="1153890" cy="782617"/>
          </a:xfrm>
          <a:custGeom>
            <a:avLst/>
            <a:gdLst/>
            <a:ahLst/>
            <a:cxnLst/>
            <a:rect l="l" t="t" r="r" b="b"/>
            <a:pathLst>
              <a:path w="1153890" h="782617">
                <a:moveTo>
                  <a:pt x="0" y="782617"/>
                </a:moveTo>
                <a:lnTo>
                  <a:pt x="37548" y="737167"/>
                </a:lnTo>
                <a:lnTo>
                  <a:pt x="76209" y="692660"/>
                </a:lnTo>
                <a:lnTo>
                  <a:pt x="115957" y="649121"/>
                </a:lnTo>
                <a:lnTo>
                  <a:pt x="156770" y="606579"/>
                </a:lnTo>
                <a:lnTo>
                  <a:pt x="198623" y="565059"/>
                </a:lnTo>
                <a:lnTo>
                  <a:pt x="241489" y="524586"/>
                </a:lnTo>
                <a:lnTo>
                  <a:pt x="285342" y="485186"/>
                </a:lnTo>
                <a:lnTo>
                  <a:pt x="330156" y="446881"/>
                </a:lnTo>
                <a:lnTo>
                  <a:pt x="375904" y="409696"/>
                </a:lnTo>
                <a:lnTo>
                  <a:pt x="422557" y="373654"/>
                </a:lnTo>
                <a:lnTo>
                  <a:pt x="470086" y="338776"/>
                </a:lnTo>
                <a:lnTo>
                  <a:pt x="518464" y="305084"/>
                </a:lnTo>
                <a:lnTo>
                  <a:pt x="567659" y="272598"/>
                </a:lnTo>
                <a:lnTo>
                  <a:pt x="617643" y="241338"/>
                </a:lnTo>
                <a:lnTo>
                  <a:pt x="668384" y="211324"/>
                </a:lnTo>
                <a:lnTo>
                  <a:pt x="719852" y="182573"/>
                </a:lnTo>
                <a:lnTo>
                  <a:pt x="772015" y="155103"/>
                </a:lnTo>
                <a:lnTo>
                  <a:pt x="824841" y="128932"/>
                </a:lnTo>
                <a:lnTo>
                  <a:pt x="878298" y="104074"/>
                </a:lnTo>
                <a:lnTo>
                  <a:pt x="932353" y="80546"/>
                </a:lnTo>
                <a:lnTo>
                  <a:pt x="986973" y="58361"/>
                </a:lnTo>
                <a:lnTo>
                  <a:pt x="1042125" y="37534"/>
                </a:lnTo>
                <a:lnTo>
                  <a:pt x="1097776" y="18076"/>
                </a:lnTo>
                <a:lnTo>
                  <a:pt x="1153890" y="0"/>
                </a:lnTo>
              </a:path>
            </a:pathLst>
          </a:custGeom>
          <a:noFill/>
          <a:ln w="76200">
            <a:solidFill>
              <a:srgbClr val="1482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Freeform 31"/>
          <p:cNvSpPr/>
          <p:nvPr/>
        </p:nvSpPr>
        <p:spPr>
          <a:xfrm>
            <a:off x="15358463" y="12442914"/>
            <a:ext cx="1491613" cy="1011675"/>
          </a:xfrm>
          <a:custGeom>
            <a:avLst/>
            <a:gdLst/>
            <a:ahLst/>
            <a:cxnLst/>
            <a:rect l="l" t="t" r="r" b="b"/>
            <a:pathLst>
              <a:path w="1491613" h="1011675">
                <a:moveTo>
                  <a:pt x="0" y="1011675"/>
                </a:moveTo>
                <a:lnTo>
                  <a:pt x="48538" y="952923"/>
                </a:lnTo>
                <a:lnTo>
                  <a:pt x="98513" y="895389"/>
                </a:lnTo>
                <a:lnTo>
                  <a:pt x="149896" y="839108"/>
                </a:lnTo>
                <a:lnTo>
                  <a:pt x="202654" y="784114"/>
                </a:lnTo>
                <a:lnTo>
                  <a:pt x="256756" y="730441"/>
                </a:lnTo>
                <a:lnTo>
                  <a:pt x="312168" y="678123"/>
                </a:lnTo>
                <a:lnTo>
                  <a:pt x="368856" y="627190"/>
                </a:lnTo>
                <a:lnTo>
                  <a:pt x="426787" y="577675"/>
                </a:lnTo>
                <a:lnTo>
                  <a:pt x="485924" y="529607"/>
                </a:lnTo>
                <a:lnTo>
                  <a:pt x="546231" y="483015"/>
                </a:lnTo>
                <a:lnTo>
                  <a:pt x="607672" y="437929"/>
                </a:lnTo>
                <a:lnTo>
                  <a:pt x="670209" y="394376"/>
                </a:lnTo>
                <a:lnTo>
                  <a:pt x="733803" y="352382"/>
                </a:lnTo>
                <a:lnTo>
                  <a:pt x="798416" y="311973"/>
                </a:lnTo>
                <a:lnTo>
                  <a:pt x="864008" y="273174"/>
                </a:lnTo>
                <a:lnTo>
                  <a:pt x="930540" y="236008"/>
                </a:lnTo>
                <a:lnTo>
                  <a:pt x="997970" y="200499"/>
                </a:lnTo>
                <a:lnTo>
                  <a:pt x="1066257" y="166667"/>
                </a:lnTo>
                <a:lnTo>
                  <a:pt x="1135360" y="134534"/>
                </a:lnTo>
                <a:lnTo>
                  <a:pt x="1205236" y="104120"/>
                </a:lnTo>
                <a:lnTo>
                  <a:pt x="1275843" y="75442"/>
                </a:lnTo>
                <a:lnTo>
                  <a:pt x="1347137" y="48519"/>
                </a:lnTo>
                <a:lnTo>
                  <a:pt x="1419075" y="23366"/>
                </a:lnTo>
                <a:lnTo>
                  <a:pt x="1491613" y="0"/>
                </a:lnTo>
              </a:path>
            </a:pathLst>
          </a:custGeom>
          <a:noFill/>
          <a:ln w="76200">
            <a:solidFill>
              <a:srgbClr val="1482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Freeform 33"/>
          <p:cNvSpPr/>
          <p:nvPr/>
        </p:nvSpPr>
        <p:spPr>
          <a:xfrm>
            <a:off x="19782830" y="15081968"/>
            <a:ext cx="231567" cy="1302087"/>
          </a:xfrm>
          <a:custGeom>
            <a:avLst/>
            <a:gdLst/>
            <a:ahLst/>
            <a:cxnLst/>
            <a:rect l="l" t="t" r="r" b="b"/>
            <a:pathLst>
              <a:path w="231567" h="1302087">
                <a:moveTo>
                  <a:pt x="210855" y="0"/>
                </a:moveTo>
                <a:lnTo>
                  <a:pt x="217742" y="55347"/>
                </a:lnTo>
                <a:lnTo>
                  <a:pt x="223259" y="110847"/>
                </a:lnTo>
                <a:lnTo>
                  <a:pt x="227402" y="166466"/>
                </a:lnTo>
                <a:lnTo>
                  <a:pt x="230168" y="222171"/>
                </a:lnTo>
                <a:lnTo>
                  <a:pt x="231557" y="277928"/>
                </a:lnTo>
                <a:lnTo>
                  <a:pt x="231567" y="333701"/>
                </a:lnTo>
                <a:lnTo>
                  <a:pt x="230197" y="389458"/>
                </a:lnTo>
                <a:lnTo>
                  <a:pt x="227450" y="445164"/>
                </a:lnTo>
                <a:lnTo>
                  <a:pt x="223326" y="500785"/>
                </a:lnTo>
                <a:lnTo>
                  <a:pt x="217829" y="556288"/>
                </a:lnTo>
                <a:lnTo>
                  <a:pt x="210961" y="611637"/>
                </a:lnTo>
                <a:lnTo>
                  <a:pt x="202727" y="666799"/>
                </a:lnTo>
                <a:lnTo>
                  <a:pt x="193131" y="721741"/>
                </a:lnTo>
                <a:lnTo>
                  <a:pt x="182180" y="776429"/>
                </a:lnTo>
                <a:lnTo>
                  <a:pt x="169881" y="830830"/>
                </a:lnTo>
                <a:lnTo>
                  <a:pt x="156240" y="884910"/>
                </a:lnTo>
                <a:lnTo>
                  <a:pt x="141266" y="938636"/>
                </a:lnTo>
                <a:lnTo>
                  <a:pt x="124969" y="991975"/>
                </a:lnTo>
                <a:lnTo>
                  <a:pt x="107357" y="1044896"/>
                </a:lnTo>
                <a:lnTo>
                  <a:pt x="88443" y="1097364"/>
                </a:lnTo>
                <a:lnTo>
                  <a:pt x="68238" y="1149350"/>
                </a:lnTo>
                <a:lnTo>
                  <a:pt x="46753" y="1200819"/>
                </a:lnTo>
                <a:lnTo>
                  <a:pt x="24003" y="1251742"/>
                </a:lnTo>
                <a:lnTo>
                  <a:pt x="0" y="1302087"/>
                </a:lnTo>
              </a:path>
            </a:pathLst>
          </a:custGeom>
          <a:noFill/>
          <a:ln w="76200">
            <a:solidFill>
              <a:srgbClr val="1482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Freeform 35"/>
          <p:cNvSpPr/>
          <p:nvPr/>
        </p:nvSpPr>
        <p:spPr>
          <a:xfrm>
            <a:off x="20794850" y="14928864"/>
            <a:ext cx="347350" cy="1953131"/>
          </a:xfrm>
          <a:custGeom>
            <a:avLst/>
            <a:gdLst/>
            <a:ahLst/>
            <a:cxnLst/>
            <a:rect l="l" t="t" r="r" b="b"/>
            <a:pathLst>
              <a:path w="347350" h="1953131">
                <a:moveTo>
                  <a:pt x="316282" y="0"/>
                </a:moveTo>
                <a:lnTo>
                  <a:pt x="326613" y="83020"/>
                </a:lnTo>
                <a:lnTo>
                  <a:pt x="334888" y="166271"/>
                </a:lnTo>
                <a:lnTo>
                  <a:pt x="341102" y="249700"/>
                </a:lnTo>
                <a:lnTo>
                  <a:pt x="345252" y="333258"/>
                </a:lnTo>
                <a:lnTo>
                  <a:pt x="347335" y="416892"/>
                </a:lnTo>
                <a:lnTo>
                  <a:pt x="347350" y="500553"/>
                </a:lnTo>
                <a:lnTo>
                  <a:pt x="345296" y="584188"/>
                </a:lnTo>
                <a:lnTo>
                  <a:pt x="341175" y="667747"/>
                </a:lnTo>
                <a:lnTo>
                  <a:pt x="334989" y="751179"/>
                </a:lnTo>
                <a:lnTo>
                  <a:pt x="326743" y="834432"/>
                </a:lnTo>
                <a:lnTo>
                  <a:pt x="316441" y="917456"/>
                </a:lnTo>
                <a:lnTo>
                  <a:pt x="304090" y="1000200"/>
                </a:lnTo>
                <a:lnTo>
                  <a:pt x="289696" y="1082613"/>
                </a:lnTo>
                <a:lnTo>
                  <a:pt x="273270" y="1164645"/>
                </a:lnTo>
                <a:lnTo>
                  <a:pt x="254821" y="1246246"/>
                </a:lnTo>
                <a:lnTo>
                  <a:pt x="234359" y="1327366"/>
                </a:lnTo>
                <a:lnTo>
                  <a:pt x="211899" y="1407955"/>
                </a:lnTo>
                <a:lnTo>
                  <a:pt x="187453" y="1487964"/>
                </a:lnTo>
                <a:lnTo>
                  <a:pt x="161036" y="1567344"/>
                </a:lnTo>
                <a:lnTo>
                  <a:pt x="132665" y="1646047"/>
                </a:lnTo>
                <a:lnTo>
                  <a:pt x="102357" y="1724025"/>
                </a:lnTo>
                <a:lnTo>
                  <a:pt x="70130" y="1801229"/>
                </a:lnTo>
                <a:lnTo>
                  <a:pt x="36004" y="1877613"/>
                </a:lnTo>
                <a:lnTo>
                  <a:pt x="0" y="1953131"/>
                </a:lnTo>
              </a:path>
            </a:pathLst>
          </a:custGeom>
          <a:noFill/>
          <a:ln w="76200">
            <a:solidFill>
              <a:srgbClr val="1482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Freeform 37"/>
          <p:cNvSpPr/>
          <p:nvPr/>
        </p:nvSpPr>
        <p:spPr>
          <a:xfrm>
            <a:off x="22698574" y="15222696"/>
            <a:ext cx="323688" cy="1982806"/>
          </a:xfrm>
          <a:custGeom>
            <a:avLst/>
            <a:gdLst/>
            <a:ahLst/>
            <a:cxnLst/>
            <a:rect l="l" t="t" r="r" b="b"/>
            <a:pathLst>
              <a:path w="323688" h="1982806">
                <a:moveTo>
                  <a:pt x="321086" y="0"/>
                </a:moveTo>
                <a:lnTo>
                  <a:pt x="323061" y="84185"/>
                </a:lnTo>
                <a:lnTo>
                  <a:pt x="323688" y="168392"/>
                </a:lnTo>
                <a:lnTo>
                  <a:pt x="322967" y="252597"/>
                </a:lnTo>
                <a:lnTo>
                  <a:pt x="320900" y="336780"/>
                </a:lnTo>
                <a:lnTo>
                  <a:pt x="317486" y="420920"/>
                </a:lnTo>
                <a:lnTo>
                  <a:pt x="312727" y="504994"/>
                </a:lnTo>
                <a:lnTo>
                  <a:pt x="306623" y="588981"/>
                </a:lnTo>
                <a:lnTo>
                  <a:pt x="299176" y="672860"/>
                </a:lnTo>
                <a:lnTo>
                  <a:pt x="290389" y="756608"/>
                </a:lnTo>
                <a:lnTo>
                  <a:pt x="280262" y="840206"/>
                </a:lnTo>
                <a:lnTo>
                  <a:pt x="268800" y="923631"/>
                </a:lnTo>
                <a:lnTo>
                  <a:pt x="256004" y="1006862"/>
                </a:lnTo>
                <a:lnTo>
                  <a:pt x="241879" y="1089877"/>
                </a:lnTo>
                <a:lnTo>
                  <a:pt x="226427" y="1172656"/>
                </a:lnTo>
                <a:lnTo>
                  <a:pt x="209653" y="1255177"/>
                </a:lnTo>
                <a:lnTo>
                  <a:pt x="191561" y="1337419"/>
                </a:lnTo>
                <a:lnTo>
                  <a:pt x="172155" y="1419361"/>
                </a:lnTo>
                <a:lnTo>
                  <a:pt x="151441" y="1500982"/>
                </a:lnTo>
                <a:lnTo>
                  <a:pt x="129424" y="1582262"/>
                </a:lnTo>
                <a:lnTo>
                  <a:pt x="106109" y="1663178"/>
                </a:lnTo>
                <a:lnTo>
                  <a:pt x="81503" y="1743712"/>
                </a:lnTo>
                <a:lnTo>
                  <a:pt x="55611" y="1823841"/>
                </a:lnTo>
                <a:lnTo>
                  <a:pt x="28441" y="1903546"/>
                </a:lnTo>
                <a:lnTo>
                  <a:pt x="0" y="1982806"/>
                </a:lnTo>
              </a:path>
            </a:pathLst>
          </a:custGeom>
          <a:noFill/>
          <a:ln w="762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Freeform 39"/>
          <p:cNvSpPr/>
          <p:nvPr/>
        </p:nvSpPr>
        <p:spPr>
          <a:xfrm>
            <a:off x="23898235" y="15182508"/>
            <a:ext cx="402298" cy="2464345"/>
          </a:xfrm>
          <a:custGeom>
            <a:avLst/>
            <a:gdLst/>
            <a:ahLst/>
            <a:cxnLst/>
            <a:rect l="l" t="t" r="r" b="b"/>
            <a:pathLst>
              <a:path w="402298" h="2464345">
                <a:moveTo>
                  <a:pt x="399065" y="0"/>
                </a:moveTo>
                <a:lnTo>
                  <a:pt x="401519" y="104631"/>
                </a:lnTo>
                <a:lnTo>
                  <a:pt x="402298" y="209287"/>
                </a:lnTo>
                <a:lnTo>
                  <a:pt x="401403" y="313943"/>
                </a:lnTo>
                <a:lnTo>
                  <a:pt x="398834" y="418570"/>
                </a:lnTo>
                <a:lnTo>
                  <a:pt x="394591" y="523144"/>
                </a:lnTo>
                <a:lnTo>
                  <a:pt x="388676" y="627636"/>
                </a:lnTo>
                <a:lnTo>
                  <a:pt x="381089" y="732020"/>
                </a:lnTo>
                <a:lnTo>
                  <a:pt x="371834" y="836269"/>
                </a:lnTo>
                <a:lnTo>
                  <a:pt x="360912" y="940357"/>
                </a:lnTo>
                <a:lnTo>
                  <a:pt x="348327" y="1044256"/>
                </a:lnTo>
                <a:lnTo>
                  <a:pt x="334081" y="1147942"/>
                </a:lnTo>
                <a:lnTo>
                  <a:pt x="318177" y="1251386"/>
                </a:lnTo>
                <a:lnTo>
                  <a:pt x="300621" y="1354562"/>
                </a:lnTo>
                <a:lnTo>
                  <a:pt x="281417" y="1457444"/>
                </a:lnTo>
                <a:lnTo>
                  <a:pt x="260569" y="1560006"/>
                </a:lnTo>
                <a:lnTo>
                  <a:pt x="238083" y="1662221"/>
                </a:lnTo>
                <a:lnTo>
                  <a:pt x="213965" y="1764063"/>
                </a:lnTo>
                <a:lnTo>
                  <a:pt x="188220" y="1865507"/>
                </a:lnTo>
                <a:lnTo>
                  <a:pt x="160856" y="1966525"/>
                </a:lnTo>
                <a:lnTo>
                  <a:pt x="131879" y="2067093"/>
                </a:lnTo>
                <a:lnTo>
                  <a:pt x="101297" y="2167185"/>
                </a:lnTo>
                <a:lnTo>
                  <a:pt x="69118" y="2266774"/>
                </a:lnTo>
                <a:lnTo>
                  <a:pt x="35349" y="2365836"/>
                </a:lnTo>
                <a:lnTo>
                  <a:pt x="0" y="2464345"/>
                </a:lnTo>
              </a:path>
            </a:pathLst>
          </a:custGeom>
          <a:noFill/>
          <a:ln w="7620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ounded Rectangle 128"/>
          <p:cNvSpPr/>
          <p:nvPr/>
        </p:nvSpPr>
        <p:spPr>
          <a:xfrm>
            <a:off x="12448184" y="19264786"/>
            <a:ext cx="5228904" cy="6513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44450">
            <a:solidFill>
              <a:srgbClr val="1482A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TextBox 129"/>
          <p:cNvSpPr txBox="1"/>
          <p:nvPr/>
        </p:nvSpPr>
        <p:spPr>
          <a:xfrm>
            <a:off x="12448184" y="19284245"/>
            <a:ext cx="5228904" cy="6513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 dirty="0">
                <a:solidFill>
                  <a:srgbClr val="1482A5"/>
                </a:solidFill>
                <a:latin typeface="Arial"/>
              </a:rPr>
              <a:t>COUNTER-UAS</a:t>
            </a:r>
          </a:p>
        </p:txBody>
      </p:sp>
      <p:sp>
        <p:nvSpPr>
          <p:cNvPr id="132" name="Rounded Rectangle 131"/>
          <p:cNvSpPr/>
          <p:nvPr/>
        </p:nvSpPr>
        <p:spPr>
          <a:xfrm>
            <a:off x="20863453" y="19264786"/>
            <a:ext cx="6454429" cy="651345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 w="44450">
            <a:solidFill>
              <a:srgbClr val="C810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TextBox 132"/>
          <p:cNvSpPr txBox="1"/>
          <p:nvPr/>
        </p:nvSpPr>
        <p:spPr>
          <a:xfrm>
            <a:off x="20863453" y="19284245"/>
            <a:ext cx="6454429" cy="65134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3400" b="1">
                <a:solidFill>
                  <a:srgbClr val="C8102E"/>
                </a:solidFill>
                <a:latin typeface="Arial"/>
              </a:rPr>
              <a:t>DISASTER RESPONSE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28334193" y="14606813"/>
            <a:ext cx="15142491" cy="3347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71500" indent="-5715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Unknown target in the field? </a:t>
            </a: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It becomes a new prototype, not a wrong label.</a:t>
            </a:r>
          </a:p>
          <a:p>
            <a:pPr marL="571500" indent="-571500" algn="just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Physics-based models supply the new target's characteristics and multi-task backbone absorbs the new class without forgetting the old ones.</a:t>
            </a:r>
            <a:endParaRPr sz="4000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147" name="TextBox 146"/>
          <p:cNvSpPr txBox="1"/>
          <p:nvPr/>
        </p:nvSpPr>
        <p:spPr>
          <a:xfrm>
            <a:off x="548640" y="21244628"/>
            <a:ext cx="16002000" cy="7386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>
                <a:solidFill>
                  <a:srgbClr val="235078"/>
                </a:solidFill>
                <a:latin typeface="Arial"/>
              </a:rPr>
              <a:t>Human skeleton estimation</a:t>
            </a:r>
            <a:r>
              <a:rPr sz="4000" b="0" i="0" dirty="0">
                <a:solidFill>
                  <a:srgbClr val="3E5163"/>
                </a:solidFill>
                <a:latin typeface="Calibri"/>
              </a:rPr>
              <a:t>   ·   </a:t>
            </a:r>
            <a:r>
              <a:rPr sz="4800" b="1" i="0" dirty="0">
                <a:solidFill>
                  <a:srgbClr val="00B050"/>
                </a:solidFill>
                <a:latin typeface="Calibri"/>
              </a:rPr>
              <a:t>no prior real data</a:t>
            </a:r>
            <a:r>
              <a:rPr lang="en-US" sz="4800" b="1" i="0" dirty="0">
                <a:solidFill>
                  <a:srgbClr val="00B050"/>
                </a:solidFill>
                <a:latin typeface="Calibri"/>
              </a:rPr>
              <a:t> !!</a:t>
            </a:r>
            <a:endParaRPr sz="4000" b="1" i="0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66" name="TextBox 165"/>
          <p:cNvSpPr txBox="1"/>
          <p:nvPr/>
        </p:nvSpPr>
        <p:spPr>
          <a:xfrm>
            <a:off x="226345" y="26741987"/>
            <a:ext cx="16598615" cy="19974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Current methods require optical Ground Truth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i="0" dirty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rPr>
              <a:t>Our approach requires no prior real data and learns in-situ from radar data only with greater accuracy. </a:t>
            </a:r>
            <a:endParaRPr sz="4000" i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67" name="TextBox 166"/>
          <p:cNvSpPr txBox="1"/>
          <p:nvPr/>
        </p:nvSpPr>
        <p:spPr>
          <a:xfrm>
            <a:off x="27340560" y="21390497"/>
            <a:ext cx="16047720" cy="6771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 i="0" dirty="0">
                <a:solidFill>
                  <a:srgbClr val="235078"/>
                </a:solidFill>
                <a:latin typeface="Arial"/>
              </a:rPr>
              <a:t>Heart-rate extraction</a:t>
            </a:r>
            <a:r>
              <a:rPr sz="4000" b="0" i="0" dirty="0">
                <a:solidFill>
                  <a:srgbClr val="3E5163"/>
                </a:solidFill>
                <a:latin typeface="Calibri"/>
              </a:rPr>
              <a:t>   ·   </a:t>
            </a:r>
            <a:r>
              <a:rPr sz="4400" b="1" i="0" dirty="0">
                <a:solidFill>
                  <a:srgbClr val="00B050"/>
                </a:solidFill>
                <a:latin typeface="Calibri"/>
              </a:rPr>
              <a:t>under random body motion</a:t>
            </a:r>
            <a:endParaRPr sz="4000" b="1" i="0" dirty="0">
              <a:solidFill>
                <a:srgbClr val="00B050"/>
              </a:solidFill>
              <a:latin typeface="Calibri"/>
            </a:endParaRP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A5E17716-B511-E1D5-13C0-CAFD9E7475F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384280" y="8761288"/>
            <a:ext cx="5526299" cy="3423371"/>
          </a:xfrm>
          <a:prstGeom prst="rect">
            <a:avLst/>
          </a:prstGeom>
        </p:spPr>
      </p:pic>
      <p:pic>
        <p:nvPicPr>
          <p:cNvPr id="84" name="Picture 83">
            <a:extLst>
              <a:ext uri="{FF2B5EF4-FFF2-40B4-BE49-F238E27FC236}">
                <a16:creationId xmlns:a16="http://schemas.microsoft.com/office/drawing/2014/main" id="{3B5E2567-D33A-FC01-BADF-E5E2FF175F2F}"/>
              </a:ext>
            </a:extLst>
          </p:cNvPr>
          <p:cNvPicPr>
            <a:picLocks noChangeAspect="1"/>
          </p:cNvPicPr>
          <p:nvPr/>
        </p:nvPicPr>
        <p:blipFill>
          <a:blip r:embed="rId8">
            <a:lum bright="70000" contrast="-70000"/>
          </a:blip>
          <a:stretch>
            <a:fillRect/>
          </a:stretch>
        </p:blipFill>
        <p:spPr>
          <a:xfrm>
            <a:off x="47952" y="961030"/>
            <a:ext cx="3167528" cy="3167528"/>
          </a:xfrm>
          <a:prstGeom prst="rect">
            <a:avLst/>
          </a:prstGeom>
        </p:spPr>
      </p:pic>
      <p:sp>
        <p:nvSpPr>
          <p:cNvPr id="93" name="Freeform 10">
            <a:extLst>
              <a:ext uri="{FF2B5EF4-FFF2-40B4-BE49-F238E27FC236}">
                <a16:creationId xmlns:a16="http://schemas.microsoft.com/office/drawing/2014/main" id="{98A7344E-11BD-F90E-0E4F-07108A9E79AA}"/>
              </a:ext>
            </a:extLst>
          </p:cNvPr>
          <p:cNvSpPr/>
          <p:nvPr/>
        </p:nvSpPr>
        <p:spPr>
          <a:xfrm>
            <a:off x="18568117" y="10020772"/>
            <a:ext cx="597076" cy="477660"/>
          </a:xfrm>
          <a:custGeom>
            <a:avLst/>
            <a:gdLst/>
            <a:ahLst/>
            <a:cxnLst/>
            <a:rect l="l" t="t" r="r" b="b"/>
            <a:pathLst>
              <a:path w="597076" h="477660">
                <a:moveTo>
                  <a:pt x="0" y="0"/>
                </a:moveTo>
                <a:lnTo>
                  <a:pt x="0" y="477660"/>
                </a:lnTo>
                <a:lnTo>
                  <a:pt x="597076" y="477660"/>
                </a:lnTo>
              </a:path>
            </a:pathLst>
          </a:custGeom>
          <a:noFill/>
          <a:ln w="762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Freeform 12">
            <a:extLst>
              <a:ext uri="{FF2B5EF4-FFF2-40B4-BE49-F238E27FC236}">
                <a16:creationId xmlns:a16="http://schemas.microsoft.com/office/drawing/2014/main" id="{CC55EB01-A654-2DB9-7A31-006CCE91D962}"/>
              </a:ext>
            </a:extLst>
          </p:cNvPr>
          <p:cNvSpPr/>
          <p:nvPr/>
        </p:nvSpPr>
        <p:spPr>
          <a:xfrm>
            <a:off x="21144606" y="9990767"/>
            <a:ext cx="597076" cy="477660"/>
          </a:xfrm>
          <a:custGeom>
            <a:avLst/>
            <a:gdLst/>
            <a:ahLst/>
            <a:cxnLst/>
            <a:rect l="l" t="t" r="r" b="b"/>
            <a:pathLst>
              <a:path w="597076" h="477660">
                <a:moveTo>
                  <a:pt x="597076" y="0"/>
                </a:moveTo>
                <a:lnTo>
                  <a:pt x="597076" y="477660"/>
                </a:lnTo>
                <a:lnTo>
                  <a:pt x="0" y="477660"/>
                </a:lnTo>
              </a:path>
            </a:pathLst>
          </a:custGeom>
          <a:noFill/>
          <a:ln w="762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rgbClr val="00B050"/>
              </a:solidFill>
            </a:endParaRP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856F395-C134-3615-3686-65F75AE2A248}"/>
              </a:ext>
            </a:extLst>
          </p:cNvPr>
          <p:cNvSpPr txBox="1"/>
          <p:nvPr/>
        </p:nvSpPr>
        <p:spPr>
          <a:xfrm>
            <a:off x="17758790" y="8511855"/>
            <a:ext cx="4738695" cy="46166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000" b="1" dirty="0">
                <a:solidFill>
                  <a:srgbClr val="00B050"/>
                </a:solidFill>
                <a:latin typeface="Calibri"/>
              </a:rPr>
              <a:t>Registered UAV</a:t>
            </a:r>
            <a:endParaRPr sz="30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195" name="Freeform 8">
            <a:extLst>
              <a:ext uri="{FF2B5EF4-FFF2-40B4-BE49-F238E27FC236}">
                <a16:creationId xmlns:a16="http://schemas.microsoft.com/office/drawing/2014/main" id="{1132A295-73B8-2941-AD83-0091D15E0B94}"/>
              </a:ext>
            </a:extLst>
          </p:cNvPr>
          <p:cNvSpPr/>
          <p:nvPr/>
        </p:nvSpPr>
        <p:spPr>
          <a:xfrm>
            <a:off x="18519189" y="8501678"/>
            <a:ext cx="597076" cy="477660"/>
          </a:xfrm>
          <a:custGeom>
            <a:avLst/>
            <a:gdLst/>
            <a:ahLst/>
            <a:cxnLst/>
            <a:rect l="l" t="t" r="r" b="b"/>
            <a:pathLst>
              <a:path w="597076" h="477660">
                <a:moveTo>
                  <a:pt x="0" y="477660"/>
                </a:moveTo>
                <a:lnTo>
                  <a:pt x="0" y="0"/>
                </a:lnTo>
                <a:lnTo>
                  <a:pt x="597076" y="0"/>
                </a:lnTo>
              </a:path>
            </a:pathLst>
          </a:custGeom>
          <a:noFill/>
          <a:ln w="762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Freeform 9">
            <a:extLst>
              <a:ext uri="{FF2B5EF4-FFF2-40B4-BE49-F238E27FC236}">
                <a16:creationId xmlns:a16="http://schemas.microsoft.com/office/drawing/2014/main" id="{DCAB6589-BFC7-65FD-3196-8A27ABF04422}"/>
              </a:ext>
            </a:extLst>
          </p:cNvPr>
          <p:cNvSpPr/>
          <p:nvPr/>
        </p:nvSpPr>
        <p:spPr>
          <a:xfrm>
            <a:off x="21142200" y="8482348"/>
            <a:ext cx="597076" cy="477660"/>
          </a:xfrm>
          <a:custGeom>
            <a:avLst/>
            <a:gdLst/>
            <a:ahLst/>
            <a:cxnLst/>
            <a:rect l="l" t="t" r="r" b="b"/>
            <a:pathLst>
              <a:path w="597076" h="477660">
                <a:moveTo>
                  <a:pt x="597076" y="477660"/>
                </a:moveTo>
                <a:lnTo>
                  <a:pt x="597076" y="0"/>
                </a:lnTo>
                <a:lnTo>
                  <a:pt x="0" y="0"/>
                </a:lnTo>
              </a:path>
            </a:pathLst>
          </a:custGeom>
          <a:noFill/>
          <a:ln w="76200">
            <a:solidFill>
              <a:srgbClr val="00B0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TextBox 198">
            <a:extLst>
              <a:ext uri="{FF2B5EF4-FFF2-40B4-BE49-F238E27FC236}">
                <a16:creationId xmlns:a16="http://schemas.microsoft.com/office/drawing/2014/main" id="{D1D8295F-AA2E-F249-6122-044713A1629E}"/>
              </a:ext>
            </a:extLst>
          </p:cNvPr>
          <p:cNvSpPr txBox="1"/>
          <p:nvPr/>
        </p:nvSpPr>
        <p:spPr>
          <a:xfrm>
            <a:off x="17817616" y="10303215"/>
            <a:ext cx="473869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00B050"/>
                </a:solidFill>
                <a:latin typeface="Calibri"/>
              </a:rPr>
              <a:t>No THREAT</a:t>
            </a:r>
            <a:endParaRPr sz="3200" b="1" dirty="0">
              <a:solidFill>
                <a:srgbClr val="00B050"/>
              </a:solidFill>
              <a:latin typeface="Calibri"/>
            </a:endParaRPr>
          </a:p>
        </p:txBody>
      </p:sp>
      <p:sp>
        <p:nvSpPr>
          <p:cNvPr id="201" name="TextBox 200">
            <a:extLst>
              <a:ext uri="{FF2B5EF4-FFF2-40B4-BE49-F238E27FC236}">
                <a16:creationId xmlns:a16="http://schemas.microsoft.com/office/drawing/2014/main" id="{A0AD9C3A-502A-CE64-CC86-2967D08929C5}"/>
              </a:ext>
            </a:extLst>
          </p:cNvPr>
          <p:cNvSpPr txBox="1"/>
          <p:nvPr/>
        </p:nvSpPr>
        <p:spPr>
          <a:xfrm>
            <a:off x="11876272" y="11615131"/>
            <a:ext cx="4738695" cy="43088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2800" b="1" dirty="0">
                <a:solidFill>
                  <a:srgbClr val="FF0000"/>
                </a:solidFill>
                <a:latin typeface="Calibri"/>
              </a:rPr>
              <a:t>THREAT ASSESSMENT !</a:t>
            </a:r>
            <a:endParaRPr sz="2800" b="1" dirty="0">
              <a:solidFill>
                <a:srgbClr val="FF0000"/>
              </a:solidFill>
              <a:latin typeface="Calibri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BCBBBDC0-580B-0415-9662-9B07A7CA115D}"/>
              </a:ext>
            </a:extLst>
          </p:cNvPr>
          <p:cNvGrpSpPr/>
          <p:nvPr/>
        </p:nvGrpSpPr>
        <p:grpSpPr>
          <a:xfrm>
            <a:off x="525781" y="24112486"/>
            <a:ext cx="1231900" cy="2023983"/>
            <a:chOff x="787400" y="22900619"/>
            <a:chExt cx="2024699" cy="3326533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D8D0F63B-044B-39EA-29FD-4D8DC2F95DA1}"/>
                </a:ext>
              </a:extLst>
            </p:cNvPr>
            <p:cNvGrpSpPr/>
            <p:nvPr/>
          </p:nvGrpSpPr>
          <p:grpSpPr>
            <a:xfrm>
              <a:off x="787400" y="22900619"/>
              <a:ext cx="1949450" cy="1343783"/>
              <a:chOff x="3114675" y="23679150"/>
              <a:chExt cx="1504950" cy="1009178"/>
            </a:xfrm>
          </p:grpSpPr>
          <p:sp>
            <p:nvSpPr>
              <p:cNvPr id="45" name="Cube 44">
                <a:extLst>
                  <a:ext uri="{FF2B5EF4-FFF2-40B4-BE49-F238E27FC236}">
                    <a16:creationId xmlns:a16="http://schemas.microsoft.com/office/drawing/2014/main" id="{5D3E953C-A231-A874-FF01-6D56E2F75377}"/>
                  </a:ext>
                </a:extLst>
              </p:cNvPr>
              <p:cNvSpPr/>
              <p:nvPr/>
            </p:nvSpPr>
            <p:spPr>
              <a:xfrm flipH="1">
                <a:off x="3114675" y="23679150"/>
                <a:ext cx="1504950" cy="1009178"/>
              </a:xfrm>
              <a:prstGeom prst="cub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000E7D55-CAA6-9F95-9133-00BC1513F061}"/>
                  </a:ext>
                </a:extLst>
              </p:cNvPr>
              <p:cNvCxnSpPr/>
              <p:nvPr/>
            </p:nvCxnSpPr>
            <p:spPr>
              <a:xfrm>
                <a:off x="4359275" y="23682325"/>
                <a:ext cx="0" cy="7747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CF48B600-140A-BCED-6046-D2220CF1682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21025" y="24442738"/>
                <a:ext cx="123825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1B0996B6-E18F-113E-1AEA-CFAA691250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9275" y="24441150"/>
                <a:ext cx="257175" cy="246063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41" name="Picture 40" descr="radar.png">
              <a:extLst>
                <a:ext uri="{FF2B5EF4-FFF2-40B4-BE49-F238E27FC236}">
                  <a16:creationId xmlns:a16="http://schemas.microsoft.com/office/drawing/2014/main" id="{58BC0439-856C-57F8-7CD5-610DCCD6F16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0570" y="22955188"/>
              <a:ext cx="1741529" cy="3271964"/>
            </a:xfrm>
            <a:prstGeom prst="rect">
              <a:avLst/>
            </a:prstGeom>
          </p:spPr>
        </p:pic>
      </p:grpSp>
      <p:pic>
        <p:nvPicPr>
          <p:cNvPr id="66" name="Picture 65" descr="through_wall.png">
            <a:extLst>
              <a:ext uri="{FF2B5EF4-FFF2-40B4-BE49-F238E27FC236}">
                <a16:creationId xmlns:a16="http://schemas.microsoft.com/office/drawing/2014/main" id="{E2E5CD83-893F-46B2-0AE2-AA23B392554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5358"/>
          <a:stretch>
            <a:fillRect/>
          </a:stretch>
        </p:blipFill>
        <p:spPr>
          <a:xfrm>
            <a:off x="32862370" y="22229065"/>
            <a:ext cx="9840110" cy="4410226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FEFAA9C0-4EAB-4C0D-C7B6-0485F280C438}"/>
              </a:ext>
            </a:extLst>
          </p:cNvPr>
          <p:cNvGrpSpPr/>
          <p:nvPr/>
        </p:nvGrpSpPr>
        <p:grpSpPr>
          <a:xfrm>
            <a:off x="30358842" y="24102283"/>
            <a:ext cx="1231900" cy="2023983"/>
            <a:chOff x="787400" y="22900619"/>
            <a:chExt cx="2024699" cy="3326533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60C3D37-2868-CD74-6AEB-50A5DCBBF3AA}"/>
                </a:ext>
              </a:extLst>
            </p:cNvPr>
            <p:cNvGrpSpPr/>
            <p:nvPr/>
          </p:nvGrpSpPr>
          <p:grpSpPr>
            <a:xfrm>
              <a:off x="787400" y="22900619"/>
              <a:ext cx="1949450" cy="1343783"/>
              <a:chOff x="3114675" y="23679150"/>
              <a:chExt cx="1504950" cy="1009178"/>
            </a:xfrm>
          </p:grpSpPr>
          <p:sp>
            <p:nvSpPr>
              <p:cNvPr id="80" name="Cube 79">
                <a:extLst>
                  <a:ext uri="{FF2B5EF4-FFF2-40B4-BE49-F238E27FC236}">
                    <a16:creationId xmlns:a16="http://schemas.microsoft.com/office/drawing/2014/main" id="{B9F8301A-9E95-BE9B-0403-104A7B8D607F}"/>
                  </a:ext>
                </a:extLst>
              </p:cNvPr>
              <p:cNvSpPr/>
              <p:nvPr/>
            </p:nvSpPr>
            <p:spPr>
              <a:xfrm flipH="1">
                <a:off x="3114675" y="23679150"/>
                <a:ext cx="1504950" cy="1009178"/>
              </a:xfrm>
              <a:prstGeom prst="cub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B1552187-7B0D-D803-5A91-A5CCCA69EA22}"/>
                  </a:ext>
                </a:extLst>
              </p:cNvPr>
              <p:cNvCxnSpPr/>
              <p:nvPr/>
            </p:nvCxnSpPr>
            <p:spPr>
              <a:xfrm>
                <a:off x="4359275" y="23682325"/>
                <a:ext cx="0" cy="77470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338A3397-3E0B-37B8-D827-9AEB1720FF1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3121025" y="24442738"/>
                <a:ext cx="1238250" cy="0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32CDE51E-9703-252B-6B41-DDB7939DF6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359275" y="24441150"/>
                <a:ext cx="257175" cy="246063"/>
              </a:xfrm>
              <a:prstGeom prst="line">
                <a:avLst/>
              </a:prstGeom>
              <a:ln w="28575"/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79" name="Picture 78" descr="radar.png">
              <a:extLst>
                <a:ext uri="{FF2B5EF4-FFF2-40B4-BE49-F238E27FC236}">
                  <a16:creationId xmlns:a16="http://schemas.microsoft.com/office/drawing/2014/main" id="{770C7C9B-1F91-D67C-D425-47BB3C128F2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070570" y="22955188"/>
              <a:ext cx="1741529" cy="3271964"/>
            </a:xfrm>
            <a:prstGeom prst="rect">
              <a:avLst/>
            </a:prstGeom>
          </p:spPr>
        </p:pic>
      </p:grpSp>
      <p:pic>
        <p:nvPicPr>
          <p:cNvPr id="88" name="Picture 87" descr="3_LT.png">
            <a:extLst>
              <a:ext uri="{FF2B5EF4-FFF2-40B4-BE49-F238E27FC236}">
                <a16:creationId xmlns:a16="http://schemas.microsoft.com/office/drawing/2014/main" id="{00D4F51D-BF80-7626-0E28-A9601BB2774B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43037"/>
          <a:stretch>
            <a:fillRect/>
          </a:stretch>
        </p:blipFill>
        <p:spPr>
          <a:xfrm flipH="1">
            <a:off x="1742172" y="23383851"/>
            <a:ext cx="2791348" cy="2701339"/>
          </a:xfrm>
          <a:prstGeom prst="rect">
            <a:avLst/>
          </a:prstGeom>
        </p:spPr>
      </p:pic>
      <p:sp>
        <p:nvSpPr>
          <p:cNvPr id="96" name="Rectangle 95">
            <a:extLst>
              <a:ext uri="{FF2B5EF4-FFF2-40B4-BE49-F238E27FC236}">
                <a16:creationId xmlns:a16="http://schemas.microsoft.com/office/drawing/2014/main" id="{BA5100D8-A0D5-584A-B1B1-BAEB7F97F883}"/>
              </a:ext>
            </a:extLst>
          </p:cNvPr>
          <p:cNvSpPr/>
          <p:nvPr/>
        </p:nvSpPr>
        <p:spPr>
          <a:xfrm>
            <a:off x="453742" y="29558894"/>
            <a:ext cx="15782129" cy="1744674"/>
          </a:xfrm>
          <a:prstGeom prst="rect">
            <a:avLst/>
          </a:prstGeom>
          <a:solidFill>
            <a:srgbClr val="E6F1F6"/>
          </a:solidFill>
          <a:ln w="38100">
            <a:solidFill>
              <a:srgbClr val="1482A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9" name="TextBox 118">
            <a:extLst>
              <a:ext uri="{FF2B5EF4-FFF2-40B4-BE49-F238E27FC236}">
                <a16:creationId xmlns:a16="http://schemas.microsoft.com/office/drawing/2014/main" id="{86BEF469-BA46-2E97-878D-D92DB827ACD4}"/>
              </a:ext>
            </a:extLst>
          </p:cNvPr>
          <p:cNvSpPr txBox="1"/>
          <p:nvPr/>
        </p:nvSpPr>
        <p:spPr>
          <a:xfrm>
            <a:off x="856074" y="29706435"/>
            <a:ext cx="14970563" cy="13232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4000" b="1" i="0" spc="170" dirty="0">
                <a:solidFill>
                  <a:srgbClr val="1482A5"/>
                </a:solidFill>
                <a:latin typeface="Arial"/>
              </a:rPr>
              <a:t>IMPACT? </a:t>
            </a:r>
            <a:r>
              <a:rPr lang="en-US" sz="4000" b="1" i="0" spc="17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No ground truth exists inside a collapsed building – </a:t>
            </a:r>
            <a:r>
              <a:rPr lang="en-US" sz="4000" b="1" spc="170" dirty="0">
                <a:solidFill>
                  <a:schemeClr val="tx1">
                    <a:lumMod val="95000"/>
                    <a:lumOff val="5000"/>
                  </a:schemeClr>
                </a:solidFill>
              </a:rPr>
              <a:t>so</a:t>
            </a:r>
            <a:r>
              <a:rPr lang="en-US" sz="4000" b="1" i="0" spc="17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 our model estimate human skeleton in-situ</a:t>
            </a:r>
            <a:endParaRPr sz="4000" b="1" i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8D2CBB16-5F1E-BDFF-516F-300D0B70F31A}"/>
              </a:ext>
            </a:extLst>
          </p:cNvPr>
          <p:cNvSpPr txBox="1"/>
          <p:nvPr/>
        </p:nvSpPr>
        <p:spPr>
          <a:xfrm>
            <a:off x="19326610" y="17631193"/>
            <a:ext cx="5860165" cy="1107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3E5163"/>
                </a:solidFill>
                <a:latin typeface="Calibri"/>
              </a:rPr>
              <a:t>Human Detection </a:t>
            </a:r>
            <a:br>
              <a:rPr lang="en-US" sz="3600" b="1" dirty="0">
                <a:solidFill>
                  <a:srgbClr val="3E5163"/>
                </a:solidFill>
                <a:latin typeface="Calibri"/>
              </a:rPr>
            </a:br>
            <a:r>
              <a:rPr lang="en-US" sz="3600" b="1" dirty="0">
                <a:solidFill>
                  <a:srgbClr val="3E5163"/>
                </a:solidFill>
                <a:latin typeface="Calibri"/>
              </a:rPr>
              <a:t>&amp; Gait/ Injury Recognition</a:t>
            </a:r>
            <a:endParaRPr sz="3600" b="1" dirty="0">
              <a:solidFill>
                <a:srgbClr val="3E5163"/>
              </a:solidFill>
              <a:latin typeface="Calibri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2D5E0420-2F54-D8DF-A986-50CCD191C077}"/>
              </a:ext>
            </a:extLst>
          </p:cNvPr>
          <p:cNvSpPr txBox="1"/>
          <p:nvPr/>
        </p:nvSpPr>
        <p:spPr>
          <a:xfrm>
            <a:off x="25374895" y="17599689"/>
            <a:ext cx="2448207" cy="11079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en-US" sz="3600" b="1" dirty="0">
                <a:solidFill>
                  <a:srgbClr val="3E5163"/>
                </a:solidFill>
                <a:latin typeface="Calibri"/>
              </a:rPr>
              <a:t>Heart Rate </a:t>
            </a:r>
          </a:p>
          <a:p>
            <a:pPr algn="ctr"/>
            <a:r>
              <a:rPr lang="en-US" sz="3600" b="1" dirty="0">
                <a:solidFill>
                  <a:srgbClr val="3E5163"/>
                </a:solidFill>
                <a:latin typeface="Calibri"/>
              </a:rPr>
              <a:t>Monitoring</a:t>
            </a:r>
            <a:endParaRPr sz="3600" b="1" dirty="0">
              <a:solidFill>
                <a:srgbClr val="3E5163"/>
              </a:solidFill>
              <a:latin typeface="Calibri"/>
            </a:endParaRP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29B2389F-AE6A-156C-5B99-4A2D24BFF8CE}"/>
              </a:ext>
            </a:extLst>
          </p:cNvPr>
          <p:cNvSpPr txBox="1"/>
          <p:nvPr/>
        </p:nvSpPr>
        <p:spPr>
          <a:xfrm>
            <a:off x="27113163" y="26646390"/>
            <a:ext cx="16598615" cy="267060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Through a wall, a trapped survivor never stays still, and the movement overpowers the heartbeat.</a:t>
            </a:r>
          </a:p>
          <a:p>
            <a:pPr marL="571500" indent="-571500">
              <a:lnSpc>
                <a:spcPct val="110000"/>
              </a:lnSpc>
              <a:buFont typeface="Arial" panose="020B0604020202020204" pitchFamily="34" charset="0"/>
              <a:buChar char="•"/>
            </a:pPr>
            <a:r>
              <a:rPr lang="en-US" sz="40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The skeleton tells us how the body moved, so we remove it and estimate what is left- Which is the person’s heart rate.</a:t>
            </a:r>
            <a:endParaRPr sz="4000" i="0" dirty="0">
              <a:solidFill>
                <a:schemeClr val="tx1">
                  <a:lumMod val="95000"/>
                  <a:lumOff val="5000"/>
                </a:schemeClr>
              </a:solidFill>
              <a:latin typeface="Calibri"/>
            </a:endParaRPr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6EB0AA28-5E11-440C-85C7-7167992E806B}"/>
              </a:ext>
            </a:extLst>
          </p:cNvPr>
          <p:cNvSpPr/>
          <p:nvPr/>
        </p:nvSpPr>
        <p:spPr>
          <a:xfrm>
            <a:off x="27340560" y="29463297"/>
            <a:ext cx="15782129" cy="1744674"/>
          </a:xfrm>
          <a:prstGeom prst="rect">
            <a:avLst/>
          </a:prstGeom>
          <a:solidFill>
            <a:srgbClr val="E6F1F6"/>
          </a:solidFill>
          <a:ln w="38100">
            <a:solidFill>
              <a:srgbClr val="1482A5"/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47330F02-FCCD-D887-B188-DDD4E82A8082}"/>
              </a:ext>
            </a:extLst>
          </p:cNvPr>
          <p:cNvSpPr txBox="1"/>
          <p:nvPr/>
        </p:nvSpPr>
        <p:spPr>
          <a:xfrm>
            <a:off x="27879138" y="29609866"/>
            <a:ext cx="14970563" cy="132324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just">
              <a:lnSpc>
                <a:spcPct val="112000"/>
              </a:lnSpc>
              <a:buNone/>
            </a:pPr>
            <a:r>
              <a:rPr lang="en-US" sz="4000" b="1" i="0" spc="170" dirty="0">
                <a:solidFill>
                  <a:srgbClr val="1482A5"/>
                </a:solidFill>
                <a:latin typeface="Arial"/>
              </a:rPr>
              <a:t>IMPACT? </a:t>
            </a:r>
            <a:r>
              <a:rPr lang="en-US" sz="4000" b="1" i="0" spc="170" dirty="0">
                <a:solidFill>
                  <a:schemeClr val="tx1">
                    <a:lumMod val="95000"/>
                    <a:lumOff val="5000"/>
                  </a:schemeClr>
                </a:solidFill>
                <a:latin typeface="Arial"/>
              </a:rPr>
              <a:t>Faster and more power efficient than the state of the art - and it works while the body moves.</a:t>
            </a:r>
            <a:endParaRPr sz="4000" b="1" i="0" dirty="0">
              <a:solidFill>
                <a:schemeClr val="tx1">
                  <a:lumMod val="95000"/>
                  <a:lumOff val="5000"/>
                </a:schemeClr>
              </a:solidFill>
              <a:latin typeface="+mj-lt"/>
            </a:endParaRPr>
          </a:p>
        </p:txBody>
      </p:sp>
      <p:pic>
        <p:nvPicPr>
          <p:cNvPr id="202" name="Picture 201">
            <a:extLst>
              <a:ext uri="{FF2B5EF4-FFF2-40B4-BE49-F238E27FC236}">
                <a16:creationId xmlns:a16="http://schemas.microsoft.com/office/drawing/2014/main" id="{1DA63793-7780-7810-7744-34089E4E7DC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63545" y="722230"/>
            <a:ext cx="2419350" cy="2390775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F74DCF3E-948F-7014-6E24-3535CB01FE1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5507" y="-349399"/>
            <a:ext cx="7166381" cy="6046634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CF4B1A25-7958-B4B2-0AE0-D4279DB944D5}"/>
              </a:ext>
            </a:extLst>
          </p:cNvPr>
          <p:cNvGrpSpPr/>
          <p:nvPr/>
        </p:nvGrpSpPr>
        <p:grpSpPr>
          <a:xfrm>
            <a:off x="28510991" y="8146076"/>
            <a:ext cx="14686133" cy="3800478"/>
            <a:chOff x="91440" y="868680"/>
            <a:chExt cx="14840712" cy="3840480"/>
          </a:xfrm>
        </p:grpSpPr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93D2864E-E036-D561-50BB-C6DF4AF9EB0A}"/>
                </a:ext>
              </a:extLst>
            </p:cNvPr>
            <p:cNvSpPr txBox="1"/>
            <p:nvPr/>
          </p:nvSpPr>
          <p:spPr>
            <a:xfrm>
              <a:off x="91440" y="1316736"/>
              <a:ext cx="868680" cy="5486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r"/>
              <a:r>
                <a:rPr sz="3000" b="1" i="0">
                  <a:solidFill>
                    <a:srgbClr val="1F3864"/>
                  </a:solidFill>
                  <a:latin typeface="Arial"/>
                </a:rPr>
                <a:t>RF</a:t>
              </a:r>
            </a:p>
          </p:txBody>
        </p:sp>
        <p:cxnSp>
          <p:nvCxnSpPr>
            <p:cNvPr id="33" name="Connector 2">
              <a:extLst>
                <a:ext uri="{FF2B5EF4-FFF2-40B4-BE49-F238E27FC236}">
                  <a16:creationId xmlns:a16="http://schemas.microsoft.com/office/drawing/2014/main" id="{C4D25313-5337-62E1-18C8-F5B4F351D6E3}"/>
                </a:ext>
              </a:extLst>
            </p:cNvPr>
            <p:cNvCxnSpPr/>
            <p:nvPr/>
          </p:nvCxnSpPr>
          <p:spPr>
            <a:xfrm>
              <a:off x="1024128" y="1591056"/>
              <a:ext cx="640080" cy="0"/>
            </a:xfrm>
            <a:prstGeom prst="line">
              <a:avLst/>
            </a:prstGeom>
            <a:ln w="508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879B0F77-E62C-4430-3199-8E6F8BC0BE14}"/>
                </a:ext>
              </a:extLst>
            </p:cNvPr>
            <p:cNvSpPr/>
            <p:nvPr/>
          </p:nvSpPr>
          <p:spPr>
            <a:xfrm>
              <a:off x="1691640" y="868680"/>
              <a:ext cx="2926080" cy="1600200"/>
            </a:xfrm>
            <a:prstGeom prst="rect">
              <a:avLst/>
            </a:prstGeom>
            <a:solidFill>
              <a:srgbClr val="DEEAF6"/>
            </a:solidFill>
            <a:ln w="3810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102000"/>
                </a:lnSpc>
              </a:pPr>
              <a:r>
                <a:rPr sz="3200" b="1" dirty="0" err="1">
                  <a:solidFill>
                    <a:srgbClr val="1F3864"/>
                  </a:solidFill>
                  <a:latin typeface="Arial"/>
                </a:rPr>
                <a:t>PhMTL</a:t>
              </a:r>
              <a:endParaRPr sz="3200" b="1" dirty="0">
                <a:solidFill>
                  <a:srgbClr val="1F3864"/>
                </a:solidFill>
                <a:latin typeface="Arial"/>
              </a:endParaRPr>
            </a:p>
            <a:p>
              <a:pPr algn="ctr">
                <a:lnSpc>
                  <a:spcPct val="102000"/>
                </a:lnSpc>
              </a:pPr>
              <a:r>
                <a:rPr sz="3200" b="1" dirty="0">
                  <a:solidFill>
                    <a:srgbClr val="1F3864"/>
                  </a:solidFill>
                  <a:latin typeface="Arial"/>
                </a:rPr>
                <a:t>for CPL</a:t>
              </a:r>
            </a:p>
          </p:txBody>
        </p:sp>
        <p:cxnSp>
          <p:nvCxnSpPr>
            <p:cNvPr id="37" name="Connector 4">
              <a:extLst>
                <a:ext uri="{FF2B5EF4-FFF2-40B4-BE49-F238E27FC236}">
                  <a16:creationId xmlns:a16="http://schemas.microsoft.com/office/drawing/2014/main" id="{BB6DB37C-D51D-7794-3058-C11E2EB58BB5}"/>
                </a:ext>
              </a:extLst>
            </p:cNvPr>
            <p:cNvCxnSpPr/>
            <p:nvPr/>
          </p:nvCxnSpPr>
          <p:spPr>
            <a:xfrm>
              <a:off x="4617720" y="1298448"/>
              <a:ext cx="5760720" cy="0"/>
            </a:xfrm>
            <a:prstGeom prst="line">
              <a:avLst/>
            </a:prstGeom>
            <a:ln w="508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C4B9F36-1EF8-616C-2099-CAD6C49813BA}"/>
                </a:ext>
              </a:extLst>
            </p:cNvPr>
            <p:cNvSpPr txBox="1"/>
            <p:nvPr/>
          </p:nvSpPr>
          <p:spPr>
            <a:xfrm>
              <a:off x="10543032" y="1024127"/>
              <a:ext cx="420624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800" b="1" i="0">
                  <a:solidFill>
                    <a:srgbClr val="1F3864"/>
                  </a:solidFill>
                  <a:latin typeface="Arial"/>
                </a:rPr>
                <a:t>target class</a:t>
              </a:r>
            </a:p>
          </p:txBody>
        </p:sp>
        <p:cxnSp>
          <p:nvCxnSpPr>
            <p:cNvPr id="42" name="Connector 6">
              <a:extLst>
                <a:ext uri="{FF2B5EF4-FFF2-40B4-BE49-F238E27FC236}">
                  <a16:creationId xmlns:a16="http://schemas.microsoft.com/office/drawing/2014/main" id="{A73923CF-7FE4-1154-EF71-5CFB48C1A3A1}"/>
                </a:ext>
              </a:extLst>
            </p:cNvPr>
            <p:cNvCxnSpPr/>
            <p:nvPr/>
          </p:nvCxnSpPr>
          <p:spPr>
            <a:xfrm>
              <a:off x="4617720" y="2103120"/>
              <a:ext cx="5760720" cy="0"/>
            </a:xfrm>
            <a:prstGeom prst="line">
              <a:avLst/>
            </a:prstGeom>
            <a:ln w="508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53264ED-B85B-D2E1-620E-A148AA0746C3}"/>
                </a:ext>
              </a:extLst>
            </p:cNvPr>
            <p:cNvSpPr txBox="1"/>
            <p:nvPr/>
          </p:nvSpPr>
          <p:spPr>
            <a:xfrm>
              <a:off x="10543032" y="1828799"/>
              <a:ext cx="438912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800" b="1" i="0">
                  <a:solidFill>
                    <a:srgbClr val="1F3864"/>
                  </a:solidFill>
                  <a:latin typeface="Arial"/>
                </a:rPr>
                <a:t>target characteristics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4BA602F1-28C4-FF8C-707D-BB5F9C9E471B}"/>
                </a:ext>
              </a:extLst>
            </p:cNvPr>
            <p:cNvSpPr txBox="1"/>
            <p:nvPr/>
          </p:nvSpPr>
          <p:spPr>
            <a:xfrm>
              <a:off x="4892040" y="2212848"/>
              <a:ext cx="1280160" cy="566928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3000" b="1" i="1">
                  <a:solidFill>
                    <a:srgbClr val="1F3864"/>
                  </a:solidFill>
                  <a:latin typeface="Arial"/>
                </a:rPr>
                <a:t>P</a:t>
              </a:r>
              <a:r>
                <a:rPr sz="2200" b="1" i="0" baseline="-25000">
                  <a:solidFill>
                    <a:srgbClr val="1F3864"/>
                  </a:solidFill>
                  <a:latin typeface="Arial"/>
                </a:rPr>
                <a:t>est</a:t>
              </a: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7F438EE5-91A3-C4A9-D8F9-F701C2E0AE00}"/>
                </a:ext>
              </a:extLst>
            </p:cNvPr>
            <p:cNvSpPr/>
            <p:nvPr/>
          </p:nvSpPr>
          <p:spPr>
            <a:xfrm>
              <a:off x="7200900" y="2034539"/>
              <a:ext cx="137160" cy="137160"/>
            </a:xfrm>
            <a:prstGeom prst="ellipse">
              <a:avLst/>
            </a:prstGeom>
            <a:solidFill>
              <a:srgbClr val="2E75B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cxnSp>
          <p:nvCxnSpPr>
            <p:cNvPr id="52" name="Connector 10">
              <a:extLst>
                <a:ext uri="{FF2B5EF4-FFF2-40B4-BE49-F238E27FC236}">
                  <a16:creationId xmlns:a16="http://schemas.microsoft.com/office/drawing/2014/main" id="{6A95585A-5AEB-6759-F926-345A5F578769}"/>
                </a:ext>
              </a:extLst>
            </p:cNvPr>
            <p:cNvCxnSpPr/>
            <p:nvPr/>
          </p:nvCxnSpPr>
          <p:spPr>
            <a:xfrm>
              <a:off x="7269480" y="2103120"/>
              <a:ext cx="0" cy="685800"/>
            </a:xfrm>
            <a:prstGeom prst="line">
              <a:avLst/>
            </a:prstGeom>
            <a:ln w="508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3" name="Diamond 52">
              <a:extLst>
                <a:ext uri="{FF2B5EF4-FFF2-40B4-BE49-F238E27FC236}">
                  <a16:creationId xmlns:a16="http://schemas.microsoft.com/office/drawing/2014/main" id="{0C5428A1-415C-11E7-0208-516972E257D2}"/>
                </a:ext>
              </a:extLst>
            </p:cNvPr>
            <p:cNvSpPr/>
            <p:nvPr/>
          </p:nvSpPr>
          <p:spPr>
            <a:xfrm>
              <a:off x="5806440" y="2807208"/>
              <a:ext cx="2926080" cy="1481328"/>
            </a:xfrm>
            <a:prstGeom prst="diamond">
              <a:avLst/>
            </a:prstGeom>
            <a:solidFill>
              <a:srgbClr val="FFFFFF"/>
            </a:solidFill>
            <a:ln w="3810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102000"/>
                </a:lnSpc>
              </a:pPr>
              <a:r>
                <a:rPr sz="2700" b="1">
                  <a:solidFill>
                    <a:srgbClr val="1F3864"/>
                  </a:solidFill>
                  <a:latin typeface="Arial"/>
                </a:rPr>
                <a:t>new</a:t>
              </a:r>
            </a:p>
            <a:p>
              <a:pPr algn="ctr">
                <a:lnSpc>
                  <a:spcPct val="102000"/>
                </a:lnSpc>
              </a:pPr>
              <a:r>
                <a:rPr sz="2700" b="1">
                  <a:solidFill>
                    <a:srgbClr val="1F3864"/>
                  </a:solidFill>
                  <a:latin typeface="Arial"/>
                </a:rPr>
                <a:t>target?</a:t>
              </a:r>
            </a:p>
          </p:txBody>
        </p:sp>
        <p:cxnSp>
          <p:nvCxnSpPr>
            <p:cNvPr id="54" name="Connector 12">
              <a:extLst>
                <a:ext uri="{FF2B5EF4-FFF2-40B4-BE49-F238E27FC236}">
                  <a16:creationId xmlns:a16="http://schemas.microsoft.com/office/drawing/2014/main" id="{18E36FF3-1EE6-9CCD-E00B-9FB4E9DCF16A}"/>
                </a:ext>
              </a:extLst>
            </p:cNvPr>
            <p:cNvCxnSpPr/>
            <p:nvPr/>
          </p:nvCxnSpPr>
          <p:spPr>
            <a:xfrm>
              <a:off x="8732520" y="3547872"/>
              <a:ext cx="1252728" cy="0"/>
            </a:xfrm>
            <a:prstGeom prst="line">
              <a:avLst/>
            </a:prstGeom>
            <a:ln w="508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41A3AC75-303A-CF97-771B-E907CCC46245}"/>
                </a:ext>
              </a:extLst>
            </p:cNvPr>
            <p:cNvSpPr txBox="1"/>
            <p:nvPr/>
          </p:nvSpPr>
          <p:spPr>
            <a:xfrm>
              <a:off x="8842248" y="2999232"/>
              <a:ext cx="1097280" cy="5029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600" b="1" i="0">
                  <a:solidFill>
                    <a:srgbClr val="1F3864"/>
                  </a:solidFill>
                  <a:latin typeface="Arial"/>
                </a:rPr>
                <a:t>yes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A7889230-6AFD-9EDE-EA2F-07D3201301E0}"/>
                </a:ext>
              </a:extLst>
            </p:cNvPr>
            <p:cNvSpPr/>
            <p:nvPr/>
          </p:nvSpPr>
          <p:spPr>
            <a:xfrm>
              <a:off x="10012680" y="2880360"/>
              <a:ext cx="3291840" cy="1353312"/>
            </a:xfrm>
            <a:prstGeom prst="rect">
              <a:avLst/>
            </a:prstGeom>
            <a:solidFill>
              <a:srgbClr val="DEEAF6"/>
            </a:solidFill>
            <a:ln w="38100">
              <a:solidFill>
                <a:srgbClr val="2E75B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45720" tIns="0" rIns="45720" bIns="0" rtlCol="0" anchor="ctr"/>
            <a:lstStyle/>
            <a:p>
              <a:pPr algn="ctr">
                <a:lnSpc>
                  <a:spcPct val="102000"/>
                </a:lnSpc>
              </a:pPr>
              <a:r>
                <a:rPr sz="2900" b="1" dirty="0">
                  <a:solidFill>
                    <a:srgbClr val="1F3864"/>
                  </a:solidFill>
                  <a:latin typeface="Arial"/>
                </a:rPr>
                <a:t>Establish</a:t>
              </a:r>
            </a:p>
            <a:p>
              <a:pPr algn="ctr">
                <a:lnSpc>
                  <a:spcPct val="102000"/>
                </a:lnSpc>
              </a:pPr>
              <a:r>
                <a:rPr sz="2900" b="1" dirty="0">
                  <a:solidFill>
                    <a:srgbClr val="1F3864"/>
                  </a:solidFill>
                  <a:latin typeface="Arial"/>
                </a:rPr>
                <a:t>new prototype</a:t>
              </a:r>
            </a:p>
          </p:txBody>
        </p:sp>
        <p:cxnSp>
          <p:nvCxnSpPr>
            <p:cNvPr id="59" name="Connector 15">
              <a:extLst>
                <a:ext uri="{FF2B5EF4-FFF2-40B4-BE49-F238E27FC236}">
                  <a16:creationId xmlns:a16="http://schemas.microsoft.com/office/drawing/2014/main" id="{37FF3F18-827E-45C7-91A8-1749A1AB5C9B}"/>
                </a:ext>
              </a:extLst>
            </p:cNvPr>
            <p:cNvCxnSpPr/>
            <p:nvPr/>
          </p:nvCxnSpPr>
          <p:spPr>
            <a:xfrm>
              <a:off x="11658600" y="4233672"/>
              <a:ext cx="0" cy="475488"/>
            </a:xfrm>
            <a:prstGeom prst="line">
              <a:avLst/>
            </a:prstGeom>
            <a:ln w="50800">
              <a:solidFill>
                <a:srgbClr val="2E75B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 16">
              <a:extLst>
                <a:ext uri="{FF2B5EF4-FFF2-40B4-BE49-F238E27FC236}">
                  <a16:creationId xmlns:a16="http://schemas.microsoft.com/office/drawing/2014/main" id="{2DC5A39D-FB1D-6EA6-6CF5-D6CBA8254C4A}"/>
                </a:ext>
              </a:extLst>
            </p:cNvPr>
            <p:cNvCxnSpPr/>
            <p:nvPr/>
          </p:nvCxnSpPr>
          <p:spPr>
            <a:xfrm flipH="1">
              <a:off x="3154680" y="4709160"/>
              <a:ext cx="8503920" cy="0"/>
            </a:xfrm>
            <a:prstGeom prst="line">
              <a:avLst/>
            </a:prstGeom>
            <a:ln w="50800">
              <a:solidFill>
                <a:srgbClr val="2E75B6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or 17">
              <a:extLst>
                <a:ext uri="{FF2B5EF4-FFF2-40B4-BE49-F238E27FC236}">
                  <a16:creationId xmlns:a16="http://schemas.microsoft.com/office/drawing/2014/main" id="{2AD86AC1-AEF6-9EFE-4A68-FCBE6924206B}"/>
                </a:ext>
              </a:extLst>
            </p:cNvPr>
            <p:cNvCxnSpPr/>
            <p:nvPr/>
          </p:nvCxnSpPr>
          <p:spPr>
            <a:xfrm flipV="1">
              <a:off x="3154680" y="2496312"/>
              <a:ext cx="0" cy="2212848"/>
            </a:xfrm>
            <a:prstGeom prst="line">
              <a:avLst/>
            </a:prstGeom>
            <a:ln w="50800">
              <a:solidFill>
                <a:srgbClr val="2E75B6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ED1D828B-AAE5-0B65-693F-62E70339D189}"/>
                </a:ext>
              </a:extLst>
            </p:cNvPr>
            <p:cNvCxnSpPr/>
            <p:nvPr/>
          </p:nvCxnSpPr>
          <p:spPr>
            <a:xfrm>
              <a:off x="4892040" y="2277142"/>
              <a:ext cx="365760" cy="0"/>
            </a:xfrm>
            <a:prstGeom prst="straightConnector1">
              <a:avLst/>
            </a:prstGeom>
            <a:ln w="38100">
              <a:solidFill>
                <a:srgbClr val="1F3864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TextBox 89">
            <a:extLst>
              <a:ext uri="{FF2B5EF4-FFF2-40B4-BE49-F238E27FC236}">
                <a16:creationId xmlns:a16="http://schemas.microsoft.com/office/drawing/2014/main" id="{225BB414-B293-F1D7-D73C-648A4E27903E}"/>
              </a:ext>
            </a:extLst>
          </p:cNvPr>
          <p:cNvSpPr txBox="1"/>
          <p:nvPr/>
        </p:nvSpPr>
        <p:spPr>
          <a:xfrm>
            <a:off x="28206401" y="12907441"/>
            <a:ext cx="7501631" cy="1145955"/>
          </a:xfrm>
          <a:prstGeom prst="rect">
            <a:avLst/>
          </a:prstGeom>
          <a:noFill/>
          <a:ln>
            <a:solidFill>
              <a:srgbClr val="235078"/>
            </a:solidFill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</a:pPr>
            <a:r>
              <a:rPr lang="en-US" sz="3600" b="1" dirty="0">
                <a:solidFill>
                  <a:srgbClr val="235078"/>
                </a:solidFill>
              </a:rPr>
              <a:t> CPL = </a:t>
            </a:r>
            <a:r>
              <a:rPr lang="en-US" sz="2700" b="0" dirty="0">
                <a:solidFill>
                  <a:srgbClr val="3E5163"/>
                </a:solidFill>
                <a:latin typeface="Calibri"/>
              </a:rPr>
              <a:t>Continuous Prototype Learning</a:t>
            </a:r>
            <a:br>
              <a:rPr lang="en-US" sz="2700" b="0" dirty="0">
                <a:solidFill>
                  <a:srgbClr val="3E5163"/>
                </a:solidFill>
                <a:latin typeface="Calibri"/>
              </a:rPr>
            </a:br>
            <a:r>
              <a:rPr lang="en-US" sz="2700" b="0" dirty="0">
                <a:solidFill>
                  <a:srgbClr val="3E5163"/>
                </a:solidFill>
                <a:latin typeface="Calibri"/>
              </a:rPr>
              <a:t>  </a:t>
            </a:r>
            <a:r>
              <a:rPr lang="en-US" sz="3600" b="1" dirty="0">
                <a:solidFill>
                  <a:srgbClr val="235078"/>
                </a:solidFill>
              </a:rPr>
              <a:t>PhyMTL = </a:t>
            </a:r>
            <a:r>
              <a:rPr lang="en-US" sz="2700" dirty="0">
                <a:solidFill>
                  <a:srgbClr val="3E5163"/>
                </a:solidFill>
                <a:latin typeface="Calibri"/>
              </a:rPr>
              <a:t>Physics-aware Multi-task Learning</a:t>
            </a:r>
            <a:endParaRPr sz="2700" b="0" dirty="0">
              <a:solidFill>
                <a:srgbClr val="3E5163"/>
              </a:solidFill>
              <a:latin typeface="Calibri"/>
            </a:endParaRPr>
          </a:p>
        </p:txBody>
      </p:sp>
      <p:sp>
        <p:nvSpPr>
          <p:cNvPr id="120" name="TextBox 119">
            <a:extLst>
              <a:ext uri="{FF2B5EF4-FFF2-40B4-BE49-F238E27FC236}">
                <a16:creationId xmlns:a16="http://schemas.microsoft.com/office/drawing/2014/main" id="{BB92E90D-FCEB-CD30-4990-1D4660AB2AFD}"/>
              </a:ext>
            </a:extLst>
          </p:cNvPr>
          <p:cNvSpPr txBox="1"/>
          <p:nvPr/>
        </p:nvSpPr>
        <p:spPr>
          <a:xfrm>
            <a:off x="36342081" y="12256432"/>
            <a:ext cx="7334284" cy="2183355"/>
          </a:xfrm>
          <a:prstGeom prst="rect">
            <a:avLst/>
          </a:prstGeom>
          <a:noFill/>
          <a:ln>
            <a:solidFill>
              <a:srgbClr val="21587F"/>
            </a:solidFill>
          </a:ln>
        </p:spPr>
        <p:txBody>
          <a:bodyPr wrap="square" lIns="0" tIns="0" rIns="0" bIns="0" anchor="ctr">
            <a:spAutoFit/>
          </a:bodyPr>
          <a:lstStyle/>
          <a:p>
            <a:pPr>
              <a:lnSpc>
                <a:spcPct val="106000"/>
              </a:lnSpc>
            </a:pPr>
            <a:r>
              <a:rPr lang="en-US" sz="3600" b="1" dirty="0">
                <a:solidFill>
                  <a:srgbClr val="235078"/>
                </a:solidFill>
              </a:rPr>
              <a:t>		Characteristics</a:t>
            </a:r>
          </a:p>
          <a:p>
            <a:pPr>
              <a:lnSpc>
                <a:spcPct val="106000"/>
              </a:lnSpc>
            </a:pPr>
            <a:r>
              <a:rPr lang="en-US" sz="3600" b="1" dirty="0">
                <a:solidFill>
                  <a:srgbClr val="235078"/>
                </a:solidFill>
              </a:rPr>
              <a:t> Human = </a:t>
            </a:r>
            <a:r>
              <a:rPr lang="en-US" sz="2700" b="0" dirty="0">
                <a:solidFill>
                  <a:srgbClr val="3E5163"/>
                </a:solidFill>
                <a:latin typeface="Calibri"/>
              </a:rPr>
              <a:t>Gait Parameters</a:t>
            </a:r>
            <a:br>
              <a:rPr lang="en-US" sz="2700" b="0" dirty="0">
                <a:solidFill>
                  <a:srgbClr val="3E5163"/>
                </a:solidFill>
                <a:latin typeface="Calibri"/>
              </a:rPr>
            </a:br>
            <a:r>
              <a:rPr lang="en-US" sz="2700" b="0" dirty="0">
                <a:solidFill>
                  <a:srgbClr val="3E5163"/>
                </a:solidFill>
                <a:latin typeface="Calibri"/>
              </a:rPr>
              <a:t>  </a:t>
            </a:r>
            <a:r>
              <a:rPr lang="en-US" sz="3600" b="1" dirty="0">
                <a:solidFill>
                  <a:srgbClr val="235078"/>
                </a:solidFill>
              </a:rPr>
              <a:t>Drone = </a:t>
            </a:r>
            <a:r>
              <a:rPr lang="en-US" sz="2700" dirty="0">
                <a:solidFill>
                  <a:srgbClr val="3E5163"/>
                </a:solidFill>
                <a:latin typeface="Calibri"/>
              </a:rPr>
              <a:t>Blade length, wingspan, rotor speed, </a:t>
            </a:r>
          </a:p>
          <a:p>
            <a:pPr>
              <a:lnSpc>
                <a:spcPct val="106000"/>
              </a:lnSpc>
            </a:pPr>
            <a:r>
              <a:rPr lang="en-US" sz="2700" b="0" dirty="0">
                <a:solidFill>
                  <a:srgbClr val="3E5163"/>
                </a:solidFill>
                <a:latin typeface="Calibri"/>
              </a:rPr>
              <a:t>   # rotors, # blades</a:t>
            </a:r>
            <a:endParaRPr sz="2700" b="0" dirty="0">
              <a:solidFill>
                <a:srgbClr val="3E5163"/>
              </a:solidFill>
              <a:latin typeface="Calibri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6E60B5D1-D5CA-E621-0EA6-BB7B95B9CB93}"/>
              </a:ext>
            </a:extLst>
          </p:cNvPr>
          <p:cNvGrpSpPr/>
          <p:nvPr/>
        </p:nvGrpSpPr>
        <p:grpSpPr>
          <a:xfrm>
            <a:off x="16712482" y="22213247"/>
            <a:ext cx="10058400" cy="8467535"/>
            <a:chOff x="45720" y="45720"/>
            <a:chExt cx="10058400" cy="7502393"/>
          </a:xfrm>
        </p:grpSpPr>
        <p:sp>
          <p:nvSpPr>
            <p:cNvPr id="134" name="Rounded Rectangle 1">
              <a:extLst>
                <a:ext uri="{FF2B5EF4-FFF2-40B4-BE49-F238E27FC236}">
                  <a16:creationId xmlns:a16="http://schemas.microsoft.com/office/drawing/2014/main" id="{CF3DBA5D-FB52-811D-2CD0-73B39A75D4BD}"/>
                </a:ext>
              </a:extLst>
            </p:cNvPr>
            <p:cNvSpPr/>
            <p:nvPr/>
          </p:nvSpPr>
          <p:spPr>
            <a:xfrm>
              <a:off x="45720" y="45720"/>
              <a:ext cx="10058400" cy="7502393"/>
            </a:xfrm>
            <a:prstGeom prst="roundRect">
              <a:avLst>
                <a:gd name="adj" fmla="val 2000"/>
              </a:avLst>
            </a:prstGeom>
            <a:solidFill>
              <a:srgbClr val="FAFCFD"/>
            </a:solidFill>
            <a:ln w="38100">
              <a:solidFill>
                <a:srgbClr val="23507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48" name="TextBox 147">
              <a:extLst>
                <a:ext uri="{FF2B5EF4-FFF2-40B4-BE49-F238E27FC236}">
                  <a16:creationId xmlns:a16="http://schemas.microsoft.com/office/drawing/2014/main" id="{D602C21B-FAB4-F6E0-D47F-DDAC1C78DD79}"/>
                </a:ext>
              </a:extLst>
            </p:cNvPr>
            <p:cNvSpPr txBox="1"/>
            <p:nvPr/>
          </p:nvSpPr>
          <p:spPr>
            <a:xfrm>
              <a:off x="45720" y="292608"/>
              <a:ext cx="10058400" cy="658368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3200" b="1" spc="190">
                  <a:solidFill>
                    <a:srgbClr val="235078"/>
                  </a:solidFill>
                  <a:latin typeface="Arial"/>
                </a:rPr>
                <a:t>PERFORMANCE vs STATE OF THE ART</a:t>
              </a:r>
            </a:p>
          </p:txBody>
        </p:sp>
        <p:sp>
          <p:nvSpPr>
            <p:cNvPr id="149" name="Rounded Rectangle 3">
              <a:extLst>
                <a:ext uri="{FF2B5EF4-FFF2-40B4-BE49-F238E27FC236}">
                  <a16:creationId xmlns:a16="http://schemas.microsoft.com/office/drawing/2014/main" id="{E824DC75-7B9C-5E59-0701-6D6A509CA945}"/>
                </a:ext>
              </a:extLst>
            </p:cNvPr>
            <p:cNvSpPr/>
            <p:nvPr/>
          </p:nvSpPr>
          <p:spPr>
            <a:xfrm>
              <a:off x="365760" y="1133856"/>
              <a:ext cx="9418320" cy="1920240"/>
            </a:xfrm>
            <a:prstGeom prst="roundRect">
              <a:avLst>
                <a:gd name="adj" fmla="val 6000"/>
              </a:avLst>
            </a:prstGeom>
            <a:solidFill>
              <a:srgbClr val="F2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0" name="TextBox 149">
              <a:extLst>
                <a:ext uri="{FF2B5EF4-FFF2-40B4-BE49-F238E27FC236}">
                  <a16:creationId xmlns:a16="http://schemas.microsoft.com/office/drawing/2014/main" id="{24BE2463-912E-DB21-D5D7-483867C87745}"/>
                </a:ext>
              </a:extLst>
            </p:cNvPr>
            <p:cNvSpPr txBox="1"/>
            <p:nvPr/>
          </p:nvSpPr>
          <p:spPr>
            <a:xfrm>
              <a:off x="502920" y="1133856"/>
              <a:ext cx="3017520" cy="19202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400" b="1">
                  <a:solidFill>
                    <a:srgbClr val="1482A5"/>
                  </a:solidFill>
                  <a:latin typeface="Arial"/>
                </a:rPr>
                <a:t>20×</a:t>
              </a:r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5A9B8904-481A-DBB7-1B94-EFC2386196A9}"/>
                </a:ext>
              </a:extLst>
            </p:cNvPr>
            <p:cNvSpPr txBox="1"/>
            <p:nvPr/>
          </p:nvSpPr>
          <p:spPr>
            <a:xfrm>
              <a:off x="3611880" y="1133856"/>
              <a:ext cx="5897880" cy="19202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6000"/>
                </a:lnSpc>
              </a:pPr>
              <a:r>
                <a:rPr sz="3600" b="1">
                  <a:solidFill>
                    <a:srgbClr val="235078"/>
                  </a:solidFill>
                  <a:latin typeface="Arial"/>
                </a:rPr>
                <a:t>less energy per inference</a:t>
              </a:r>
            </a:p>
            <a:p>
              <a:pPr algn="l">
                <a:lnSpc>
                  <a:spcPct val="110000"/>
                </a:lnSpc>
                <a:spcBef>
                  <a:spcPts val="900"/>
                </a:spcBef>
              </a:pPr>
              <a:r>
                <a:rPr sz="2700" b="0">
                  <a:solidFill>
                    <a:srgbClr val="3E5163"/>
                  </a:solidFill>
                  <a:latin typeface="Calibri"/>
                </a:rPr>
                <a:t>35.7 J  vs  711.8 J   (A-VMD)</a:t>
              </a:r>
            </a:p>
          </p:txBody>
        </p:sp>
        <p:sp>
          <p:nvSpPr>
            <p:cNvPr id="152" name="Rounded Rectangle 6">
              <a:extLst>
                <a:ext uri="{FF2B5EF4-FFF2-40B4-BE49-F238E27FC236}">
                  <a16:creationId xmlns:a16="http://schemas.microsoft.com/office/drawing/2014/main" id="{83132B90-C22D-4BD8-8B82-2F99823E1DFB}"/>
                </a:ext>
              </a:extLst>
            </p:cNvPr>
            <p:cNvSpPr/>
            <p:nvPr/>
          </p:nvSpPr>
          <p:spPr>
            <a:xfrm>
              <a:off x="365760" y="3255263"/>
              <a:ext cx="9418320" cy="1920240"/>
            </a:xfrm>
            <a:prstGeom prst="roundRect">
              <a:avLst>
                <a:gd name="adj" fmla="val 6000"/>
              </a:avLst>
            </a:prstGeom>
            <a:solidFill>
              <a:srgbClr val="F2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3" name="TextBox 152">
              <a:extLst>
                <a:ext uri="{FF2B5EF4-FFF2-40B4-BE49-F238E27FC236}">
                  <a16:creationId xmlns:a16="http://schemas.microsoft.com/office/drawing/2014/main" id="{EFDBF0D4-954D-AB97-DC2B-D588CCD69731}"/>
                </a:ext>
              </a:extLst>
            </p:cNvPr>
            <p:cNvSpPr txBox="1"/>
            <p:nvPr/>
          </p:nvSpPr>
          <p:spPr>
            <a:xfrm>
              <a:off x="502920" y="3255263"/>
              <a:ext cx="3017520" cy="19202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400" b="1">
                  <a:solidFill>
                    <a:srgbClr val="235078"/>
                  </a:solidFill>
                  <a:latin typeface="Arial"/>
                </a:rPr>
                <a:t>19×</a:t>
              </a:r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EDE629F0-4726-499F-2142-9F0D0E7E1370}"/>
                </a:ext>
              </a:extLst>
            </p:cNvPr>
            <p:cNvSpPr txBox="1"/>
            <p:nvPr/>
          </p:nvSpPr>
          <p:spPr>
            <a:xfrm>
              <a:off x="3611880" y="3255263"/>
              <a:ext cx="5897880" cy="19202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6000"/>
                </a:lnSpc>
              </a:pPr>
              <a:r>
                <a:rPr sz="3600" b="1">
                  <a:solidFill>
                    <a:srgbClr val="235078"/>
                  </a:solidFill>
                  <a:latin typeface="Arial"/>
                </a:rPr>
                <a:t>faster per decision</a:t>
              </a:r>
            </a:p>
            <a:p>
              <a:pPr algn="l">
                <a:lnSpc>
                  <a:spcPct val="110000"/>
                </a:lnSpc>
                <a:spcBef>
                  <a:spcPts val="900"/>
                </a:spcBef>
              </a:pPr>
              <a:r>
                <a:rPr sz="2700" b="0">
                  <a:solidFill>
                    <a:srgbClr val="3E5163"/>
                  </a:solidFill>
                  <a:latin typeface="Calibri"/>
                </a:rPr>
                <a:t>0.88 s  vs  17.07 s   (A-VMD)</a:t>
              </a:r>
            </a:p>
          </p:txBody>
        </p:sp>
        <p:sp>
          <p:nvSpPr>
            <p:cNvPr id="155" name="Rounded Rectangle 12">
              <a:extLst>
                <a:ext uri="{FF2B5EF4-FFF2-40B4-BE49-F238E27FC236}">
                  <a16:creationId xmlns:a16="http://schemas.microsoft.com/office/drawing/2014/main" id="{4A759C53-2C79-973F-5C40-E8E57F02EC81}"/>
                </a:ext>
              </a:extLst>
            </p:cNvPr>
            <p:cNvSpPr/>
            <p:nvPr/>
          </p:nvSpPr>
          <p:spPr>
            <a:xfrm>
              <a:off x="365760" y="5341488"/>
              <a:ext cx="9418320" cy="1920240"/>
            </a:xfrm>
            <a:prstGeom prst="roundRect">
              <a:avLst>
                <a:gd name="adj" fmla="val 6000"/>
              </a:avLst>
            </a:prstGeom>
            <a:solidFill>
              <a:srgbClr val="F2F5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rtlCol="0" anchor="ctr"/>
            <a:lstStyle/>
            <a:p>
              <a:pPr algn="ctr"/>
              <a:endParaRPr/>
            </a:p>
          </p:txBody>
        </p:sp>
        <p:sp>
          <p:nvSpPr>
            <p:cNvPr id="156" name="TextBox 155">
              <a:extLst>
                <a:ext uri="{FF2B5EF4-FFF2-40B4-BE49-F238E27FC236}">
                  <a16:creationId xmlns:a16="http://schemas.microsoft.com/office/drawing/2014/main" id="{45AC4E99-B516-307B-72E0-B2395E926759}"/>
                </a:ext>
              </a:extLst>
            </p:cNvPr>
            <p:cNvSpPr txBox="1"/>
            <p:nvPr/>
          </p:nvSpPr>
          <p:spPr>
            <a:xfrm>
              <a:off x="502920" y="5341488"/>
              <a:ext cx="3017520" cy="192024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>
                <a:lnSpc>
                  <a:spcPct val="95000"/>
                </a:lnSpc>
              </a:pPr>
              <a:r>
                <a:rPr sz="8400" b="1">
                  <a:solidFill>
                    <a:srgbClr val="C8102E"/>
                  </a:solidFill>
                  <a:latin typeface="Arial"/>
                </a:rPr>
                <a:t>29%</a:t>
              </a:r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A2C1EE0C-6714-2579-6792-61FADC16B6E0}"/>
                </a:ext>
              </a:extLst>
            </p:cNvPr>
            <p:cNvSpPr txBox="1"/>
            <p:nvPr/>
          </p:nvSpPr>
          <p:spPr>
            <a:xfrm>
              <a:off x="3611880" y="5341488"/>
              <a:ext cx="5897880" cy="19202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>
                <a:lnSpc>
                  <a:spcPct val="106000"/>
                </a:lnSpc>
              </a:pPr>
              <a:r>
                <a:rPr sz="3600" b="1">
                  <a:solidFill>
                    <a:srgbClr val="235078"/>
                  </a:solidFill>
                  <a:latin typeface="Arial"/>
                </a:rPr>
                <a:t>lower skeleton error</a:t>
              </a:r>
            </a:p>
            <a:p>
              <a:pPr algn="l">
                <a:lnSpc>
                  <a:spcPct val="110000"/>
                </a:lnSpc>
                <a:spcBef>
                  <a:spcPts val="900"/>
                </a:spcBef>
              </a:pPr>
              <a:r>
                <a:rPr sz="2700" b="0">
                  <a:solidFill>
                    <a:srgbClr val="3E5163"/>
                  </a:solidFill>
                  <a:latin typeface="Calibri"/>
                </a:rPr>
                <a:t>from the physics-aware loss alone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3E861CA9-F508-C023-09CC-3FAD8E855D73}"/>
              </a:ext>
            </a:extLst>
          </p:cNvPr>
          <p:cNvGrpSpPr/>
          <p:nvPr/>
        </p:nvGrpSpPr>
        <p:grpSpPr>
          <a:xfrm>
            <a:off x="4201932" y="22152889"/>
            <a:ext cx="11795760" cy="4358122"/>
            <a:chOff x="45720" y="305318"/>
            <a:chExt cx="11795760" cy="4358122"/>
          </a:xfrm>
        </p:grpSpPr>
        <p:sp>
          <p:nvSpPr>
            <p:cNvPr id="159" name="TextBox 158">
              <a:extLst>
                <a:ext uri="{FF2B5EF4-FFF2-40B4-BE49-F238E27FC236}">
                  <a16:creationId xmlns:a16="http://schemas.microsoft.com/office/drawing/2014/main" id="{A67536A2-8C1A-59A3-B6E3-37BD40D76753}"/>
                </a:ext>
              </a:extLst>
            </p:cNvPr>
            <p:cNvSpPr txBox="1"/>
            <p:nvPr/>
          </p:nvSpPr>
          <p:spPr>
            <a:xfrm>
              <a:off x="45720" y="749808"/>
              <a:ext cx="1554480" cy="5029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3400" b="0" dirty="0">
                  <a:solidFill>
                    <a:srgbClr val="000000"/>
                  </a:solidFill>
                  <a:latin typeface="Arial"/>
                </a:rPr>
                <a:t>RF Data</a:t>
              </a:r>
            </a:p>
          </p:txBody>
        </p:sp>
        <p:cxnSp>
          <p:nvCxnSpPr>
            <p:cNvPr id="160" name="Connector 2">
              <a:extLst>
                <a:ext uri="{FF2B5EF4-FFF2-40B4-BE49-F238E27FC236}">
                  <a16:creationId xmlns:a16="http://schemas.microsoft.com/office/drawing/2014/main" id="{68C7D4DE-A946-74DD-57CE-05C712C9DF5D}"/>
                </a:ext>
              </a:extLst>
            </p:cNvPr>
            <p:cNvCxnSpPr/>
            <p:nvPr/>
          </p:nvCxnSpPr>
          <p:spPr>
            <a:xfrm>
              <a:off x="411480" y="1371600"/>
              <a:ext cx="1252728" cy="0"/>
            </a:xfrm>
            <a:prstGeom prst="line">
              <a:avLst/>
            </a:prstGeom>
            <a:ln w="444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1" name="Rectangle 160">
              <a:extLst>
                <a:ext uri="{FF2B5EF4-FFF2-40B4-BE49-F238E27FC236}">
                  <a16:creationId xmlns:a16="http://schemas.microsoft.com/office/drawing/2014/main" id="{9546B9D3-4EBC-0C2A-44F5-D650C1E7ED28}"/>
                </a:ext>
              </a:extLst>
            </p:cNvPr>
            <p:cNvSpPr/>
            <p:nvPr/>
          </p:nvSpPr>
          <p:spPr>
            <a:xfrm>
              <a:off x="1691640" y="365760"/>
              <a:ext cx="2286000" cy="2057400"/>
            </a:xfrm>
            <a:prstGeom prst="rect">
              <a:avLst/>
            </a:prstGeom>
            <a:solidFill>
              <a:srgbClr val="D3DF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162" name="Picture 161" descr="nn_icon.png">
              <a:extLst>
                <a:ext uri="{FF2B5EF4-FFF2-40B4-BE49-F238E27FC236}">
                  <a16:creationId xmlns:a16="http://schemas.microsoft.com/office/drawing/2014/main" id="{33C67485-B371-6228-B7B6-2EC7F30643D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1954924" y="571499"/>
              <a:ext cx="1759431" cy="1645920"/>
            </a:xfrm>
            <a:prstGeom prst="rect">
              <a:avLst/>
            </a:prstGeom>
          </p:spPr>
        </p:pic>
        <p:cxnSp>
          <p:nvCxnSpPr>
            <p:cNvPr id="163" name="Connector 5">
              <a:extLst>
                <a:ext uri="{FF2B5EF4-FFF2-40B4-BE49-F238E27FC236}">
                  <a16:creationId xmlns:a16="http://schemas.microsoft.com/office/drawing/2014/main" id="{977A1EAD-01D1-CB08-47E9-7F6661640B83}"/>
                </a:ext>
              </a:extLst>
            </p:cNvPr>
            <p:cNvCxnSpPr/>
            <p:nvPr/>
          </p:nvCxnSpPr>
          <p:spPr>
            <a:xfrm>
              <a:off x="4032503" y="1371600"/>
              <a:ext cx="557785" cy="0"/>
            </a:xfrm>
            <a:prstGeom prst="line">
              <a:avLst/>
            </a:prstGeom>
            <a:ln w="444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Connector 7">
              <a:extLst>
                <a:ext uri="{FF2B5EF4-FFF2-40B4-BE49-F238E27FC236}">
                  <a16:creationId xmlns:a16="http://schemas.microsoft.com/office/drawing/2014/main" id="{7490A5F1-7FC4-7906-0792-4B39DEB8B5F7}"/>
                </a:ext>
              </a:extLst>
            </p:cNvPr>
            <p:cNvCxnSpPr/>
            <p:nvPr/>
          </p:nvCxnSpPr>
          <p:spPr>
            <a:xfrm>
              <a:off x="6236208" y="1371600"/>
              <a:ext cx="475488" cy="0"/>
            </a:xfrm>
            <a:prstGeom prst="line">
              <a:avLst/>
            </a:prstGeom>
            <a:ln w="444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Rectangle 167">
              <a:extLst>
                <a:ext uri="{FF2B5EF4-FFF2-40B4-BE49-F238E27FC236}">
                  <a16:creationId xmlns:a16="http://schemas.microsoft.com/office/drawing/2014/main" id="{082A79CF-69E4-45AC-1A37-3180C7A45FA4}"/>
                </a:ext>
              </a:extLst>
            </p:cNvPr>
            <p:cNvSpPr/>
            <p:nvPr/>
          </p:nvSpPr>
          <p:spPr>
            <a:xfrm>
              <a:off x="6766560" y="365760"/>
              <a:ext cx="3337560" cy="2057400"/>
            </a:xfrm>
            <a:prstGeom prst="rect">
              <a:avLst/>
            </a:prstGeom>
            <a:solidFill>
              <a:srgbClr val="D3DF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rIns="54864" rtlCol="0" anchor="ctr"/>
            <a:lstStyle/>
            <a:p>
              <a:pPr algn="ctr">
                <a:lnSpc>
                  <a:spcPct val="105000"/>
                </a:lnSpc>
              </a:pPr>
              <a:r>
                <a:rPr sz="3400" dirty="0">
                  <a:solidFill>
                    <a:srgbClr val="000000"/>
                  </a:solidFill>
                  <a:latin typeface="Arial"/>
                </a:rPr>
                <a:t>Physics-Based</a:t>
              </a:r>
            </a:p>
            <a:p>
              <a:pPr algn="ctr">
                <a:lnSpc>
                  <a:spcPct val="105000"/>
                </a:lnSpc>
              </a:pPr>
              <a:r>
                <a:rPr sz="3400" dirty="0">
                  <a:solidFill>
                    <a:srgbClr val="000000"/>
                  </a:solidFill>
                  <a:latin typeface="Arial"/>
                </a:rPr>
                <a:t>Reconstruction</a:t>
              </a:r>
            </a:p>
          </p:txBody>
        </p:sp>
        <p:cxnSp>
          <p:nvCxnSpPr>
            <p:cNvPr id="169" name="Connector 9">
              <a:extLst>
                <a:ext uri="{FF2B5EF4-FFF2-40B4-BE49-F238E27FC236}">
                  <a16:creationId xmlns:a16="http://schemas.microsoft.com/office/drawing/2014/main" id="{8EB7D28D-832D-C413-4F78-524F3C1B99FC}"/>
                </a:ext>
              </a:extLst>
            </p:cNvPr>
            <p:cNvCxnSpPr/>
            <p:nvPr/>
          </p:nvCxnSpPr>
          <p:spPr>
            <a:xfrm>
              <a:off x="10104120" y="1371600"/>
              <a:ext cx="1252728" cy="0"/>
            </a:xfrm>
            <a:prstGeom prst="line">
              <a:avLst/>
            </a:prstGeom>
            <a:ln w="444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3D6EEECC-4609-7D59-DA21-86F33238F575}"/>
                </a:ext>
              </a:extLst>
            </p:cNvPr>
            <p:cNvSpPr txBox="1"/>
            <p:nvPr/>
          </p:nvSpPr>
          <p:spPr>
            <a:xfrm>
              <a:off x="10149840" y="676656"/>
              <a:ext cx="1691640" cy="502920"/>
            </a:xfrm>
            <a:prstGeom prst="rect">
              <a:avLst/>
            </a:prstGeom>
            <a:noFill/>
          </p:spPr>
          <p:txBody>
            <a:bodyPr wrap="none" lIns="0" tIns="0" rIns="0" bIns="0" anchor="ctr">
              <a:spAutoFit/>
            </a:bodyPr>
            <a:lstStyle/>
            <a:p>
              <a:pPr algn="l"/>
              <a:r>
                <a:rPr sz="3400" b="0">
                  <a:solidFill>
                    <a:srgbClr val="000000"/>
                  </a:solidFill>
                  <a:latin typeface="Arial"/>
                </a:rPr>
                <a:t>RF Data</a:t>
              </a:r>
            </a:p>
          </p:txBody>
        </p: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8CEC02FA-2407-BDAB-A6E2-ED5A2245DD17}"/>
                </a:ext>
              </a:extLst>
            </p:cNvPr>
            <p:cNvSpPr txBox="1"/>
            <p:nvPr/>
          </p:nvSpPr>
          <p:spPr>
            <a:xfrm>
              <a:off x="10113263" y="305318"/>
              <a:ext cx="1587669" cy="5232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ctr"/>
              <a:r>
                <a:rPr sz="3400" b="1" dirty="0">
                  <a:solidFill>
                    <a:srgbClr val="000000"/>
                  </a:solidFill>
                  <a:latin typeface="Arial"/>
                </a:rPr>
                <a:t>^</a:t>
              </a:r>
            </a:p>
          </p:txBody>
        </p:sp>
        <p:sp>
          <p:nvSpPr>
            <p:cNvPr id="172" name="Rectangle 171">
              <a:extLst>
                <a:ext uri="{FF2B5EF4-FFF2-40B4-BE49-F238E27FC236}">
                  <a16:creationId xmlns:a16="http://schemas.microsoft.com/office/drawing/2014/main" id="{B01212E4-04EC-37DE-ABF5-4BFA508EA3A0}"/>
                </a:ext>
              </a:extLst>
            </p:cNvPr>
            <p:cNvSpPr/>
            <p:nvPr/>
          </p:nvSpPr>
          <p:spPr>
            <a:xfrm>
              <a:off x="1691640" y="3246120"/>
              <a:ext cx="2286000" cy="1417320"/>
            </a:xfrm>
            <a:prstGeom prst="rect">
              <a:avLst/>
            </a:prstGeom>
            <a:solidFill>
              <a:srgbClr val="D3DFF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wrap="square" lIns="54864" rIns="54864" rtlCol="0" anchor="ctr"/>
            <a:lstStyle/>
            <a:p>
              <a:pPr algn="ctr">
                <a:lnSpc>
                  <a:spcPct val="105000"/>
                </a:lnSpc>
              </a:pPr>
              <a:r>
                <a:rPr sz="3400">
                  <a:solidFill>
                    <a:srgbClr val="000000"/>
                  </a:solidFill>
                  <a:latin typeface="Arial"/>
                </a:rPr>
                <a:t>Loss</a:t>
              </a:r>
              <a:r>
                <a:rPr sz="2200" baseline="-25000">
                  <a:solidFill>
                    <a:srgbClr val="000000"/>
                  </a:solidFill>
                  <a:latin typeface="Arial"/>
                </a:rPr>
                <a:t>Physics</a:t>
              </a:r>
            </a:p>
          </p:txBody>
        </p:sp>
        <p:cxnSp>
          <p:nvCxnSpPr>
            <p:cNvPr id="173" name="Connector 13">
              <a:extLst>
                <a:ext uri="{FF2B5EF4-FFF2-40B4-BE49-F238E27FC236}">
                  <a16:creationId xmlns:a16="http://schemas.microsoft.com/office/drawing/2014/main" id="{AF11797F-B4AB-F99B-D3DF-53FA95637541}"/>
                </a:ext>
              </a:extLst>
            </p:cNvPr>
            <p:cNvCxnSpPr/>
            <p:nvPr/>
          </p:nvCxnSpPr>
          <p:spPr>
            <a:xfrm flipV="1">
              <a:off x="2834640" y="2468879"/>
              <a:ext cx="0" cy="777241"/>
            </a:xfrm>
            <a:prstGeom prst="line">
              <a:avLst/>
            </a:prstGeom>
            <a:ln w="444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Connector 14">
              <a:extLst>
                <a:ext uri="{FF2B5EF4-FFF2-40B4-BE49-F238E27FC236}">
                  <a16:creationId xmlns:a16="http://schemas.microsoft.com/office/drawing/2014/main" id="{FE3630CB-9E09-3C9A-735B-2802C908D046}"/>
                </a:ext>
              </a:extLst>
            </p:cNvPr>
            <p:cNvCxnSpPr/>
            <p:nvPr/>
          </p:nvCxnSpPr>
          <p:spPr>
            <a:xfrm>
              <a:off x="960120" y="1371600"/>
              <a:ext cx="0" cy="2606039"/>
            </a:xfrm>
            <a:prstGeom prst="line">
              <a:avLst/>
            </a:prstGeom>
            <a:ln w="444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Connector 15">
              <a:extLst>
                <a:ext uri="{FF2B5EF4-FFF2-40B4-BE49-F238E27FC236}">
                  <a16:creationId xmlns:a16="http://schemas.microsoft.com/office/drawing/2014/main" id="{7714F6A3-6F55-BAF6-94FB-17AB8B7957E3}"/>
                </a:ext>
              </a:extLst>
            </p:cNvPr>
            <p:cNvCxnSpPr/>
            <p:nvPr/>
          </p:nvCxnSpPr>
          <p:spPr>
            <a:xfrm>
              <a:off x="960120" y="3977639"/>
              <a:ext cx="694944" cy="0"/>
            </a:xfrm>
            <a:prstGeom prst="line">
              <a:avLst/>
            </a:prstGeom>
            <a:ln w="444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Connector 16">
              <a:extLst>
                <a:ext uri="{FF2B5EF4-FFF2-40B4-BE49-F238E27FC236}">
                  <a16:creationId xmlns:a16="http://schemas.microsoft.com/office/drawing/2014/main" id="{8B3FE4AD-8F75-7F46-5DCC-90875A9EE357}"/>
                </a:ext>
              </a:extLst>
            </p:cNvPr>
            <p:cNvCxnSpPr/>
            <p:nvPr/>
          </p:nvCxnSpPr>
          <p:spPr>
            <a:xfrm>
              <a:off x="10927080" y="1371600"/>
              <a:ext cx="0" cy="2606039"/>
            </a:xfrm>
            <a:prstGeom prst="line">
              <a:avLst/>
            </a:prstGeom>
            <a:ln w="44450">
              <a:solidFill>
                <a:srgbClr val="00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Connector 17">
              <a:extLst>
                <a:ext uri="{FF2B5EF4-FFF2-40B4-BE49-F238E27FC236}">
                  <a16:creationId xmlns:a16="http://schemas.microsoft.com/office/drawing/2014/main" id="{8F6012E0-18CE-4507-1A0A-479B8AB3E8E0}"/>
                </a:ext>
              </a:extLst>
            </p:cNvPr>
            <p:cNvCxnSpPr/>
            <p:nvPr/>
          </p:nvCxnSpPr>
          <p:spPr>
            <a:xfrm flipH="1">
              <a:off x="4014215" y="3977639"/>
              <a:ext cx="6912865" cy="0"/>
            </a:xfrm>
            <a:prstGeom prst="line">
              <a:avLst/>
            </a:prstGeom>
            <a:ln w="44450">
              <a:solidFill>
                <a:srgbClr val="000000"/>
              </a:solidFill>
              <a:tailEnd type="triangl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181" name="Picture 180">
            <a:extLst>
              <a:ext uri="{FF2B5EF4-FFF2-40B4-BE49-F238E27FC236}">
                <a16:creationId xmlns:a16="http://schemas.microsoft.com/office/drawing/2014/main" id="{B6ADC3E6-2784-0F74-3AAA-E81F221D4C68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l="44630" t="27051"/>
          <a:stretch>
            <a:fillRect/>
          </a:stretch>
        </p:blipFill>
        <p:spPr>
          <a:xfrm>
            <a:off x="8652652" y="22114750"/>
            <a:ext cx="1967797" cy="225496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0" grpId="0"/>
      <p:bldP spid="23" grpId="0" animBg="1"/>
      <p:bldP spid="31" grpId="0"/>
      <p:bldP spid="146" grpId="0"/>
      <p:bldP spid="147" grpId="0"/>
      <p:bldP spid="166" grpId="0"/>
      <p:bldP spid="167" grpId="0"/>
      <p:bldP spid="65" grpId="0"/>
      <p:bldP spid="66" grpId="0"/>
      <p:bldP spid="67" grpId="0"/>
      <p:bldP spid="88" grpId="0"/>
      <p:bldP spid="96" grpId="0" animBg="1"/>
      <p:bldP spid="119" grpId="0"/>
      <p:bldP spid="124" grpId="0"/>
      <p:bldP spid="131" grpId="0" animBg="1"/>
      <p:bldP spid="13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437</Words>
  <Application>Microsoft Office PowerPoint</Application>
  <PresentationFormat>Custom</PresentationFormat>
  <Paragraphs>68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Sultanus Salehin</cp:lastModifiedBy>
  <cp:revision>127</cp:revision>
  <dcterms:created xsi:type="dcterms:W3CDTF">2006-08-16T00:00:00Z</dcterms:created>
  <dcterms:modified xsi:type="dcterms:W3CDTF">2026-09-25T05:33:52Z</dcterms:modified>
</cp:coreProperties>
</file>